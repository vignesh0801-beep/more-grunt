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0f784245-8859-972d-3338-431b72d3d44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Store sales bridge, £ million (FY-2 to FY-1; axis starts at 1,000)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 store sales</c:v>
                  </c:pt>
                  <c:pt idx="1">
                    <c:v>More sales</c:v>
                  </c:pt>
                  <c:pt idx="2">
                    <c:v>Lower value per sale</c:v>
                  </c:pt>
                  <c:pt idx="3">
                    <c:v>FY-1 store sales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1270.7</c:v>
                </c:pt>
                <c:pt idx="2">
                  <c:v>1156.9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E625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 store sales</c:v>
                  </c:pt>
                  <c:pt idx="1">
                    <c:v>More sales</c:v>
                  </c:pt>
                  <c:pt idx="2">
                    <c:v>Lower value per sale</c:v>
                  </c:pt>
                  <c:pt idx="3">
                    <c:v>FY-1 store sales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1270.7</c:v>
                </c:pt>
                <c:pt idx="1">
                  <c:v>0</c:v>
                </c:pt>
                <c:pt idx="2">
                  <c:v>0</c:v>
                </c:pt>
                <c:pt idx="3">
                  <c:v>1256.9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A8A29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 store sales</c:v>
                  </c:pt>
                  <c:pt idx="1">
                    <c:v>More sales</c:v>
                  </c:pt>
                  <c:pt idx="2">
                    <c:v>Lower value per sale</c:v>
                  </c:pt>
                  <c:pt idx="3">
                    <c:v>FY-1 store sales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97.9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D52B1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 store sales</c:v>
                  </c:pt>
                  <c:pt idx="1">
                    <c:v>More sales</c:v>
                  </c:pt>
                  <c:pt idx="2">
                    <c:v>Lower value per sale</c:v>
                  </c:pt>
                  <c:pt idx="3">
                    <c:v>FY-1 store sales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111.7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1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+mn-lt"/>
              </a:rPr>
              <a:t>Sales recovered from the £111.7m leak (£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</c:v>
                </c:pt>
              </c:strCache>
            </c:strRef>
          </c:tx>
          <c:spPr>
            <a:solidFill>
              <a:srgbClr val="A8A2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A2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52B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A29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Recover 10%</c:v>
                  </c:pt>
                  <c:pt idx="1">
                    <c:v>Recover 25%</c:v>
                  </c:pt>
                  <c:pt idx="2">
                    <c:v>Recover 50%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11.2</c:v>
                </c:pt>
                <c:pt idx="1">
                  <c:v>27.9</c:v>
                </c:pt>
                <c:pt idx="2">
                  <c:v>55.9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your customers are coming; they are spending less each visit. We found where it leaks and what to do about it. Answer first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then the idea. The 112m is the sales we would have had if value per sale had held at FY-2 levels, by store. It is arithmetic from the data pack,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 in 60 seconds. Left: PEST with what it means for V&amp;S. Right: five forces, red where pressure is high. Conclusion: do not wait for the market. Ratings are our judgement; test with Jesse and Anshu.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bridge left to right. This chart is the heart of the pitch: footfall is up, value per visit is down. Hand over the four data cards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plain that these are hypotheses. Cause 1 first: if London's loss is mostly tourists, service alone cannot fix it and the online and overseas answer carries more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bold idea in client language. One adviser, three moments. Ask: would a client in Tokyo notice this? Would a colleague in Birmingham feel better equipped?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facts, three lenses, three moves. The 28m and 9.5m are sizing numbers at 25% recovery and the group gross margin of 34.1%. Net profit depends on adviser cost, which we size with Ashley.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pitch becomes an experience. Move from presenting to doing: stand, hand over the cards, walk to the wall. About ten minutes. What they feel here is what a client and a colleague should feel in Virley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which numbers are ours: 112m, 28m and 9.5m are assumption-based sizings. The 25m gap and 17.5% logistics ratio are straight from the P&amp;L. Adviser cost is not yet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decisions, then the leave-behind. Each item in the next 30 days tests one of the four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_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515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Virley &amp; Sons | Draft for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Virley &amp; Sons | Draft for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 Virley person for every client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Winning back £112m of value at the till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For Jack Claybourne, CEO, and Ashley Palmer, COO | 27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Our answer: V&amp;S loses £112m a year at the till, and a Virley person for every client wins it back</a:t>
            </a:r>
            <a:endParaRPr lang="en-US" sz="2800" dirty="0"/>
          </a:p>
        </p:txBody>
      </p:sp>
      <p:sp>
        <p:nvSpPr>
          <p:cNvPr id="3" name="KPI"/>
          <p:cNvSpPr/>
          <p:nvPr/>
        </p:nvSpPr>
        <p:spPr>
          <a:xfrm>
            <a:off x="548640" y="1600200"/>
            <a:ext cx="35661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£112m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Store sales lost to lower value per sale in FY-1</a:t>
            </a:r>
            <a:endParaRPr lang="en-US" sz="1300" dirty="0"/>
          </a:p>
        </p:txBody>
      </p:sp>
      <p:sp>
        <p:nvSpPr>
          <p:cNvPr id="6" name="KPI"/>
          <p:cNvSpPr/>
          <p:nvPr/>
        </p:nvSpPr>
        <p:spPr>
          <a:xfrm>
            <a:off x="4297680" y="1600200"/>
            <a:ext cx="35661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+7.6%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More sales through the tills, so footfall is not the problem</a:t>
            </a:r>
            <a:endParaRPr lang="en-US" sz="1300" dirty="0"/>
          </a:p>
        </p:txBody>
      </p:sp>
      <p:sp>
        <p:nvSpPr>
          <p:cNvPr id="9" name="KPI"/>
          <p:cNvSpPr/>
          <p:nvPr/>
        </p:nvSpPr>
        <p:spPr>
          <a:xfrm>
            <a:off x="8046720" y="1600200"/>
            <a:ext cx="35661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£25m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EBIT gap to a 10% margin, closed mainly by cost to serve</a:t>
            </a:r>
            <a:endParaRPr lang="en-US" sz="1300" dirty="0"/>
          </a:p>
        </p:txBody>
      </p:sp>
      <p:sp>
        <p:nvSpPr>
          <p:cNvPr id="12" name="Core message"/>
          <p:cNvSpPr/>
          <p:nvPr/>
        </p:nvSpPr>
        <p:spPr>
          <a:xfrm>
            <a:off x="548640" y="3520440"/>
            <a:ext cx="11064240" cy="2468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THE ANSWER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Virley Personal: every client, in a store or anywhere in the world, gets a named Virley adviser who knows them and can see all the stock.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Business: raise value per sale.   eXperience: one adviser for client and colleague.   Technology: one client profile and one stock 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market will not lift us: it is slowing and the brands hold the power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IS HAPPENING (PEST)</a:t>
            </a:r>
            <a:endParaRPr lang="en-US" sz="1100" dirty="0"/>
          </a:p>
        </p:txBody>
      </p:sp>
      <p:sp>
        <p:nvSpPr>
          <p:cNvPr id="4" name="PEST"/>
          <p:cNvSpPr/>
          <p:nvPr/>
        </p:nvSpPr>
        <p:spPr>
          <a:xfrm>
            <a:off x="548640" y="1783080"/>
            <a:ext cx="283464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Political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Trade and travel uncertainty raise cross-border cost.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For V&amp;S: Orlando, 58% non-UK web visits</a:t>
            </a:r>
            <a:endParaRPr lang="en-US" sz="1100" dirty="0"/>
          </a:p>
        </p:txBody>
      </p:sp>
      <p:sp>
        <p:nvSpPr>
          <p:cNvPr id="8" name="PEST"/>
          <p:cNvSpPr/>
          <p:nvPr/>
        </p:nvSpPr>
        <p:spPr>
          <a:xfrm>
            <a:off x="3566160" y="1783080"/>
            <a:ext cx="283464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0332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40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Luxury growth forecast about 2.5% in 2026, down from 4-5%.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For V&amp;S: Value per sale falling</a:t>
            </a:r>
            <a:endParaRPr lang="en-US" sz="1100" dirty="0"/>
          </a:p>
        </p:txBody>
      </p:sp>
      <p:sp>
        <p:nvSpPr>
          <p:cNvPr id="12" name="PEST"/>
          <p:cNvSpPr/>
          <p:nvPr/>
        </p:nvSpPr>
        <p:spPr>
          <a:xfrm>
            <a:off x="548640" y="3703320"/>
            <a:ext cx="283464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Social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160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Clients tire of quiet luxury and expect one seamless relationship.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892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For V&amp;S: Help pages get 1.9x womenswear views</a:t>
            </a:r>
            <a:endParaRPr lang="en-US" sz="1100" dirty="0"/>
          </a:p>
        </p:txBody>
      </p:sp>
      <p:sp>
        <p:nvSpPr>
          <p:cNvPr id="16" name="PEST"/>
          <p:cNvSpPr/>
          <p:nvPr/>
        </p:nvSpPr>
        <p:spPr>
          <a:xfrm>
            <a:off x="3566160" y="3703320"/>
            <a:ext cx="283464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0332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Technological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160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Omnichannel tools mature; AI helps cost, not demand.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892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For V&amp;S: Two stock systems, IT gap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WHO HAS THE POWER (FIVE FORCES)</a:t>
            </a:r>
            <a:endParaRPr lang="en-US" sz="1100" dirty="0"/>
          </a:p>
        </p:txBody>
      </p:sp>
      <p:sp>
        <p:nvSpPr>
          <p:cNvPr id="21" name="Force"/>
          <p:cNvSpPr/>
          <p:nvPr/>
        </p:nvSpPr>
        <p:spPr>
          <a:xfrm>
            <a:off x="6766560" y="1783080"/>
            <a:ext cx="484632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Rivalry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7830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24" name="Force"/>
          <p:cNvSpPr/>
          <p:nvPr/>
        </p:nvSpPr>
        <p:spPr>
          <a:xfrm>
            <a:off x="6766560" y="2551176"/>
            <a:ext cx="4846320" cy="6583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0" y="255117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entrants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5511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27" name="Force"/>
          <p:cNvSpPr/>
          <p:nvPr/>
        </p:nvSpPr>
        <p:spPr>
          <a:xfrm>
            <a:off x="6766560" y="3319272"/>
            <a:ext cx="484632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49440" y="33192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 suppliers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319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30" name="Force"/>
          <p:cNvSpPr/>
          <p:nvPr/>
        </p:nvSpPr>
        <p:spPr>
          <a:xfrm>
            <a:off x="6766560" y="4087368"/>
            <a:ext cx="4846320" cy="6583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0" y="40873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087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 to high</a:t>
            </a:r>
            <a:endParaRPr lang="en-US" sz="1400" dirty="0"/>
          </a:p>
        </p:txBody>
      </p:sp>
      <p:sp>
        <p:nvSpPr>
          <p:cNvPr id="33" name="Force"/>
          <p:cNvSpPr/>
          <p:nvPr/>
        </p:nvSpPr>
        <p:spPr>
          <a:xfrm>
            <a:off x="6766560" y="4855464"/>
            <a:ext cx="4846320" cy="6583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49440" y="485546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Substitutes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48554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</a:t>
            </a:r>
            <a:endParaRPr lang="en-US" sz="1400" dirty="0"/>
          </a:p>
        </p:txBody>
      </p:sp>
      <p:sp>
        <p:nvSpPr>
          <p:cNvPr id="36" name="Takeaway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 what: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rising tide. We have to win share by making each visit worth more.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Morgan Stanley Luxury Outlook, May 2026; our judgement on forces. Check against the market reports in the data pack.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Sales rang through every till, but each sale was worth less: a £112m leak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PI"/>
          <p:cNvSpPr/>
          <p:nvPr/>
        </p:nvSpPr>
        <p:spPr>
          <a:xfrm>
            <a:off x="7406640" y="1508760"/>
            <a:ext cx="420624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89520" y="1508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+£97.9m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1508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From 7.6% more sales</a:t>
            </a:r>
            <a:endParaRPr lang="en-US" sz="1300" dirty="0"/>
          </a:p>
        </p:txBody>
      </p:sp>
      <p:sp>
        <p:nvSpPr>
          <p:cNvPr id="7" name="KPI"/>
          <p:cNvSpPr/>
          <p:nvPr/>
        </p:nvSpPr>
        <p:spPr>
          <a:xfrm>
            <a:off x="7406640" y="2880360"/>
            <a:ext cx="420624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−£111.7m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2880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From 8.1% lower value per sale</a:t>
            </a:r>
            <a:endParaRPr lang="en-US" sz="1300" dirty="0"/>
          </a:p>
        </p:txBody>
      </p:sp>
      <p:sp>
        <p:nvSpPr>
          <p:cNvPr id="10" name="KPI"/>
          <p:cNvSpPr/>
          <p:nvPr/>
        </p:nvSpPr>
        <p:spPr>
          <a:xfrm>
            <a:off x="7406640" y="4251960"/>
            <a:ext cx="420624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0" y="4251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−£13.8m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4251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 change, −1.1%</a:t>
            </a:r>
            <a:endParaRPr lang="en-US" sz="1300" dirty="0"/>
          </a:p>
        </p:txBody>
      </p:sp>
      <p:sp>
        <p:nvSpPr>
          <p:cNvPr id="13" name="Takeaway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 what: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London accounts for about three-quarters of the leak; Birmingham grew value per sale slightly.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V&amp;S data pack. Currency assumed £; 'number of sales' assumed transactions. Method: more sales = change in sales × FY-2 value per sale; value = change in value per sale × FY-1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likely causes, each testable this week</a:t>
            </a:r>
            <a:endParaRPr lang="en-US" sz="2800" dirty="0"/>
          </a:p>
        </p:txBody>
      </p:sp>
      <p:sp>
        <p:nvSpPr>
          <p:cNvPr id="3" name="Cause"/>
          <p:cNvSpPr/>
          <p:nvPr/>
        </p:nvSpPr>
        <p:spPr>
          <a:xfrm>
            <a:off x="548640" y="1554480"/>
            <a:ext cx="5440680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 Fewer big spenders in London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London value per sale −13% while sales are +7%. Tourist tax-free shopping ended; West End spend reportedly sat nearly 12% below 2019.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ASK: JACK, ASHLEY</a:t>
            </a:r>
            <a:endParaRPr lang="en-US" sz="1100" dirty="0"/>
          </a:p>
        </p:txBody>
      </p:sp>
      <p:sp>
        <p:nvSpPr>
          <p:cNvPr id="7" name="Cause"/>
          <p:cNvSpPr/>
          <p:nvPr/>
        </p:nvSpPr>
        <p:spPr>
          <a:xfrm>
            <a:off x="6172200" y="1554480"/>
            <a:ext cx="5440680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 Service is transactional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94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Birmingham holds ~£115 a sale, London ~£63. Growth is moving from transactions to personal service.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ASK: JESSE</a:t>
            </a:r>
            <a:endParaRPr lang="en-US" sz="1100" dirty="0"/>
          </a:p>
        </p:txBody>
      </p:sp>
      <p:sp>
        <p:nvSpPr>
          <p:cNvPr id="11" name="Cause"/>
          <p:cNvSpPr/>
          <p:nvPr/>
        </p:nvSpPr>
        <p:spPr>
          <a:xfrm>
            <a:off x="548640" y="3749040"/>
            <a:ext cx="5440680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 Online friction abroad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89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982k visits, 58% outside the UK, £5.76 a visit. Help pages draw 1.9x womenswear views.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ASK: ANSHU</a:t>
            </a:r>
            <a:endParaRPr lang="en-US" sz="1100" dirty="0"/>
          </a:p>
        </p:txBody>
      </p:sp>
      <p:sp>
        <p:nvSpPr>
          <p:cNvPr id="15" name="Cause"/>
          <p:cNvSpPr/>
          <p:nvPr/>
        </p:nvSpPr>
        <p:spPr>
          <a:xfrm>
            <a:off x="6172200" y="3749040"/>
            <a:ext cx="5440680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 Brands and mix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389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Brands are going direct and demanding priority. Stock is replenished reactively across two systems.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ASK: JESSE, JACK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Outside evidence: FashionUnited (tourist tax); P&amp;C Global (stewardship); WWD (brands direct). These are hypotheses, not findings.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idea: Virley Personal puts a named adviser behind every client</a:t>
            </a:r>
            <a:endParaRPr lang="en-US" sz="2800" dirty="0"/>
          </a:p>
        </p:txBody>
      </p:sp>
      <p:sp>
        <p:nvSpPr>
          <p:cNvPr id="3" name="Moment"/>
          <p:cNvSpPr/>
          <p:nvPr/>
        </p:nvSpPr>
        <p:spPr>
          <a:xfrm>
            <a:off x="548640" y="1600200"/>
            <a:ext cx="35661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the store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Greeted by name and offered what suits them. The adviser has the client's history on a tablet.</a:t>
            </a:r>
            <a:endParaRPr lang="en-US" sz="1300" dirty="0"/>
          </a:p>
        </p:txBody>
      </p:sp>
      <p:sp>
        <p:nvSpPr>
          <p:cNvPr id="8" name="Moment"/>
          <p:cNvSpPr/>
          <p:nvPr/>
        </p:nvSpPr>
        <p:spPr>
          <a:xfrm>
            <a:off x="4297680" y="1600200"/>
            <a:ext cx="35661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0345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Anywhere in the world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Chat or video with the same adviser, in the client's language and time zone, from Tokyo to New York.</a:t>
            </a:r>
            <a:endParaRPr lang="en-US" sz="1300" dirty="0"/>
          </a:p>
        </p:txBody>
      </p:sp>
      <p:sp>
        <p:nvSpPr>
          <p:cNvPr id="13" name="Moment"/>
          <p:cNvSpPr/>
          <p:nvPr/>
        </p:nvSpPr>
        <p:spPr>
          <a:xfrm>
            <a:off x="8046720" y="1600200"/>
            <a:ext cx="35661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0345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After the sale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Duty-paid price shown before paying, one stock view for delivery dates, and easy returns.</a:t>
            </a:r>
            <a:endParaRPr lang="en-US" sz="1300" dirty="0"/>
          </a:p>
        </p:txBody>
      </p:sp>
      <p:sp>
        <p:nvSpPr>
          <p:cNvPr id="18" name="Takeaway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it works: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it keeps George Virley's promise of an exciting experience for everyone, and gives colleagues the same profile and stock view the client expects.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move for each lens, owned and measured</a:t>
            </a:r>
            <a:endParaRPr lang="en-US" sz="2800" dirty="0"/>
          </a:p>
        </p:txBody>
      </p:sp>
      <p:sp>
        <p:nvSpPr>
          <p:cNvPr id="3" name="Lens"/>
          <p:cNvSpPr/>
          <p:nvPr/>
        </p:nvSpPr>
        <p:spPr>
          <a:xfrm>
            <a:off x="548640" y="1600200"/>
            <a:ext cx="356616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Business</a:t>
            </a:r>
            <a:endParaRPr lang="en-US" sz="1800" dirty="0"/>
          </a:p>
        </p:txBody>
      </p:sp>
      <p:sp>
        <p:nvSpPr>
          <p:cNvPr id="5" name="Rec"/>
          <p:cNvSpPr/>
          <p:nvPr/>
        </p:nvSpPr>
        <p:spPr>
          <a:xfrm>
            <a:off x="548640" y="2240280"/>
            <a:ext cx="3566160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Win back value per sale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Write down what drives Birmingham's £115 basket and train for it. Recover 25% of the leak: about £28m sales, £9.5m gross profit.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MEASURE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Value per sale; adviser-led sales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OWNER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Jack, store leaders</a:t>
            </a:r>
            <a:endParaRPr lang="en-US" sz="1200" dirty="0"/>
          </a:p>
        </p:txBody>
      </p:sp>
      <p:sp>
        <p:nvSpPr>
          <p:cNvPr id="12" name="Lens"/>
          <p:cNvSpPr/>
          <p:nvPr/>
        </p:nvSpPr>
        <p:spPr>
          <a:xfrm>
            <a:off x="4297680" y="1600200"/>
            <a:ext cx="3566160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14" name="Rec"/>
          <p:cNvSpPr/>
          <p:nvPr/>
        </p:nvSpPr>
        <p:spPr>
          <a:xfrm>
            <a:off x="4297680" y="2240280"/>
            <a:ext cx="3566160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Give clients and colleagues one adviser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880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Client book in London; 'Ask a Virley person' online for the US, China and Japan. Fix delivery and duty clarity first.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MEASURE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Repeat visits; online conversion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OWNER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Anshu, store leaders</a:t>
            </a:r>
            <a:endParaRPr lang="en-US" sz="1200" dirty="0"/>
          </a:p>
        </p:txBody>
      </p:sp>
      <p:sp>
        <p:nvSpPr>
          <p:cNvPr id="21" name="Lens"/>
          <p:cNvSpPr/>
          <p:nvPr/>
        </p:nvSpPr>
        <p:spPr>
          <a:xfrm>
            <a:off x="8046720" y="1600200"/>
            <a:ext cx="3566160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23" name="Rec"/>
          <p:cNvSpPr/>
          <p:nvPr/>
        </p:nvSpPr>
        <p:spPr>
          <a:xfrm>
            <a:off x="8046720" y="2240280"/>
            <a:ext cx="3566160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profile, one stock view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880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Join the two stock systems, add a client profile, appoint an interim IT leader. Add online conversion data.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MEASURE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Stock availability; adviser tool use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OWNER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Ashley, interim IT lead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Owners are suggestions for discussion, not agreed. Sizing is arithmetic, not a forecast, and excludes the cost of advisers and tools.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Try Virley Personal in this room</a:t>
            </a:r>
            <a:endParaRPr lang="en-US" sz="2800" dirty="0"/>
          </a:p>
        </p:txBody>
      </p:sp>
      <p:sp>
        <p:nvSpPr>
          <p:cNvPr id="3" name="Step"/>
          <p:cNvSpPr/>
          <p:nvPr/>
        </p:nvSpPr>
        <p:spPr>
          <a:xfrm>
            <a:off x="548640" y="1691640"/>
            <a:ext cx="3566160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 Walk the journey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520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client's day, drawn on the wall, with friction marked in red.</a:t>
            </a:r>
            <a:endParaRPr lang="en-US" sz="1400" dirty="0"/>
          </a:p>
        </p:txBody>
      </p:sp>
      <p:sp>
        <p:nvSpPr>
          <p:cNvPr id="8" name="Step"/>
          <p:cNvSpPr/>
          <p:nvPr/>
        </p:nvSpPr>
        <p:spPr>
          <a:xfrm>
            <a:off x="4297680" y="1691640"/>
            <a:ext cx="3566160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 Hold the data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3520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Four cards: value per sale, visits, help pages, logistics.</a:t>
            </a:r>
            <a:endParaRPr lang="en-US" sz="1400" dirty="0"/>
          </a:p>
        </p:txBody>
      </p:sp>
      <p:sp>
        <p:nvSpPr>
          <p:cNvPr id="13" name="Step"/>
          <p:cNvSpPr/>
          <p:nvPr/>
        </p:nvSpPr>
        <p:spPr>
          <a:xfrm>
            <a:off x="8046720" y="1691640"/>
            <a:ext cx="3566160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 Co-create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520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Reframe the opportunity and sketch what a client would notice, using the canvas.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You leave with a one-page summary, the environment analysis and the workshop output.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Winning back a quarter of the leak, plus two points of cost, closes the margin gap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PI"/>
          <p:cNvSpPr/>
          <p:nvPr/>
        </p:nvSpPr>
        <p:spPr>
          <a:xfrm>
            <a:off x="6492240" y="1508760"/>
            <a:ext cx="512064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75120" y="1508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£9.5m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Gross profit at 25% recovery (34.1% margin)</a:t>
            </a:r>
            <a:endParaRPr lang="en-US" sz="1300" dirty="0"/>
          </a:p>
        </p:txBody>
      </p:sp>
      <p:sp>
        <p:nvSpPr>
          <p:cNvPr id="7" name="KPI"/>
          <p:cNvSpPr/>
          <p:nvPr/>
        </p:nvSpPr>
        <p:spPr>
          <a:xfrm>
            <a:off x="6492240" y="2514600"/>
            <a:ext cx="512064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0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£25.2m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EBIT from two points of cost to serve</a:t>
            </a:r>
            <a:endParaRPr lang="en-US" sz="1300" dirty="0"/>
          </a:p>
        </p:txBody>
      </p:sp>
      <p:sp>
        <p:nvSpPr>
          <p:cNvPr id="10" name="KPI"/>
          <p:cNvSpPr/>
          <p:nvPr/>
        </p:nvSpPr>
        <p:spPr>
          <a:xfrm>
            <a:off x="6492240" y="3520440"/>
            <a:ext cx="512064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75120" y="3520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£24.8m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EBIT gap to a 10% margin</a:t>
            </a:r>
            <a:endParaRPr lang="en-US" sz="1300" dirty="0"/>
          </a:p>
        </p:txBody>
      </p:sp>
      <p:sp>
        <p:nvSpPr>
          <p:cNvPr id="13" name="KPI"/>
          <p:cNvSpPr/>
          <p:nvPr/>
        </p:nvSpPr>
        <p:spPr>
          <a:xfrm>
            <a:off x="6492240" y="4526280"/>
            <a:ext cx="512064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0" y="4526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£0.98m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4526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 for every extra £1 per online visit</a:t>
            </a:r>
            <a:endParaRPr lang="en-US" sz="1300" dirty="0"/>
          </a:p>
        </p:txBody>
      </p:sp>
      <p:sp>
        <p:nvSpPr>
          <p:cNvPr id="16" name="Takeaway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 what: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cost closes the margin gap; Virley Personal builds the growth behind it.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Arithmetic, not a forecast. Excludes adviser and tool cost, which reduces the profit effect. Source: V&amp;S data pack, FY-1 P&amp;L.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We ask for three decisions today and will return with facts in 30 days</a:t>
            </a:r>
            <a:endParaRPr lang="en-US" sz="2800" dirty="0"/>
          </a:p>
        </p:txBody>
      </p:sp>
      <p:sp>
        <p:nvSpPr>
          <p:cNvPr id="3" name="Decisions"/>
          <p:cNvSpPr/>
          <p:nvPr/>
        </p:nvSpPr>
        <p:spPr>
          <a:xfrm>
            <a:off x="548640" y="1645920"/>
            <a:ext cx="5486400" cy="3931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Decisions today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Back Virley Personal as the answer to the £112m leak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Pilot it with London clients and a small online group in the US, China and Japan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Name an owner for business, experience and technology</a:t>
            </a:r>
            <a:endParaRPr lang="en-US" sz="1600" dirty="0"/>
          </a:p>
        </p:txBody>
      </p:sp>
      <p:sp>
        <p:nvSpPr>
          <p:cNvPr id="6" name="Next 30 days"/>
          <p:cNvSpPr/>
          <p:nvPr/>
        </p:nvSpPr>
        <p:spPr>
          <a:xfrm>
            <a:off x="6309360" y="1645920"/>
            <a:ext cx="530352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Next 30 days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688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Split London sales by customer origin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Find what drives Birmingham's £115 basket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Map the online checkout by country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Size adviser cost and net profit with Ashley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S Pitch">
  <a:themeElements>
    <a:clrScheme name="VS Pitch">
      <a:dk1>
        <a:srgbClr val="222222"/>
      </a:dk1>
      <a:lt1>
        <a:srgbClr val="FFFFFF"/>
      </a:lt1>
      <a:dk2>
        <a:srgbClr val="6E625E"/>
      </a:dk2>
      <a:lt2>
        <a:srgbClr val="F8E6E1"/>
      </a:lt2>
      <a:accent1>
        <a:srgbClr val="D52B1E"/>
      </a:accent1>
      <a:accent2>
        <a:srgbClr val="D04A02"/>
      </a:accent2>
      <a:accent3>
        <a:srgbClr val="EB8C00"/>
      </a:accent3>
      <a:accent4>
        <a:srgbClr val="DB536A"/>
      </a:accent4>
      <a:accent5>
        <a:srgbClr val="7D7D7D"/>
      </a:accent5>
      <a:accent6>
        <a:srgbClr val="A32020"/>
      </a:accent6>
      <a:hlink>
        <a:srgbClr val="D52B1E"/>
      </a:hlink>
      <a:folHlink>
        <a:srgbClr val="6E625E"/>
      </a:folHlink>
    </a:clrScheme>
    <a:fontScheme name="VS Pitch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Virley &amp; Sons: A Virley person for every client</dc:title>
  <dc:subject>PptxGenJS Presentation</dc:subject>
  <dc:creator>Consulting team</dc:creator>
  <cp:lastModifiedBy>Consulting team</cp:lastModifiedBy>
  <cp:revision>1</cp:revision>
  <dcterms:created xsi:type="dcterms:W3CDTF">2026-10-23T06:19:36Z</dcterms:created>
  <dcterms:modified xsi:type="dcterms:W3CDTF">2026-10-23T06:19:36Z</dcterms:modified>
</cp:coreProperties>
</file>