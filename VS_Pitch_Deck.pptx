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wer first and the situation" id="{442c332b-1c09-fe6d-8068-b928461d6995}">
          <p14:sldIdLst>
            <p14:sldId id="256"/>
            <p14:sldId id="257"/>
            <p14:sldId id="258"/>
            <p14:sldId id="259"/>
            <p14:sldId id="260"/>
          </p14:sldIdLst>
        </p14:section>
        <p14:section name="Reframe and diagnosis" id="{4e06cc4f-29dc-31e4-cfae-c17176406135}">
          <p14:sldIdLst>
            <p14:sldId id="261"/>
            <p14:sldId id="262"/>
          </p14:sldIdLst>
        </p14:section>
        <p14:section name="The idea and the experience" id="{b291ee8e-1de9-d350-10a8-69f26fe52c08}">
          <p14:sldIdLst>
            <p14:sldId id="263"/>
            <p14:sldId id="264"/>
            <p14:sldId id="265"/>
          </p14:sldIdLst>
        </p14:section>
        <p14:section name="Strategy and next steps" id="{7e16b7f3-ab8c-09d3-3090-1e75200976c0}">
          <p14:sldIdLst>
            <p14:sldId id="266"/>
            <p14:sldId id="267"/>
            <p14:sldId id="268"/>
            <p14:sldId id="269"/>
          </p14:sldIdLst>
        </p14:section>
        <p14:section name="Appendix" id="{ca02ddf2-b153-5602-ed10-5c90424c843f}">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Average annual revenue growth (%)</a:t>
            </a:r>
          </a:p>
        </c:rich>
      </c:tx>
      <c:layout/>
      <c:overlay val="0"/>
    </c:title>
    <c:autoTitleDeleted val="0"/>
    <c:plotArea>
      <c:layout/>
      <c:barChart>
        <c:barDir val="col"/>
        <c:grouping val="clustered"/>
        <c:varyColors val="0"/>
        <c:ser>
          <c:idx val="0"/>
          <c:order val="0"/>
          <c:tx>
            <c:strRef>
              <c:f>Sheet1!$B$1</c:f>
              <c:strCache>
                <c:ptCount val="1"/>
                <c:pt idx="0">
                  <c:v>Average annual revenue growth (%)</c:v>
                </c:pt>
              </c:strCache>
            </c:strRef>
          </c:tx>
          <c:spPr>
            <a:solidFill>
              <a:srgbClr val="D52B1E"/>
            </a:solidFill>
            <a:effectLst/>
          </c:spPr>
          <c:invertIfNegative val="0"/>
          <c:dLbls>
            <c:numFmt formatCode="0.0" sourceLinked="0"/>
            <c:txPr>
              <a:bodyPr/>
              <a:lstStyle/>
              <a:p>
                <a:pPr>
                  <a:defRPr b="0" i="0" strike="noStrike" sz="14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D52B1E"/>
              </a:solidFill>
              <a:effectLst/>
            </c:spPr>
          </c:dPt>
          <c:dPt>
            <c:idx val="1"/>
            <c:invertIfNegative val="0"/>
            <c:bubble3D val="0"/>
            <c:spPr>
              <a:solidFill>
                <a:srgbClr val="6E625E"/>
              </a:solidFill>
              <a:effectLst/>
            </c:spPr>
          </c:dPt>
          <c:cat>
            <c:multiLvlStrRef>
              <c:f>Sheet1!$A$2:$A$3</c:f>
              <c:multiLvlStrCache>
                <c:ptCount val="2"/>
                <c:lvl>
                  <c:pt idx="0">
                    <c:v>Omnichannel luxury brands</c:v>
                  </c:pt>
                  <c:pt idx="1">
                    <c:v>Single-channel brands</c:v>
                  </c:pt>
                </c:lvl>
              </c:multiLvlStrCache>
            </c:multiLvlStrRef>
          </c:cat>
          <c:val>
            <c:numRef>
              <c:f>Sheet1!$B$2:$B$3</c:f>
              <c:numCache>
                <c:formatCode>General</c:formatCode>
                <c:ptCount val="2"/>
                <c:pt idx="0">
                  <c:v>9.5</c:v>
                </c:pt>
                <c:pt idx="1">
                  <c:v>3.4</c:v>
                </c:pt>
              </c:numCache>
            </c:numRef>
          </c:val>
        </c:ser>
        <c:dLbls>
          <c:numFmt formatCode="0.0" sourceLinked="0"/>
          <c:txPr>
            <a:bodyPr/>
            <a:lstStyle/>
            <a:p>
              <a:pPr>
                <a:defRPr b="0" i="0" strike="noStrike" sz="14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V&amp;S does not have to choose between stores and online. The opportunity is to deliver George Virley's original promise, an exciting shopping experience open to everyone, in every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conclusion. Four points: the challenge, the reframe, the idea and the path. Everything that follows supports one of these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storyboard on a page. The core message sits at the top, three main ideas support it, and each is backed by supporting ideas and facts. The rest of the deck follows this order. Details of the logic we chose are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back what Jack and Ashley told us, in their own terms. The owners' £2bn and 10% ambitions are not in Jack's objectives, but he wants them validated. Make clear we heard both views on stores versus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figures are external benchmarks from luxury and fashion retail, not V&amp;S data. Present them as direction of travel and say we will benchmark V&amp;S against peers, as Jack asked. COVID-19 uncertainty from Jack's notes still applies to demand and supply chains.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pitch. Jack wants online, Ashley wants in-store investment, and both are right about a different part of the same client journey. Tie the reframe back to George Virley's founding focus on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is hypothesis-based. These are starting hypotheses, each with evidence we already hold and a way to prove or disprove it. Jack asked for fact-based recommendations from benchmarking, so name that test in each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idea against the three tests in the brief: does it bring experience to life, does it integrate technology, and is it underpinned by business strategy. Ashley's in-store technology and Jack's online growth are two halves of one customer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rather than a list. Give the client a name when you present, and scribe the journey live on a whiteboard or flipchart if the setting allows. The project brief encourages an experience-based pitch rather than slides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capability answers something we heard: Ashley asked for inventory visibility and less manual reconciling, Jack asked about a single people platform and the online report's delivery and returns issues. Do not oversell technology; the IT leadership gap is the first thing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not sized these levers yet. Jack wants PwC to validate whether £2bn and a 10% margin are achievable, so commit to a benchmarked model in the next phase. Channel roles are hypotheses to test, which keeps room for Jack's preference to close stores and Ashley's wish to keep the flagship.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Jack wants changes implemented within the next year, so the first two phases are designed to show visible results inside twelve months. The web-only acquisition is deliberately sequenced after foundations, because Jack asked us to advise on timing and on whether V&amp;S has the capability to absorb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to each leader directly. Jack hopes an objective external view will build consensus, and Ashley wants in-store investment and the London flagship kept. Show both get what they need without crowning either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decisions. Everything in the next 30 days produces the facts Jack wants: benchmarking, store-level performance and a view of the client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methodology slide. Deductive logic suits a resistive audience, inductive logic suits an action-oriented one, and abductive logic suits skeptics. Jack and Ashley want action, so we group reasons under the core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in the appendix. If asked, be clear which numbers come from the case and which from outside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S_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10515600" cy="21945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4114800"/>
            <a:ext cx="10515600" cy="118872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S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Virley &amp; Sons | Draft for discussion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S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Virley &amp; Sons | Draft for discussion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10515600" cy="2194560"/>
          </a:xfrm>
          <a:prstGeom prst="rect">
            <a:avLst/>
          </a:prstGeom>
          <a:noFill/>
          <a:ln/>
        </p:spPr>
        <p:txBody>
          <a:bodyPr wrap="square" lIns="0" tIns="0" rIns="0" bIns="0" rtlCol="0" anchor="b"/>
          <a:lstStyle/>
          <a:p>
            <a:pPr algn="l" indent="0" marL="0">
              <a:buNone/>
            </a:pPr>
            <a:r>
              <a:rPr lang="en-US" sz="4800" b="1" dirty="0">
                <a:solidFill>
                  <a:schemeClr val="bg1"/>
                </a:solidFill>
              </a:rPr>
              <a:t>One Virley experience, in every channel</a:t>
            </a:r>
            <a:endParaRPr lang="en-US" sz="4800" dirty="0"/>
          </a:p>
        </p:txBody>
      </p:sp>
      <p:sp>
        <p:nvSpPr>
          <p:cNvPr id="3" name="Text 0"/>
          <p:cNvSpPr/>
          <p:nvPr>
            <p:ph idx="101" type="body" hasCustomPrompt="1"/>
          </p:nvPr>
        </p:nvSpPr>
        <p:spPr>
          <a:xfrm>
            <a:off x="731520" y="4114800"/>
            <a:ext cx="10515600" cy="1188720"/>
          </a:xfrm>
          <a:prstGeom prst="rect">
            <a:avLst/>
          </a:prstGeom>
          <a:noFill/>
          <a:ln/>
        </p:spPr>
        <p:txBody>
          <a:bodyPr wrap="square" lIns="0" tIns="0" rIns="0" bIns="0" rtlCol="0" anchor="t"/>
          <a:lstStyle/>
          <a:p>
            <a:pPr algn="l" indent="0" marL="0">
              <a:buNone/>
            </a:pPr>
            <a:r>
              <a:rPr lang="en-US" sz="2000" dirty="0">
                <a:solidFill>
                  <a:schemeClr val="bg1"/>
                </a:solidFill>
              </a:rPr>
              <a:t>Draft solution for Jack Claybourne, CEO, and Ashley Palmer, COO</a:t>
            </a:r>
            <a:endParaRPr lang="en-US" sz="2000" dirty="0"/>
          </a:p>
          <a:p>
            <a:pPr algn="l" indent="0" marL="0">
              <a:buNone/>
            </a:pPr>
            <a:r>
              <a:rPr lang="en-US" sz="2000" dirty="0">
                <a:solidFill>
                  <a:schemeClr val="bg1"/>
                </a:solidFill>
              </a:rPr>
              <a:t>27 October 2026 | Draft for discussion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Executive summary: one Virley experience in every channel will return V&amp;S to growth</a:t>
            </a:r>
            <a:endParaRPr lang="en-US" sz="3000" dirty="0"/>
          </a:p>
        </p:txBody>
      </p:sp>
      <p:sp>
        <p:nvSpPr>
          <p:cNvPr id="3" name="Shape 1"/>
          <p:cNvSpPr/>
          <p:nvPr/>
        </p:nvSpPr>
        <p:spPr>
          <a:xfrm>
            <a:off x="548640" y="1600200"/>
            <a:ext cx="548640" cy="548640"/>
          </a:xfrm>
          <a:prstGeom prst="ellipse">
            <a:avLst/>
          </a:prstGeom>
          <a:solidFill>
            <a:schemeClr val="accent1"/>
          </a:solidFill>
          <a:ln/>
        </p:spPr>
      </p:sp>
      <p:sp>
        <p:nvSpPr>
          <p:cNvPr id="4" name="Text 2"/>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5" name="Text 3"/>
          <p:cNvSpPr txBox="1"/>
          <p:nvPr/>
        </p:nvSpPr>
        <p:spPr>
          <a:xfrm>
            <a:off x="1325880" y="1581912"/>
            <a:ext cx="6035040" cy="320040"/>
          </a:xfrm>
          <a:prstGeom prst="rect">
            <a:avLst/>
          </a:prstGeom>
          <a:noFill/>
          <a:ln/>
        </p:spPr>
        <p:txBody>
          <a:bodyPr wrap="square" lIns="0" tIns="0" rIns="0" bIns="0" rtlCol="0" anchor="t"/>
          <a:lstStyle/>
          <a:p>
            <a:pPr indent="0" marL="0">
              <a:buNone/>
            </a:pPr>
            <a:r>
              <a:rPr lang="en-US" sz="1600" b="1" dirty="0">
                <a:solidFill>
                  <a:schemeClr val="tx1"/>
                </a:solidFill>
              </a:rPr>
              <a:t>The challenge</a:t>
            </a:r>
            <a:endParaRPr lang="en-US" sz="1600" dirty="0"/>
          </a:p>
        </p:txBody>
      </p:sp>
      <p:sp>
        <p:nvSpPr>
          <p:cNvPr id="6" name="Text 4"/>
          <p:cNvSpPr txBox="1"/>
          <p:nvPr/>
        </p:nvSpPr>
        <p:spPr>
          <a:xfrm>
            <a:off x="1325880" y="1929384"/>
            <a:ext cx="6035040" cy="731520"/>
          </a:xfrm>
          <a:prstGeom prst="rect">
            <a:avLst/>
          </a:prstGeom>
          <a:noFill/>
          <a:ln/>
        </p:spPr>
        <p:txBody>
          <a:bodyPr wrap="square" lIns="0" tIns="0" rIns="0" bIns="0" rtlCol="0" anchor="t"/>
          <a:lstStyle/>
          <a:p>
            <a:pPr indent="0" marL="0">
              <a:buNone/>
            </a:pPr>
            <a:r>
              <a:rPr lang="en-US" sz="1400" dirty="0">
                <a:solidFill>
                  <a:schemeClr val="tx2"/>
                </a:solidFill>
              </a:rPr>
              <a:t>Growth is below market and margins are falling. A harder push on sales has not moved results, so the causes sit beyond sales effort.</a:t>
            </a:r>
            <a:endParaRPr lang="en-US" sz="1400" dirty="0"/>
          </a:p>
        </p:txBody>
      </p:sp>
      <p:sp>
        <p:nvSpPr>
          <p:cNvPr id="7" name="Shape 5"/>
          <p:cNvSpPr/>
          <p:nvPr/>
        </p:nvSpPr>
        <p:spPr>
          <a:xfrm>
            <a:off x="548640" y="2743200"/>
            <a:ext cx="548640" cy="548640"/>
          </a:xfrm>
          <a:prstGeom prst="ellipse">
            <a:avLst/>
          </a:prstGeom>
          <a:solidFill>
            <a:schemeClr val="accent1"/>
          </a:solidFill>
          <a:ln/>
        </p:spPr>
      </p:sp>
      <p:sp>
        <p:nvSpPr>
          <p:cNvPr id="8" name="Text 6"/>
          <p:cNvSpPr txBox="1"/>
          <p:nvPr/>
        </p:nvSpPr>
        <p:spPr>
          <a:xfrm>
            <a:off x="548640" y="2743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9" name="Text 7"/>
          <p:cNvSpPr txBox="1"/>
          <p:nvPr/>
        </p:nvSpPr>
        <p:spPr>
          <a:xfrm>
            <a:off x="1325880" y="2724912"/>
            <a:ext cx="6035040" cy="320040"/>
          </a:xfrm>
          <a:prstGeom prst="rect">
            <a:avLst/>
          </a:prstGeom>
          <a:noFill/>
          <a:ln/>
        </p:spPr>
        <p:txBody>
          <a:bodyPr wrap="square" lIns="0" tIns="0" rIns="0" bIns="0" rtlCol="0" anchor="t"/>
          <a:lstStyle/>
          <a:p>
            <a:pPr indent="0" marL="0">
              <a:buNone/>
            </a:pPr>
            <a:r>
              <a:rPr lang="en-US" sz="1600" b="1" dirty="0">
                <a:solidFill>
                  <a:schemeClr val="tx1"/>
                </a:solidFill>
              </a:rPr>
              <a:t>The reframe</a:t>
            </a:r>
            <a:endParaRPr lang="en-US" sz="1600" dirty="0"/>
          </a:p>
        </p:txBody>
      </p:sp>
      <p:sp>
        <p:nvSpPr>
          <p:cNvPr id="10" name="Text 8"/>
          <p:cNvSpPr txBox="1"/>
          <p:nvPr/>
        </p:nvSpPr>
        <p:spPr>
          <a:xfrm>
            <a:off x="1325880" y="3072384"/>
            <a:ext cx="6035040" cy="731520"/>
          </a:xfrm>
          <a:prstGeom prst="rect">
            <a:avLst/>
          </a:prstGeom>
          <a:noFill/>
          <a:ln/>
        </p:spPr>
        <p:txBody>
          <a:bodyPr wrap="square" lIns="0" tIns="0" rIns="0" bIns="0" rtlCol="0" anchor="t"/>
          <a:lstStyle/>
          <a:p>
            <a:pPr indent="0" marL="0">
              <a:buNone/>
            </a:pPr>
            <a:r>
              <a:rPr lang="en-US" sz="1400" dirty="0">
                <a:solidFill>
                  <a:schemeClr val="tx2"/>
                </a:solidFill>
              </a:rPr>
              <a:t>Stop choosing between stores and online. The opportunity is George Virley's promise of an exciting, accessible luxury experience in every channel.</a:t>
            </a:r>
            <a:endParaRPr lang="en-US" sz="1400" dirty="0"/>
          </a:p>
        </p:txBody>
      </p:sp>
      <p:sp>
        <p:nvSpPr>
          <p:cNvPr id="11" name="Shape 9"/>
          <p:cNvSpPr/>
          <p:nvPr/>
        </p:nvSpPr>
        <p:spPr>
          <a:xfrm>
            <a:off x="548640" y="3886200"/>
            <a:ext cx="548640" cy="548640"/>
          </a:xfrm>
          <a:prstGeom prst="ellipse">
            <a:avLst/>
          </a:prstGeom>
          <a:solidFill>
            <a:schemeClr val="accent1"/>
          </a:solidFill>
          <a:ln/>
        </p:spPr>
      </p:sp>
      <p:sp>
        <p:nvSpPr>
          <p:cNvPr id="12" name="Text 10"/>
          <p:cNvSpPr txBox="1"/>
          <p:nvPr/>
        </p:nvSpPr>
        <p:spPr>
          <a:xfrm>
            <a:off x="548640" y="3886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3" name="Text 11"/>
          <p:cNvSpPr txBox="1"/>
          <p:nvPr/>
        </p:nvSpPr>
        <p:spPr>
          <a:xfrm>
            <a:off x="1325880" y="3867912"/>
            <a:ext cx="6035040" cy="320040"/>
          </a:xfrm>
          <a:prstGeom prst="rect">
            <a:avLst/>
          </a:prstGeom>
          <a:noFill/>
          <a:ln/>
        </p:spPr>
        <p:txBody>
          <a:bodyPr wrap="square" lIns="0" tIns="0" rIns="0" bIns="0" rtlCol="0" anchor="t"/>
          <a:lstStyle/>
          <a:p>
            <a:pPr indent="0" marL="0">
              <a:buNone/>
            </a:pPr>
            <a:r>
              <a:rPr lang="en-US" sz="1600" b="1" dirty="0">
                <a:solidFill>
                  <a:schemeClr val="tx1"/>
                </a:solidFill>
              </a:rPr>
              <a:t>The bold idea</a:t>
            </a:r>
            <a:endParaRPr lang="en-US" sz="1600" dirty="0"/>
          </a:p>
        </p:txBody>
      </p:sp>
      <p:sp>
        <p:nvSpPr>
          <p:cNvPr id="14" name="Text 12"/>
          <p:cNvSpPr txBox="1"/>
          <p:nvPr/>
        </p:nvSpPr>
        <p:spPr>
          <a:xfrm>
            <a:off x="1325880" y="4215384"/>
            <a:ext cx="6035040" cy="731520"/>
          </a:xfrm>
          <a:prstGeom prst="rect">
            <a:avLst/>
          </a:prstGeom>
          <a:noFill/>
          <a:ln/>
        </p:spPr>
        <p:txBody>
          <a:bodyPr wrap="square" lIns="0" tIns="0" rIns="0" bIns="0" rtlCol="0" anchor="t"/>
          <a:lstStyle/>
          <a:p>
            <a:pPr indent="0" marL="0">
              <a:buNone/>
            </a:pPr>
            <a:r>
              <a:rPr lang="en-US" sz="1400" dirty="0">
                <a:solidFill>
                  <a:schemeClr val="tx2"/>
                </a:solidFill>
              </a:rPr>
              <a:t>Virley Everywhere: one client, one stock view and one team behind every channel, so a client is served the same way in London or online.</a:t>
            </a:r>
            <a:endParaRPr lang="en-US" sz="1400" dirty="0"/>
          </a:p>
        </p:txBody>
      </p:sp>
      <p:sp>
        <p:nvSpPr>
          <p:cNvPr id="15" name="Shape 13"/>
          <p:cNvSpPr/>
          <p:nvPr/>
        </p:nvSpPr>
        <p:spPr>
          <a:xfrm>
            <a:off x="548640" y="5029200"/>
            <a:ext cx="548640" cy="548640"/>
          </a:xfrm>
          <a:prstGeom prst="ellipse">
            <a:avLst/>
          </a:prstGeom>
          <a:solidFill>
            <a:schemeClr val="accent1"/>
          </a:solidFill>
          <a:ln/>
        </p:spPr>
      </p:sp>
      <p:sp>
        <p:nvSpPr>
          <p:cNvPr id="16" name="Text 14"/>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17" name="Text 15"/>
          <p:cNvSpPr txBox="1"/>
          <p:nvPr/>
        </p:nvSpPr>
        <p:spPr>
          <a:xfrm>
            <a:off x="1325880" y="5010912"/>
            <a:ext cx="6035040" cy="320040"/>
          </a:xfrm>
          <a:prstGeom prst="rect">
            <a:avLst/>
          </a:prstGeom>
          <a:noFill/>
          <a:ln/>
        </p:spPr>
        <p:txBody>
          <a:bodyPr wrap="square" lIns="0" tIns="0" rIns="0" bIns="0" rtlCol="0" anchor="t"/>
          <a:lstStyle/>
          <a:p>
            <a:pPr indent="0" marL="0">
              <a:buNone/>
            </a:pPr>
            <a:r>
              <a:rPr lang="en-US" sz="1600" b="1" dirty="0">
                <a:solidFill>
                  <a:schemeClr val="tx1"/>
                </a:solidFill>
              </a:rPr>
              <a:t>The path</a:t>
            </a:r>
            <a:endParaRPr lang="en-US" sz="1600" dirty="0"/>
          </a:p>
        </p:txBody>
      </p:sp>
      <p:sp>
        <p:nvSpPr>
          <p:cNvPr id="18" name="Text 16"/>
          <p:cNvSpPr txBox="1"/>
          <p:nvPr/>
        </p:nvSpPr>
        <p:spPr>
          <a:xfrm>
            <a:off x="1325880" y="5358384"/>
            <a:ext cx="6035040" cy="731520"/>
          </a:xfrm>
          <a:prstGeom prst="rect">
            <a:avLst/>
          </a:prstGeom>
          <a:noFill/>
          <a:ln/>
        </p:spPr>
        <p:txBody>
          <a:bodyPr wrap="square" lIns="0" tIns="0" rIns="0" bIns="0" rtlCol="0" anchor="t"/>
          <a:lstStyle/>
          <a:p>
            <a:pPr indent="0" marL="0">
              <a:buNone/>
            </a:pPr>
            <a:r>
              <a:rPr lang="en-US" sz="1400" dirty="0">
                <a:solidFill>
                  <a:schemeClr val="tx2"/>
                </a:solidFill>
              </a:rPr>
              <a:t>Fix the foundations, prove the model in the London flagship, then scale. Decide on a web-only acquisition once foundations can absorb it.</a:t>
            </a:r>
            <a:endParaRPr lang="en-US" sz="1400" dirty="0"/>
          </a:p>
        </p:txBody>
      </p:sp>
      <p:sp>
        <p:nvSpPr>
          <p:cNvPr id="19" name="Core message card"/>
          <p:cNvSpPr/>
          <p:nvPr/>
        </p:nvSpPr>
        <p:spPr>
          <a:xfrm>
            <a:off x="7772400" y="1600200"/>
            <a:ext cx="3840480" cy="4434840"/>
          </a:xfrm>
          <a:prstGeom prst="rect">
            <a:avLst/>
          </a:prstGeom>
          <a:solidFill>
            <a:schemeClr val="accent1"/>
          </a:solidFill>
          <a:ln/>
        </p:spPr>
      </p:sp>
      <p:sp>
        <p:nvSpPr>
          <p:cNvPr id="20" name="Text 18"/>
          <p:cNvSpPr txBox="1"/>
          <p:nvPr/>
        </p:nvSpPr>
        <p:spPr>
          <a:xfrm>
            <a:off x="8092440" y="1874520"/>
            <a:ext cx="3200400" cy="274320"/>
          </a:xfrm>
          <a:prstGeom prst="rect">
            <a:avLst/>
          </a:prstGeom>
          <a:noFill/>
          <a:ln/>
        </p:spPr>
        <p:txBody>
          <a:bodyPr wrap="square" lIns="0" tIns="0" rIns="0" bIns="0" rtlCol="0" anchor="t"/>
          <a:lstStyle/>
          <a:p>
            <a:pPr indent="0" marL="0">
              <a:buNone/>
            </a:pPr>
            <a:r>
              <a:rPr lang="en-US" sz="1200" b="1" spc="200" kern="0" dirty="0">
                <a:solidFill>
                  <a:schemeClr val="bg1"/>
                </a:solidFill>
              </a:rPr>
              <a:t>CORE MESSAGE</a:t>
            </a:r>
            <a:endParaRPr lang="en-US" sz="1200" dirty="0"/>
          </a:p>
        </p:txBody>
      </p:sp>
      <p:sp>
        <p:nvSpPr>
          <p:cNvPr id="21" name="Text 19"/>
          <p:cNvSpPr txBox="1"/>
          <p:nvPr/>
        </p:nvSpPr>
        <p:spPr>
          <a:xfrm>
            <a:off x="8092440" y="2331720"/>
            <a:ext cx="3200400" cy="329184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V&amp;S can return to leading growth by delivering one Virley experience in every channel</a:t>
            </a:r>
            <a:endParaRPr lang="en-US" sz="2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The storyline: one core message, three main ideas and the facts behind them</a:t>
            </a:r>
            <a:endParaRPr lang="en-US" sz="3000" dirty="0"/>
          </a:p>
        </p:txBody>
      </p:sp>
      <p:sp>
        <p:nvSpPr>
          <p:cNvPr id="3" name="Text 1"/>
          <p:cNvSpPr txBox="1"/>
          <p:nvPr/>
        </p:nvSpPr>
        <p:spPr>
          <a:xfrm>
            <a:off x="548640" y="1810512"/>
            <a:ext cx="1371600" cy="274320"/>
          </a:xfrm>
          <a:prstGeom prst="rect">
            <a:avLst/>
          </a:prstGeom>
          <a:noFill/>
          <a:ln/>
        </p:spPr>
        <p:txBody>
          <a:bodyPr wrap="square" lIns="0" tIns="0" rIns="0" bIns="0" rtlCol="0" anchor="t"/>
          <a:lstStyle/>
          <a:p>
            <a:pPr indent="0" marL="0">
              <a:buNone/>
            </a:pPr>
            <a:r>
              <a:rPr lang="en-US" sz="1200" b="1" dirty="0">
                <a:solidFill>
                  <a:srgbClr val="000000"/>
                </a:solidFill>
              </a:rPr>
              <a:t>Core message</a:t>
            </a:r>
            <a:endParaRPr lang="en-US" sz="1200" dirty="0"/>
          </a:p>
        </p:txBody>
      </p:sp>
      <p:sp>
        <p:nvSpPr>
          <p:cNvPr id="4" name="Text 2"/>
          <p:cNvSpPr txBox="1"/>
          <p:nvPr/>
        </p:nvSpPr>
        <p:spPr>
          <a:xfrm>
            <a:off x="548640" y="2999232"/>
            <a:ext cx="1371600" cy="274320"/>
          </a:xfrm>
          <a:prstGeom prst="rect">
            <a:avLst/>
          </a:prstGeom>
          <a:noFill/>
          <a:ln/>
        </p:spPr>
        <p:txBody>
          <a:bodyPr wrap="square" lIns="0" tIns="0" rIns="0" bIns="0" rtlCol="0" anchor="t"/>
          <a:lstStyle/>
          <a:p>
            <a:pPr indent="0" marL="0">
              <a:buNone/>
            </a:pPr>
            <a:r>
              <a:rPr lang="en-US" sz="1200" b="1" dirty="0">
                <a:solidFill>
                  <a:srgbClr val="000000"/>
                </a:solidFill>
              </a:rPr>
              <a:t>Main ideas</a:t>
            </a:r>
            <a:endParaRPr lang="en-US" sz="1200" dirty="0"/>
          </a:p>
        </p:txBody>
      </p:sp>
      <p:sp>
        <p:nvSpPr>
          <p:cNvPr id="5" name="Text 3"/>
          <p:cNvSpPr txBox="1"/>
          <p:nvPr/>
        </p:nvSpPr>
        <p:spPr>
          <a:xfrm>
            <a:off x="548640" y="4160520"/>
            <a:ext cx="1371600" cy="457200"/>
          </a:xfrm>
          <a:prstGeom prst="rect">
            <a:avLst/>
          </a:prstGeom>
          <a:noFill/>
          <a:ln/>
        </p:spPr>
        <p:txBody>
          <a:bodyPr wrap="square" lIns="0" tIns="0" rIns="0" bIns="0" rtlCol="0" anchor="t"/>
          <a:lstStyle/>
          <a:p>
            <a:pPr indent="0" marL="0">
              <a:buNone/>
            </a:pPr>
            <a:r>
              <a:rPr lang="en-US" sz="1200" b="1" dirty="0">
                <a:solidFill>
                  <a:srgbClr val="000000"/>
                </a:solidFill>
              </a:rPr>
              <a:t>Supporting ideas</a:t>
            </a:r>
            <a:endParaRPr lang="en-US" sz="1200" dirty="0"/>
          </a:p>
        </p:txBody>
      </p:sp>
      <p:sp>
        <p:nvSpPr>
          <p:cNvPr id="6" name="Text 4"/>
          <p:cNvSpPr txBox="1"/>
          <p:nvPr/>
        </p:nvSpPr>
        <p:spPr>
          <a:xfrm>
            <a:off x="548640" y="5330952"/>
            <a:ext cx="1371600" cy="274320"/>
          </a:xfrm>
          <a:prstGeom prst="rect">
            <a:avLst/>
          </a:prstGeom>
          <a:noFill/>
          <a:ln/>
        </p:spPr>
        <p:txBody>
          <a:bodyPr wrap="square" lIns="0" tIns="0" rIns="0" bIns="0" rtlCol="0" anchor="t"/>
          <a:lstStyle/>
          <a:p>
            <a:pPr indent="0" marL="0">
              <a:buNone/>
            </a:pPr>
            <a:r>
              <a:rPr lang="en-US" sz="1200" b="1" dirty="0">
                <a:solidFill>
                  <a:srgbClr val="000000"/>
                </a:solidFill>
              </a:rPr>
              <a:t>Facts</a:t>
            </a:r>
            <a:endParaRPr lang="en-US" sz="1200" dirty="0"/>
          </a:p>
        </p:txBody>
      </p:sp>
      <p:sp>
        <p:nvSpPr>
          <p:cNvPr id="7" name="Storyline panel"/>
          <p:cNvSpPr/>
          <p:nvPr/>
        </p:nvSpPr>
        <p:spPr>
          <a:xfrm>
            <a:off x="1965960" y="2606040"/>
            <a:ext cx="7818120" cy="3429000"/>
          </a:xfrm>
          <a:prstGeom prst="rect">
            <a:avLst/>
          </a:prstGeom>
          <a:solidFill>
            <a:schemeClr val="bg2"/>
          </a:solidFill>
          <a:ln/>
        </p:spPr>
      </p:sp>
      <p:sp>
        <p:nvSpPr>
          <p:cNvPr id="8" name="Shape 6"/>
          <p:cNvSpPr/>
          <p:nvPr/>
        </p:nvSpPr>
        <p:spPr>
          <a:xfrm>
            <a:off x="5897880" y="2331720"/>
            <a:ext cx="0" cy="182880"/>
          </a:xfrm>
          <a:prstGeom prst="line">
            <a:avLst/>
          </a:prstGeom>
          <a:noFill/>
          <a:ln w="12700">
            <a:solidFill>
              <a:schemeClr val="tx2"/>
            </a:solidFill>
            <a:prstDash val="solid"/>
          </a:ln>
        </p:spPr>
      </p:sp>
      <p:sp>
        <p:nvSpPr>
          <p:cNvPr id="9" name="Shape 7"/>
          <p:cNvSpPr/>
          <p:nvPr/>
        </p:nvSpPr>
        <p:spPr>
          <a:xfrm>
            <a:off x="3291840" y="2514600"/>
            <a:ext cx="5212080" cy="0"/>
          </a:xfrm>
          <a:prstGeom prst="line">
            <a:avLst/>
          </a:prstGeom>
          <a:noFill/>
          <a:ln w="12700">
            <a:solidFill>
              <a:schemeClr val="tx2"/>
            </a:solidFill>
            <a:prstDash val="solid"/>
          </a:ln>
        </p:spPr>
      </p:sp>
      <p:sp>
        <p:nvSpPr>
          <p:cNvPr id="10" name="Shape 8"/>
          <p:cNvSpPr/>
          <p:nvPr/>
        </p:nvSpPr>
        <p:spPr>
          <a:xfrm>
            <a:off x="3291840" y="2514600"/>
            <a:ext cx="0" cy="182880"/>
          </a:xfrm>
          <a:prstGeom prst="line">
            <a:avLst/>
          </a:prstGeom>
          <a:noFill/>
          <a:ln w="12700">
            <a:solidFill>
              <a:schemeClr val="tx2"/>
            </a:solidFill>
            <a:prstDash val="solid"/>
          </a:ln>
        </p:spPr>
      </p:sp>
      <p:sp>
        <p:nvSpPr>
          <p:cNvPr id="11" name="Shape 9"/>
          <p:cNvSpPr/>
          <p:nvPr/>
        </p:nvSpPr>
        <p:spPr>
          <a:xfrm>
            <a:off x="3291840" y="3566160"/>
            <a:ext cx="0" cy="137160"/>
          </a:xfrm>
          <a:prstGeom prst="line">
            <a:avLst/>
          </a:prstGeom>
          <a:noFill/>
          <a:ln w="12700">
            <a:solidFill>
              <a:schemeClr val="tx2"/>
            </a:solidFill>
            <a:prstDash val="solid"/>
          </a:ln>
        </p:spPr>
      </p:sp>
      <p:sp>
        <p:nvSpPr>
          <p:cNvPr id="12" name="Shape 10"/>
          <p:cNvSpPr/>
          <p:nvPr/>
        </p:nvSpPr>
        <p:spPr>
          <a:xfrm>
            <a:off x="2651760" y="3703320"/>
            <a:ext cx="1280160" cy="0"/>
          </a:xfrm>
          <a:prstGeom prst="line">
            <a:avLst/>
          </a:prstGeom>
          <a:noFill/>
          <a:ln w="12700">
            <a:solidFill>
              <a:schemeClr val="tx2"/>
            </a:solidFill>
            <a:prstDash val="solid"/>
          </a:ln>
        </p:spPr>
      </p:sp>
      <p:sp>
        <p:nvSpPr>
          <p:cNvPr id="13" name="Shape 11"/>
          <p:cNvSpPr/>
          <p:nvPr/>
        </p:nvSpPr>
        <p:spPr>
          <a:xfrm>
            <a:off x="2651760" y="3703320"/>
            <a:ext cx="0" cy="137160"/>
          </a:xfrm>
          <a:prstGeom prst="line">
            <a:avLst/>
          </a:prstGeom>
          <a:noFill/>
          <a:ln w="12700">
            <a:solidFill>
              <a:schemeClr val="tx2"/>
            </a:solidFill>
            <a:prstDash val="solid"/>
          </a:ln>
        </p:spPr>
      </p:sp>
      <p:sp>
        <p:nvSpPr>
          <p:cNvPr id="14" name="Shape 12"/>
          <p:cNvSpPr/>
          <p:nvPr/>
        </p:nvSpPr>
        <p:spPr>
          <a:xfrm>
            <a:off x="3931920" y="3703320"/>
            <a:ext cx="0" cy="137160"/>
          </a:xfrm>
          <a:prstGeom prst="line">
            <a:avLst/>
          </a:prstGeom>
          <a:noFill/>
          <a:ln w="12700">
            <a:solidFill>
              <a:schemeClr val="tx2"/>
            </a:solidFill>
            <a:prstDash val="solid"/>
          </a:ln>
        </p:spPr>
      </p:sp>
      <p:sp>
        <p:nvSpPr>
          <p:cNvPr id="15" name="Shape 13"/>
          <p:cNvSpPr/>
          <p:nvPr/>
        </p:nvSpPr>
        <p:spPr>
          <a:xfrm>
            <a:off x="2651760" y="4754880"/>
            <a:ext cx="0" cy="137160"/>
          </a:xfrm>
          <a:prstGeom prst="line">
            <a:avLst/>
          </a:prstGeom>
          <a:noFill/>
          <a:ln w="12700">
            <a:solidFill>
              <a:schemeClr val="tx2"/>
            </a:solidFill>
            <a:prstDash val="solid"/>
          </a:ln>
        </p:spPr>
      </p:sp>
      <p:sp>
        <p:nvSpPr>
          <p:cNvPr id="16" name="Shape 14"/>
          <p:cNvSpPr/>
          <p:nvPr/>
        </p:nvSpPr>
        <p:spPr>
          <a:xfrm>
            <a:off x="3931920" y="4754880"/>
            <a:ext cx="0" cy="137160"/>
          </a:xfrm>
          <a:prstGeom prst="line">
            <a:avLst/>
          </a:prstGeom>
          <a:noFill/>
          <a:ln w="12700">
            <a:solidFill>
              <a:schemeClr val="tx2"/>
            </a:solidFill>
            <a:prstDash val="solid"/>
          </a:ln>
        </p:spPr>
      </p:sp>
      <p:sp>
        <p:nvSpPr>
          <p:cNvPr id="17" name="Shape 15"/>
          <p:cNvSpPr/>
          <p:nvPr/>
        </p:nvSpPr>
        <p:spPr>
          <a:xfrm>
            <a:off x="2651760" y="4892040"/>
            <a:ext cx="1280160" cy="0"/>
          </a:xfrm>
          <a:prstGeom prst="line">
            <a:avLst/>
          </a:prstGeom>
          <a:noFill/>
          <a:ln w="12700">
            <a:solidFill>
              <a:schemeClr val="tx2"/>
            </a:solidFill>
            <a:prstDash val="solid"/>
          </a:ln>
        </p:spPr>
      </p:sp>
      <p:sp>
        <p:nvSpPr>
          <p:cNvPr id="18" name="Shape 16"/>
          <p:cNvSpPr/>
          <p:nvPr/>
        </p:nvSpPr>
        <p:spPr>
          <a:xfrm>
            <a:off x="3291840" y="4892040"/>
            <a:ext cx="0" cy="137160"/>
          </a:xfrm>
          <a:prstGeom prst="line">
            <a:avLst/>
          </a:prstGeom>
          <a:noFill/>
          <a:ln w="12700">
            <a:solidFill>
              <a:schemeClr val="tx2"/>
            </a:solidFill>
            <a:prstDash val="solid"/>
          </a:ln>
        </p:spPr>
      </p:sp>
      <p:sp>
        <p:nvSpPr>
          <p:cNvPr id="19" name="Shape 17"/>
          <p:cNvSpPr/>
          <p:nvPr/>
        </p:nvSpPr>
        <p:spPr>
          <a:xfrm>
            <a:off x="5897880" y="2514600"/>
            <a:ext cx="0" cy="182880"/>
          </a:xfrm>
          <a:prstGeom prst="line">
            <a:avLst/>
          </a:prstGeom>
          <a:noFill/>
          <a:ln w="12700">
            <a:solidFill>
              <a:schemeClr val="tx2"/>
            </a:solidFill>
            <a:prstDash val="solid"/>
          </a:ln>
        </p:spPr>
      </p:sp>
      <p:sp>
        <p:nvSpPr>
          <p:cNvPr id="20" name="Shape 18"/>
          <p:cNvSpPr/>
          <p:nvPr/>
        </p:nvSpPr>
        <p:spPr>
          <a:xfrm>
            <a:off x="5897880" y="3566160"/>
            <a:ext cx="0" cy="137160"/>
          </a:xfrm>
          <a:prstGeom prst="line">
            <a:avLst/>
          </a:prstGeom>
          <a:noFill/>
          <a:ln w="12700">
            <a:solidFill>
              <a:schemeClr val="tx2"/>
            </a:solidFill>
            <a:prstDash val="solid"/>
          </a:ln>
        </p:spPr>
      </p:sp>
      <p:sp>
        <p:nvSpPr>
          <p:cNvPr id="21" name="Shape 19"/>
          <p:cNvSpPr/>
          <p:nvPr/>
        </p:nvSpPr>
        <p:spPr>
          <a:xfrm>
            <a:off x="5257800" y="3703320"/>
            <a:ext cx="1280160" cy="0"/>
          </a:xfrm>
          <a:prstGeom prst="line">
            <a:avLst/>
          </a:prstGeom>
          <a:noFill/>
          <a:ln w="12700">
            <a:solidFill>
              <a:schemeClr val="tx2"/>
            </a:solidFill>
            <a:prstDash val="solid"/>
          </a:ln>
        </p:spPr>
      </p:sp>
      <p:sp>
        <p:nvSpPr>
          <p:cNvPr id="22" name="Shape 20"/>
          <p:cNvSpPr/>
          <p:nvPr/>
        </p:nvSpPr>
        <p:spPr>
          <a:xfrm>
            <a:off x="5257800" y="3703320"/>
            <a:ext cx="0" cy="137160"/>
          </a:xfrm>
          <a:prstGeom prst="line">
            <a:avLst/>
          </a:prstGeom>
          <a:noFill/>
          <a:ln w="12700">
            <a:solidFill>
              <a:schemeClr val="tx2"/>
            </a:solidFill>
            <a:prstDash val="solid"/>
          </a:ln>
        </p:spPr>
      </p:sp>
      <p:sp>
        <p:nvSpPr>
          <p:cNvPr id="23" name="Shape 21"/>
          <p:cNvSpPr/>
          <p:nvPr/>
        </p:nvSpPr>
        <p:spPr>
          <a:xfrm>
            <a:off x="6537960" y="3703320"/>
            <a:ext cx="0" cy="137160"/>
          </a:xfrm>
          <a:prstGeom prst="line">
            <a:avLst/>
          </a:prstGeom>
          <a:noFill/>
          <a:ln w="12700">
            <a:solidFill>
              <a:schemeClr val="tx2"/>
            </a:solidFill>
            <a:prstDash val="solid"/>
          </a:ln>
        </p:spPr>
      </p:sp>
      <p:sp>
        <p:nvSpPr>
          <p:cNvPr id="24" name="Shape 22"/>
          <p:cNvSpPr/>
          <p:nvPr/>
        </p:nvSpPr>
        <p:spPr>
          <a:xfrm>
            <a:off x="5257800" y="4754880"/>
            <a:ext cx="0" cy="137160"/>
          </a:xfrm>
          <a:prstGeom prst="line">
            <a:avLst/>
          </a:prstGeom>
          <a:noFill/>
          <a:ln w="12700">
            <a:solidFill>
              <a:schemeClr val="tx2"/>
            </a:solidFill>
            <a:prstDash val="solid"/>
          </a:ln>
        </p:spPr>
      </p:sp>
      <p:sp>
        <p:nvSpPr>
          <p:cNvPr id="25" name="Shape 23"/>
          <p:cNvSpPr/>
          <p:nvPr/>
        </p:nvSpPr>
        <p:spPr>
          <a:xfrm>
            <a:off x="6537960" y="4754880"/>
            <a:ext cx="0" cy="137160"/>
          </a:xfrm>
          <a:prstGeom prst="line">
            <a:avLst/>
          </a:prstGeom>
          <a:noFill/>
          <a:ln w="12700">
            <a:solidFill>
              <a:schemeClr val="tx2"/>
            </a:solidFill>
            <a:prstDash val="solid"/>
          </a:ln>
        </p:spPr>
      </p:sp>
      <p:sp>
        <p:nvSpPr>
          <p:cNvPr id="26" name="Shape 24"/>
          <p:cNvSpPr/>
          <p:nvPr/>
        </p:nvSpPr>
        <p:spPr>
          <a:xfrm>
            <a:off x="5257800" y="4892040"/>
            <a:ext cx="1280160" cy="0"/>
          </a:xfrm>
          <a:prstGeom prst="line">
            <a:avLst/>
          </a:prstGeom>
          <a:noFill/>
          <a:ln w="12700">
            <a:solidFill>
              <a:schemeClr val="tx2"/>
            </a:solidFill>
            <a:prstDash val="solid"/>
          </a:ln>
        </p:spPr>
      </p:sp>
      <p:sp>
        <p:nvSpPr>
          <p:cNvPr id="27" name="Shape 25"/>
          <p:cNvSpPr/>
          <p:nvPr/>
        </p:nvSpPr>
        <p:spPr>
          <a:xfrm>
            <a:off x="5897880" y="4892040"/>
            <a:ext cx="0" cy="137160"/>
          </a:xfrm>
          <a:prstGeom prst="line">
            <a:avLst/>
          </a:prstGeom>
          <a:noFill/>
          <a:ln w="12700">
            <a:solidFill>
              <a:schemeClr val="tx2"/>
            </a:solidFill>
            <a:prstDash val="solid"/>
          </a:ln>
        </p:spPr>
      </p:sp>
      <p:sp>
        <p:nvSpPr>
          <p:cNvPr id="28" name="Shape 26"/>
          <p:cNvSpPr/>
          <p:nvPr/>
        </p:nvSpPr>
        <p:spPr>
          <a:xfrm>
            <a:off x="8503920" y="2514600"/>
            <a:ext cx="0" cy="182880"/>
          </a:xfrm>
          <a:prstGeom prst="line">
            <a:avLst/>
          </a:prstGeom>
          <a:noFill/>
          <a:ln w="12700">
            <a:solidFill>
              <a:schemeClr val="tx2"/>
            </a:solidFill>
            <a:prstDash val="solid"/>
          </a:ln>
        </p:spPr>
      </p:sp>
      <p:sp>
        <p:nvSpPr>
          <p:cNvPr id="29" name="Shape 27"/>
          <p:cNvSpPr/>
          <p:nvPr/>
        </p:nvSpPr>
        <p:spPr>
          <a:xfrm>
            <a:off x="8503920" y="3566160"/>
            <a:ext cx="0" cy="137160"/>
          </a:xfrm>
          <a:prstGeom prst="line">
            <a:avLst/>
          </a:prstGeom>
          <a:noFill/>
          <a:ln w="12700">
            <a:solidFill>
              <a:schemeClr val="tx2"/>
            </a:solidFill>
            <a:prstDash val="solid"/>
          </a:ln>
        </p:spPr>
      </p:sp>
      <p:sp>
        <p:nvSpPr>
          <p:cNvPr id="30" name="Shape 28"/>
          <p:cNvSpPr/>
          <p:nvPr/>
        </p:nvSpPr>
        <p:spPr>
          <a:xfrm>
            <a:off x="7863840" y="3703320"/>
            <a:ext cx="1280160" cy="0"/>
          </a:xfrm>
          <a:prstGeom prst="line">
            <a:avLst/>
          </a:prstGeom>
          <a:noFill/>
          <a:ln w="12700">
            <a:solidFill>
              <a:schemeClr val="tx2"/>
            </a:solidFill>
            <a:prstDash val="solid"/>
          </a:ln>
        </p:spPr>
      </p:sp>
      <p:sp>
        <p:nvSpPr>
          <p:cNvPr id="31" name="Shape 29"/>
          <p:cNvSpPr/>
          <p:nvPr/>
        </p:nvSpPr>
        <p:spPr>
          <a:xfrm>
            <a:off x="7863840" y="3703320"/>
            <a:ext cx="0" cy="137160"/>
          </a:xfrm>
          <a:prstGeom prst="line">
            <a:avLst/>
          </a:prstGeom>
          <a:noFill/>
          <a:ln w="12700">
            <a:solidFill>
              <a:schemeClr val="tx2"/>
            </a:solidFill>
            <a:prstDash val="solid"/>
          </a:ln>
        </p:spPr>
      </p:sp>
      <p:sp>
        <p:nvSpPr>
          <p:cNvPr id="32" name="Shape 30"/>
          <p:cNvSpPr/>
          <p:nvPr/>
        </p:nvSpPr>
        <p:spPr>
          <a:xfrm>
            <a:off x="9144000" y="3703320"/>
            <a:ext cx="0" cy="137160"/>
          </a:xfrm>
          <a:prstGeom prst="line">
            <a:avLst/>
          </a:prstGeom>
          <a:noFill/>
          <a:ln w="12700">
            <a:solidFill>
              <a:schemeClr val="tx2"/>
            </a:solidFill>
            <a:prstDash val="solid"/>
          </a:ln>
        </p:spPr>
      </p:sp>
      <p:sp>
        <p:nvSpPr>
          <p:cNvPr id="33" name="Shape 31"/>
          <p:cNvSpPr/>
          <p:nvPr/>
        </p:nvSpPr>
        <p:spPr>
          <a:xfrm>
            <a:off x="7863840" y="4754880"/>
            <a:ext cx="0" cy="137160"/>
          </a:xfrm>
          <a:prstGeom prst="line">
            <a:avLst/>
          </a:prstGeom>
          <a:noFill/>
          <a:ln w="12700">
            <a:solidFill>
              <a:schemeClr val="tx2"/>
            </a:solidFill>
            <a:prstDash val="solid"/>
          </a:ln>
        </p:spPr>
      </p:sp>
      <p:sp>
        <p:nvSpPr>
          <p:cNvPr id="34" name="Shape 32"/>
          <p:cNvSpPr/>
          <p:nvPr/>
        </p:nvSpPr>
        <p:spPr>
          <a:xfrm>
            <a:off x="9144000" y="4754880"/>
            <a:ext cx="0" cy="137160"/>
          </a:xfrm>
          <a:prstGeom prst="line">
            <a:avLst/>
          </a:prstGeom>
          <a:noFill/>
          <a:ln w="12700">
            <a:solidFill>
              <a:schemeClr val="tx2"/>
            </a:solidFill>
            <a:prstDash val="solid"/>
          </a:ln>
        </p:spPr>
      </p:sp>
      <p:sp>
        <p:nvSpPr>
          <p:cNvPr id="35" name="Shape 33"/>
          <p:cNvSpPr/>
          <p:nvPr/>
        </p:nvSpPr>
        <p:spPr>
          <a:xfrm>
            <a:off x="7863840" y="4892040"/>
            <a:ext cx="1280160" cy="0"/>
          </a:xfrm>
          <a:prstGeom prst="line">
            <a:avLst/>
          </a:prstGeom>
          <a:noFill/>
          <a:ln w="12700">
            <a:solidFill>
              <a:schemeClr val="tx2"/>
            </a:solidFill>
            <a:prstDash val="solid"/>
          </a:ln>
        </p:spPr>
      </p:sp>
      <p:sp>
        <p:nvSpPr>
          <p:cNvPr id="36" name="Shape 34"/>
          <p:cNvSpPr/>
          <p:nvPr/>
        </p:nvSpPr>
        <p:spPr>
          <a:xfrm>
            <a:off x="8503920" y="4892040"/>
            <a:ext cx="0" cy="137160"/>
          </a:xfrm>
          <a:prstGeom prst="line">
            <a:avLst/>
          </a:prstGeom>
          <a:noFill/>
          <a:ln w="12700">
            <a:solidFill>
              <a:schemeClr val="tx2"/>
            </a:solidFill>
            <a:prstDash val="solid"/>
          </a:ln>
        </p:spPr>
      </p:sp>
      <p:sp>
        <p:nvSpPr>
          <p:cNvPr id="37" name="Core message"/>
          <p:cNvSpPr/>
          <p:nvPr/>
        </p:nvSpPr>
        <p:spPr>
          <a:xfrm>
            <a:off x="3977640" y="1554480"/>
            <a:ext cx="3840480" cy="777240"/>
          </a:xfrm>
          <a:prstGeom prst="rect">
            <a:avLst/>
          </a:prstGeom>
          <a:solidFill>
            <a:schemeClr val="accent1"/>
          </a:solidFill>
          <a:ln/>
        </p:spPr>
      </p:sp>
      <p:sp>
        <p:nvSpPr>
          <p:cNvPr id="38" name="Text 36"/>
          <p:cNvSpPr txBox="1"/>
          <p:nvPr/>
        </p:nvSpPr>
        <p:spPr>
          <a:xfrm>
            <a:off x="4069080" y="1554480"/>
            <a:ext cx="3657600" cy="777240"/>
          </a:xfrm>
          <a:prstGeom prst="rect">
            <a:avLst/>
          </a:prstGeom>
          <a:noFill/>
          <a:ln/>
        </p:spPr>
        <p:txBody>
          <a:bodyPr wrap="square" lIns="0" tIns="0" rIns="0" bIns="0" rtlCol="0" anchor="ctr"/>
          <a:lstStyle/>
          <a:p>
            <a:pPr algn="ctr" indent="0" marL="0">
              <a:buNone/>
            </a:pPr>
            <a:r>
              <a:rPr lang="en-US" sz="1400" b="1" dirty="0">
                <a:solidFill>
                  <a:schemeClr val="bg1"/>
                </a:solidFill>
              </a:rPr>
              <a:t>V&amp;S can return to leading growth by delivering one Virley experience in every channel</a:t>
            </a:r>
            <a:endParaRPr lang="en-US" sz="1400" dirty="0"/>
          </a:p>
        </p:txBody>
      </p:sp>
      <p:sp>
        <p:nvSpPr>
          <p:cNvPr id="39" name="Main idea 1"/>
          <p:cNvSpPr/>
          <p:nvPr/>
        </p:nvSpPr>
        <p:spPr>
          <a:xfrm>
            <a:off x="2057400" y="2697480"/>
            <a:ext cx="2468880" cy="868680"/>
          </a:xfrm>
          <a:prstGeom prst="rect">
            <a:avLst/>
          </a:prstGeom>
          <a:solidFill>
            <a:schemeClr val="bg1"/>
          </a:solidFill>
          <a:ln w="12700">
            <a:solidFill>
              <a:srgbClr val="6E625E"/>
            </a:solidFill>
            <a:prstDash val="solid"/>
          </a:ln>
        </p:spPr>
      </p:sp>
      <p:sp>
        <p:nvSpPr>
          <p:cNvPr id="40" name="Text 38"/>
          <p:cNvSpPr txBox="1"/>
          <p:nvPr/>
        </p:nvSpPr>
        <p:spPr>
          <a:xfrm>
            <a:off x="2148840" y="2697480"/>
            <a:ext cx="2286000" cy="868680"/>
          </a:xfrm>
          <a:prstGeom prst="rect">
            <a:avLst/>
          </a:prstGeom>
          <a:noFill/>
          <a:ln/>
        </p:spPr>
        <p:txBody>
          <a:bodyPr wrap="square" lIns="0" tIns="0" rIns="0" bIns="0" rtlCol="0" anchor="ctr"/>
          <a:lstStyle/>
          <a:p>
            <a:pPr algn="ctr" indent="0" marL="0">
              <a:buNone/>
            </a:pPr>
            <a:r>
              <a:rPr lang="en-US" sz="1200" b="1" dirty="0">
                <a:solidFill>
                  <a:schemeClr val="tx1"/>
                </a:solidFill>
              </a:rPr>
              <a:t>The sales push is capped by how the experience is delivered and run</a:t>
            </a:r>
            <a:endParaRPr lang="en-US" sz="1200" dirty="0"/>
          </a:p>
        </p:txBody>
      </p:sp>
      <p:sp>
        <p:nvSpPr>
          <p:cNvPr id="41" name="Supporting idea 1.1"/>
          <p:cNvSpPr/>
          <p:nvPr/>
        </p:nvSpPr>
        <p:spPr>
          <a:xfrm>
            <a:off x="2057400" y="3840480"/>
            <a:ext cx="1188720" cy="914400"/>
          </a:xfrm>
          <a:prstGeom prst="rect">
            <a:avLst/>
          </a:prstGeom>
          <a:solidFill>
            <a:schemeClr val="bg1"/>
          </a:solidFill>
          <a:ln w="12700">
            <a:solidFill>
              <a:srgbClr val="6E625E"/>
            </a:solidFill>
            <a:prstDash val="solid"/>
          </a:ln>
        </p:spPr>
      </p:sp>
      <p:sp>
        <p:nvSpPr>
          <p:cNvPr id="42" name="Text 40"/>
          <p:cNvSpPr txBox="1"/>
          <p:nvPr/>
        </p:nvSpPr>
        <p:spPr>
          <a:xfrm>
            <a:off x="2121408" y="3840480"/>
            <a:ext cx="1060704" cy="914400"/>
          </a:xfrm>
          <a:prstGeom prst="rect">
            <a:avLst/>
          </a:prstGeom>
          <a:noFill/>
          <a:ln/>
        </p:spPr>
        <p:txBody>
          <a:bodyPr wrap="square" lIns="0" tIns="0" rIns="0" bIns="0" rtlCol="0" anchor="ctr"/>
          <a:lstStyle/>
          <a:p>
            <a:pPr algn="ctr" indent="0" marL="0">
              <a:buNone/>
            </a:pPr>
            <a:r>
              <a:rPr lang="en-US" sz="1100" dirty="0">
                <a:solidFill>
                  <a:schemeClr val="tx1"/>
                </a:solidFill>
              </a:rPr>
              <a:t>Online delivery and returns have operational issues</a:t>
            </a:r>
            <a:endParaRPr lang="en-US" sz="1100" dirty="0"/>
          </a:p>
        </p:txBody>
      </p:sp>
      <p:sp>
        <p:nvSpPr>
          <p:cNvPr id="43" name="Supporting idea 1.2"/>
          <p:cNvSpPr/>
          <p:nvPr/>
        </p:nvSpPr>
        <p:spPr>
          <a:xfrm>
            <a:off x="3337560" y="3840480"/>
            <a:ext cx="1188720" cy="914400"/>
          </a:xfrm>
          <a:prstGeom prst="rect">
            <a:avLst/>
          </a:prstGeom>
          <a:solidFill>
            <a:schemeClr val="bg1"/>
          </a:solidFill>
          <a:ln w="12700">
            <a:solidFill>
              <a:srgbClr val="6E625E"/>
            </a:solidFill>
            <a:prstDash val="solid"/>
          </a:ln>
        </p:spPr>
      </p:sp>
      <p:sp>
        <p:nvSpPr>
          <p:cNvPr id="44" name="Text 42"/>
          <p:cNvSpPr txBox="1"/>
          <p:nvPr/>
        </p:nvSpPr>
        <p:spPr>
          <a:xfrm>
            <a:off x="3401568" y="3840480"/>
            <a:ext cx="1060704" cy="914400"/>
          </a:xfrm>
          <a:prstGeom prst="rect">
            <a:avLst/>
          </a:prstGeom>
          <a:noFill/>
          <a:ln/>
        </p:spPr>
        <p:txBody>
          <a:bodyPr wrap="square" lIns="0" tIns="0" rIns="0" bIns="0" rtlCol="0" anchor="ctr"/>
          <a:lstStyle/>
          <a:p>
            <a:pPr algn="ctr" indent="0" marL="0">
              <a:buNone/>
            </a:pPr>
            <a:r>
              <a:rPr lang="en-US" sz="1100" dirty="0">
                <a:solidFill>
                  <a:schemeClr val="tx1"/>
                </a:solidFill>
              </a:rPr>
              <a:t>Foundations are fragmented: people, stock data, IT</a:t>
            </a:r>
            <a:endParaRPr lang="en-US" sz="1100" dirty="0"/>
          </a:p>
        </p:txBody>
      </p:sp>
      <p:sp>
        <p:nvSpPr>
          <p:cNvPr id="45" name="Facts 1"/>
          <p:cNvSpPr/>
          <p:nvPr/>
        </p:nvSpPr>
        <p:spPr>
          <a:xfrm>
            <a:off x="2057400" y="5029200"/>
            <a:ext cx="2468880" cy="868680"/>
          </a:xfrm>
          <a:prstGeom prst="rect">
            <a:avLst/>
          </a:prstGeom>
          <a:solidFill>
            <a:schemeClr val="tx2"/>
          </a:solidFill>
          <a:ln/>
        </p:spPr>
      </p:sp>
      <p:sp>
        <p:nvSpPr>
          <p:cNvPr id="46" name="Text 44"/>
          <p:cNvSpPr txBox="1"/>
          <p:nvPr/>
        </p:nvSpPr>
        <p:spPr>
          <a:xfrm>
            <a:off x="2148840" y="5029200"/>
            <a:ext cx="2286000" cy="868680"/>
          </a:xfrm>
          <a:prstGeom prst="rect">
            <a:avLst/>
          </a:prstGeom>
          <a:noFill/>
          <a:ln/>
        </p:spPr>
        <p:txBody>
          <a:bodyPr wrap="square" lIns="0" tIns="0" rIns="0" bIns="0" rtlCol="0" anchor="ctr"/>
          <a:lstStyle/>
          <a:p>
            <a:pPr algn="ctr" indent="0" marL="0">
              <a:buNone/>
            </a:pPr>
            <a:r>
              <a:rPr lang="en-US" sz="1100" dirty="0">
                <a:solidFill>
                  <a:schemeClr val="bg1"/>
                </a:solidFill>
              </a:rPr>
              <a:t>Growth below market, margins falling, IT director seat empty 6+ months</a:t>
            </a:r>
            <a:endParaRPr lang="en-US" sz="1100" dirty="0"/>
          </a:p>
        </p:txBody>
      </p:sp>
      <p:sp>
        <p:nvSpPr>
          <p:cNvPr id="47" name="Main idea 2"/>
          <p:cNvSpPr/>
          <p:nvPr/>
        </p:nvSpPr>
        <p:spPr>
          <a:xfrm>
            <a:off x="4663440" y="2697480"/>
            <a:ext cx="2468880" cy="868680"/>
          </a:xfrm>
          <a:prstGeom prst="rect">
            <a:avLst/>
          </a:prstGeom>
          <a:solidFill>
            <a:schemeClr val="bg1"/>
          </a:solidFill>
          <a:ln w="12700">
            <a:solidFill>
              <a:srgbClr val="6E625E"/>
            </a:solidFill>
            <a:prstDash val="solid"/>
          </a:ln>
        </p:spPr>
      </p:sp>
      <p:sp>
        <p:nvSpPr>
          <p:cNvPr id="48" name="Text 46"/>
          <p:cNvSpPr txBox="1"/>
          <p:nvPr/>
        </p:nvSpPr>
        <p:spPr>
          <a:xfrm>
            <a:off x="4754880" y="2697480"/>
            <a:ext cx="2286000" cy="868680"/>
          </a:xfrm>
          <a:prstGeom prst="rect">
            <a:avLst/>
          </a:prstGeom>
          <a:noFill/>
          <a:ln/>
        </p:spPr>
        <p:txBody>
          <a:bodyPr wrap="square" lIns="0" tIns="0" rIns="0" bIns="0" rtlCol="0" anchor="ctr"/>
          <a:lstStyle/>
          <a:p>
            <a:pPr algn="ctr" indent="0" marL="0">
              <a:buNone/>
            </a:pPr>
            <a:r>
              <a:rPr lang="en-US" sz="1200" b="1" dirty="0">
                <a:solidFill>
                  <a:schemeClr val="tx1"/>
                </a:solidFill>
              </a:rPr>
              <a:t>One Virley experience across stores and online is the growth idea</a:t>
            </a:r>
            <a:endParaRPr lang="en-US" sz="1200" dirty="0"/>
          </a:p>
        </p:txBody>
      </p:sp>
      <p:sp>
        <p:nvSpPr>
          <p:cNvPr id="49" name="Supporting idea 2.1"/>
          <p:cNvSpPr/>
          <p:nvPr/>
        </p:nvSpPr>
        <p:spPr>
          <a:xfrm>
            <a:off x="4663440" y="3840480"/>
            <a:ext cx="1188720" cy="914400"/>
          </a:xfrm>
          <a:prstGeom prst="rect">
            <a:avLst/>
          </a:prstGeom>
          <a:solidFill>
            <a:schemeClr val="bg1"/>
          </a:solidFill>
          <a:ln w="12700">
            <a:solidFill>
              <a:srgbClr val="6E625E"/>
            </a:solidFill>
            <a:prstDash val="solid"/>
          </a:ln>
        </p:spPr>
      </p:sp>
      <p:sp>
        <p:nvSpPr>
          <p:cNvPr id="50" name="Text 48"/>
          <p:cNvSpPr txBox="1"/>
          <p:nvPr/>
        </p:nvSpPr>
        <p:spPr>
          <a:xfrm>
            <a:off x="4727448" y="3840480"/>
            <a:ext cx="1060704" cy="914400"/>
          </a:xfrm>
          <a:prstGeom prst="rect">
            <a:avLst/>
          </a:prstGeom>
          <a:noFill/>
          <a:ln/>
        </p:spPr>
        <p:txBody>
          <a:bodyPr wrap="square" lIns="0" tIns="0" rIns="0" bIns="0" rtlCol="0" anchor="ctr"/>
          <a:lstStyle/>
          <a:p>
            <a:pPr algn="ctr" indent="0" marL="0">
              <a:buNone/>
            </a:pPr>
            <a:r>
              <a:rPr lang="en-US" sz="1100" dirty="0">
                <a:solidFill>
                  <a:schemeClr val="tx1"/>
                </a:solidFill>
              </a:rPr>
              <a:t>Know every client, serve them the same everywhere</a:t>
            </a:r>
            <a:endParaRPr lang="en-US" sz="1100" dirty="0"/>
          </a:p>
        </p:txBody>
      </p:sp>
      <p:sp>
        <p:nvSpPr>
          <p:cNvPr id="51" name="Supporting idea 2.2"/>
          <p:cNvSpPr/>
          <p:nvPr/>
        </p:nvSpPr>
        <p:spPr>
          <a:xfrm>
            <a:off x="5943600" y="3840480"/>
            <a:ext cx="1188720" cy="914400"/>
          </a:xfrm>
          <a:prstGeom prst="rect">
            <a:avLst/>
          </a:prstGeom>
          <a:solidFill>
            <a:schemeClr val="bg1"/>
          </a:solidFill>
          <a:ln w="12700">
            <a:solidFill>
              <a:srgbClr val="6E625E"/>
            </a:solidFill>
            <a:prstDash val="solid"/>
          </a:ln>
        </p:spPr>
      </p:sp>
      <p:sp>
        <p:nvSpPr>
          <p:cNvPr id="52" name="Text 50"/>
          <p:cNvSpPr txBox="1"/>
          <p:nvPr/>
        </p:nvSpPr>
        <p:spPr>
          <a:xfrm>
            <a:off x="6007608" y="3840480"/>
            <a:ext cx="1060704" cy="914400"/>
          </a:xfrm>
          <a:prstGeom prst="rect">
            <a:avLst/>
          </a:prstGeom>
          <a:noFill/>
          <a:ln/>
        </p:spPr>
        <p:txBody>
          <a:bodyPr wrap="square" lIns="0" tIns="0" rIns="0" bIns="0" rtlCol="0" anchor="ctr"/>
          <a:lstStyle/>
          <a:p>
            <a:pPr algn="ctr" indent="0" marL="0">
              <a:buNone/>
            </a:pPr>
            <a:r>
              <a:rPr lang="en-US" sz="1100" dirty="0">
                <a:solidFill>
                  <a:schemeClr val="tx1"/>
                </a:solidFill>
              </a:rPr>
              <a:t>Stores stage the experience; online extends it</a:t>
            </a:r>
            <a:endParaRPr lang="en-US" sz="1100" dirty="0"/>
          </a:p>
        </p:txBody>
      </p:sp>
      <p:sp>
        <p:nvSpPr>
          <p:cNvPr id="53" name="Facts 2"/>
          <p:cNvSpPr/>
          <p:nvPr/>
        </p:nvSpPr>
        <p:spPr>
          <a:xfrm>
            <a:off x="4663440" y="5029200"/>
            <a:ext cx="2468880" cy="868680"/>
          </a:xfrm>
          <a:prstGeom prst="rect">
            <a:avLst/>
          </a:prstGeom>
          <a:solidFill>
            <a:schemeClr val="tx2"/>
          </a:solidFill>
          <a:ln/>
        </p:spPr>
      </p:sp>
      <p:sp>
        <p:nvSpPr>
          <p:cNvPr id="54" name="Text 52"/>
          <p:cNvSpPr txBox="1"/>
          <p:nvPr/>
        </p:nvSpPr>
        <p:spPr>
          <a:xfrm>
            <a:off x="4754880" y="5029200"/>
            <a:ext cx="2286000" cy="868680"/>
          </a:xfrm>
          <a:prstGeom prst="rect">
            <a:avLst/>
          </a:prstGeom>
          <a:noFill/>
          <a:ln/>
        </p:spPr>
        <p:txBody>
          <a:bodyPr wrap="square" lIns="0" tIns="0" rIns="0" bIns="0" rtlCol="0" anchor="ctr"/>
          <a:lstStyle/>
          <a:p>
            <a:pPr algn="ctr" indent="0" marL="0">
              <a:buNone/>
            </a:pPr>
            <a:r>
              <a:rPr lang="en-US" sz="1100" dirty="0">
                <a:solidFill>
                  <a:schemeClr val="bg1"/>
                </a:solidFill>
              </a:rPr>
              <a:t>Gen Z and Millennials about 45% of luxury; omnichannel grows 9.5% vs 3.4%</a:t>
            </a:r>
            <a:endParaRPr lang="en-US" sz="1100" dirty="0"/>
          </a:p>
        </p:txBody>
      </p:sp>
      <p:sp>
        <p:nvSpPr>
          <p:cNvPr id="55" name="Main idea 3"/>
          <p:cNvSpPr/>
          <p:nvPr/>
        </p:nvSpPr>
        <p:spPr>
          <a:xfrm>
            <a:off x="7269480" y="2697480"/>
            <a:ext cx="2468880" cy="868680"/>
          </a:xfrm>
          <a:prstGeom prst="rect">
            <a:avLst/>
          </a:prstGeom>
          <a:solidFill>
            <a:schemeClr val="bg1"/>
          </a:solidFill>
          <a:ln w="12700">
            <a:solidFill>
              <a:srgbClr val="6E625E"/>
            </a:solidFill>
            <a:prstDash val="solid"/>
          </a:ln>
        </p:spPr>
      </p:sp>
      <p:sp>
        <p:nvSpPr>
          <p:cNvPr id="56" name="Text 54"/>
          <p:cNvSpPr txBox="1"/>
          <p:nvPr/>
        </p:nvSpPr>
        <p:spPr>
          <a:xfrm>
            <a:off x="7360920" y="2697480"/>
            <a:ext cx="2286000" cy="868680"/>
          </a:xfrm>
          <a:prstGeom prst="rect">
            <a:avLst/>
          </a:prstGeom>
          <a:noFill/>
          <a:ln/>
        </p:spPr>
        <p:txBody>
          <a:bodyPr wrap="square" lIns="0" tIns="0" rIns="0" bIns="0" rtlCol="0" anchor="ctr"/>
          <a:lstStyle/>
          <a:p>
            <a:pPr algn="ctr" indent="0" marL="0">
              <a:buNone/>
            </a:pPr>
            <a:r>
              <a:rPr lang="en-US" sz="1200" b="1" dirty="0">
                <a:solidFill>
                  <a:schemeClr val="tx1"/>
                </a:solidFill>
              </a:rPr>
              <a:t>A phased plan proves it within a year and scales it after</a:t>
            </a:r>
            <a:endParaRPr lang="en-US" sz="1200" dirty="0"/>
          </a:p>
        </p:txBody>
      </p:sp>
      <p:sp>
        <p:nvSpPr>
          <p:cNvPr id="57" name="Supporting idea 3.1"/>
          <p:cNvSpPr/>
          <p:nvPr/>
        </p:nvSpPr>
        <p:spPr>
          <a:xfrm>
            <a:off x="7269480" y="3840480"/>
            <a:ext cx="1188720" cy="914400"/>
          </a:xfrm>
          <a:prstGeom prst="rect">
            <a:avLst/>
          </a:prstGeom>
          <a:solidFill>
            <a:schemeClr val="bg1"/>
          </a:solidFill>
          <a:ln w="12700">
            <a:solidFill>
              <a:srgbClr val="6E625E"/>
            </a:solidFill>
            <a:prstDash val="solid"/>
          </a:ln>
        </p:spPr>
      </p:sp>
      <p:sp>
        <p:nvSpPr>
          <p:cNvPr id="58" name="Text 56"/>
          <p:cNvSpPr txBox="1"/>
          <p:nvPr/>
        </p:nvSpPr>
        <p:spPr>
          <a:xfrm>
            <a:off x="7333488" y="3840480"/>
            <a:ext cx="1060704" cy="914400"/>
          </a:xfrm>
          <a:prstGeom prst="rect">
            <a:avLst/>
          </a:prstGeom>
          <a:noFill/>
          <a:ln/>
        </p:spPr>
        <p:txBody>
          <a:bodyPr wrap="square" lIns="0" tIns="0" rIns="0" bIns="0" rtlCol="0" anchor="ctr"/>
          <a:lstStyle/>
          <a:p>
            <a:pPr algn="ctr" indent="0" marL="0">
              <a:buNone/>
            </a:pPr>
            <a:r>
              <a:rPr lang="en-US" sz="1100" dirty="0">
                <a:solidFill>
                  <a:schemeClr val="tx1"/>
                </a:solidFill>
              </a:rPr>
              <a:t>Fix foundations, then prove the model in London</a:t>
            </a:r>
            <a:endParaRPr lang="en-US" sz="1100" dirty="0"/>
          </a:p>
        </p:txBody>
      </p:sp>
      <p:sp>
        <p:nvSpPr>
          <p:cNvPr id="59" name="Supporting idea 3.2"/>
          <p:cNvSpPr/>
          <p:nvPr/>
        </p:nvSpPr>
        <p:spPr>
          <a:xfrm>
            <a:off x="8549640" y="3840480"/>
            <a:ext cx="1188720" cy="914400"/>
          </a:xfrm>
          <a:prstGeom prst="rect">
            <a:avLst/>
          </a:prstGeom>
          <a:solidFill>
            <a:schemeClr val="bg1"/>
          </a:solidFill>
          <a:ln w="12700">
            <a:solidFill>
              <a:srgbClr val="6E625E"/>
            </a:solidFill>
            <a:prstDash val="solid"/>
          </a:ln>
        </p:spPr>
      </p:sp>
      <p:sp>
        <p:nvSpPr>
          <p:cNvPr id="60" name="Text 58"/>
          <p:cNvSpPr txBox="1"/>
          <p:nvPr/>
        </p:nvSpPr>
        <p:spPr>
          <a:xfrm>
            <a:off x="8613648" y="3840480"/>
            <a:ext cx="1060704" cy="914400"/>
          </a:xfrm>
          <a:prstGeom prst="rect">
            <a:avLst/>
          </a:prstGeom>
          <a:noFill/>
          <a:ln/>
        </p:spPr>
        <p:txBody>
          <a:bodyPr wrap="square" lIns="0" tIns="0" rIns="0" bIns="0" rtlCol="0" anchor="ctr"/>
          <a:lstStyle/>
          <a:p>
            <a:pPr algn="ctr" indent="0" marL="0">
              <a:buNone/>
            </a:pPr>
            <a:r>
              <a:rPr lang="en-US" sz="1100" dirty="0">
                <a:solidFill>
                  <a:schemeClr val="tx1"/>
                </a:solidFill>
              </a:rPr>
              <a:t>Scale proven formats; time any web-only acquisition</a:t>
            </a:r>
            <a:endParaRPr lang="en-US" sz="1100" dirty="0"/>
          </a:p>
        </p:txBody>
      </p:sp>
      <p:sp>
        <p:nvSpPr>
          <p:cNvPr id="61" name="Facts 3"/>
          <p:cNvSpPr/>
          <p:nvPr/>
        </p:nvSpPr>
        <p:spPr>
          <a:xfrm>
            <a:off x="7269480" y="5029200"/>
            <a:ext cx="2468880" cy="868680"/>
          </a:xfrm>
          <a:prstGeom prst="rect">
            <a:avLst/>
          </a:prstGeom>
          <a:solidFill>
            <a:schemeClr val="tx2"/>
          </a:solidFill>
          <a:ln/>
        </p:spPr>
      </p:sp>
      <p:sp>
        <p:nvSpPr>
          <p:cNvPr id="62" name="Text 60"/>
          <p:cNvSpPr txBox="1"/>
          <p:nvPr/>
        </p:nvSpPr>
        <p:spPr>
          <a:xfrm>
            <a:off x="7360920" y="5029200"/>
            <a:ext cx="2286000" cy="868680"/>
          </a:xfrm>
          <a:prstGeom prst="rect">
            <a:avLst/>
          </a:prstGeom>
          <a:noFill/>
          <a:ln/>
        </p:spPr>
        <p:txBody>
          <a:bodyPr wrap="square" lIns="0" tIns="0" rIns="0" bIns="0" rtlCol="0" anchor="ctr"/>
          <a:lstStyle/>
          <a:p>
            <a:pPr algn="ctr" indent="0" marL="0">
              <a:buNone/>
            </a:pPr>
            <a:r>
              <a:rPr lang="en-US" sz="1100" dirty="0">
                <a:solidFill>
                  <a:schemeClr val="bg1"/>
                </a:solidFill>
              </a:rPr>
              <a:t>£2bn and 10% targets to be validated by benchmarking against peers</a:t>
            </a:r>
            <a:endParaRPr lang="en-US" sz="1100" dirty="0"/>
          </a:p>
        </p:txBody>
      </p:sp>
      <p:sp>
        <p:nvSpPr>
          <p:cNvPr id="63" name="Key features card"/>
          <p:cNvSpPr/>
          <p:nvPr/>
        </p:nvSpPr>
        <p:spPr>
          <a:xfrm>
            <a:off x="10012680" y="2606040"/>
            <a:ext cx="1691640" cy="3429000"/>
          </a:xfrm>
          <a:prstGeom prst="rect">
            <a:avLst/>
          </a:prstGeom>
          <a:solidFill>
            <a:schemeClr val="accent1"/>
          </a:solidFill>
          <a:ln/>
        </p:spPr>
      </p:sp>
      <p:sp>
        <p:nvSpPr>
          <p:cNvPr id="64" name="Text 62"/>
          <p:cNvSpPr txBox="1"/>
          <p:nvPr/>
        </p:nvSpPr>
        <p:spPr>
          <a:xfrm>
            <a:off x="10122408" y="2715768"/>
            <a:ext cx="1481328" cy="640080"/>
          </a:xfrm>
          <a:prstGeom prst="rect">
            <a:avLst/>
          </a:prstGeom>
          <a:noFill/>
          <a:ln/>
        </p:spPr>
        <p:txBody>
          <a:bodyPr wrap="square" lIns="0" tIns="0" rIns="0" bIns="0" rtlCol="0" anchor="t"/>
          <a:lstStyle/>
          <a:p>
            <a:pPr indent="0" marL="0">
              <a:buNone/>
            </a:pPr>
            <a:r>
              <a:rPr lang="en-US" sz="1300" b="1" dirty="0">
                <a:solidFill>
                  <a:schemeClr val="bg1"/>
                </a:solidFill>
              </a:rPr>
              <a:t>Key features of the storyline</a:t>
            </a:r>
            <a:endParaRPr lang="en-US" sz="1300" dirty="0"/>
          </a:p>
        </p:txBody>
      </p:sp>
      <p:sp>
        <p:nvSpPr>
          <p:cNvPr id="65" name="Text 63"/>
          <p:cNvSpPr txBox="1"/>
          <p:nvPr/>
        </p:nvSpPr>
        <p:spPr>
          <a:xfrm>
            <a:off x="10122408" y="3474720"/>
            <a:ext cx="1508760"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1"/>
                </a:solidFill>
              </a:rPr>
              <a:t>One clear core message</a:t>
            </a:r>
            <a:endParaRPr lang="en-US" sz="1200" dirty="0"/>
          </a:p>
          <a:p>
            <a:pPr marL="342900" indent="-342900">
              <a:spcAft>
                <a:spcPts val="600"/>
              </a:spcAft>
              <a:buSzPct val="100000"/>
              <a:buChar char="•"/>
            </a:pPr>
            <a:r>
              <a:rPr lang="en-US" sz="1200" dirty="0">
                <a:solidFill>
                  <a:schemeClr val="bg1"/>
                </a:solidFill>
              </a:rPr>
              <a:t>Ideas grouped logically</a:t>
            </a:r>
            <a:endParaRPr lang="en-US" sz="1200" dirty="0"/>
          </a:p>
          <a:p>
            <a:pPr marL="342900" indent="-342900">
              <a:spcAft>
                <a:spcPts val="600"/>
              </a:spcAft>
              <a:buSzPct val="100000"/>
              <a:buChar char="•"/>
            </a:pPr>
            <a:r>
              <a:rPr lang="en-US" sz="1200" dirty="0">
                <a:solidFill>
                  <a:schemeClr val="bg1"/>
                </a:solidFill>
              </a:rPr>
              <a:t>Each level sums up the one below</a:t>
            </a:r>
            <a:endParaRPr lang="en-US" sz="1200" dirty="0"/>
          </a:p>
          <a:p>
            <a:pPr marL="342900" indent="-342900">
              <a:spcAft>
                <a:spcPts val="600"/>
              </a:spcAft>
              <a:buSzPct val="100000"/>
              <a:buChar char="•"/>
            </a:pPr>
            <a:r>
              <a:rPr lang="en-US" sz="1200" dirty="0">
                <a:solidFill>
                  <a:schemeClr val="bg1"/>
                </a:solidFill>
              </a:rPr>
              <a:t>Same type of logic at each level</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Growth has stalled while the owners want more</a:t>
            </a:r>
            <a:endParaRPr lang="en-US" sz="3000" dirty="0"/>
          </a:p>
        </p:txBody>
      </p:sp>
      <p:sp>
        <p:nvSpPr>
          <p:cNvPr id="3" name="Stat card 1"/>
          <p:cNvSpPr/>
          <p:nvPr/>
        </p:nvSpPr>
        <p:spPr>
          <a:xfrm>
            <a:off x="548640" y="1554480"/>
            <a:ext cx="2606040" cy="1920240"/>
          </a:xfrm>
          <a:prstGeom prst="rect">
            <a:avLst/>
          </a:prstGeom>
          <a:solidFill>
            <a:schemeClr val="bg2"/>
          </a:solidFill>
          <a:ln/>
        </p:spPr>
      </p:sp>
      <p:sp>
        <p:nvSpPr>
          <p:cNvPr id="4" name="Shape 2"/>
          <p:cNvSpPr/>
          <p:nvPr/>
        </p:nvSpPr>
        <p:spPr>
          <a:xfrm>
            <a:off x="731520" y="1719072"/>
            <a:ext cx="457200" cy="457200"/>
          </a:xfrm>
          <a:prstGeom prst="ellipse">
            <a:avLst/>
          </a:prstGeom>
          <a:solidFill>
            <a:srgbClr val="D52B1E"/>
          </a:solidFill>
          <a:ln/>
        </p:spPr>
      </p:sp>
      <p:pic>
        <p:nvPicPr>
          <p:cNvPr id="5" name="Image 0" descr="icon">    </p:cNvPr>
          <p:cNvPicPr>
            <a:picLocks noChangeAspect="1"/>
          </p:cNvPicPr>
          <p:nvPr/>
        </p:nvPicPr>
        <p:blipFill>
          <a:blip r:embed="rId1"/>
          <a:stretch>
            <a:fillRect/>
          </a:stretch>
        </p:blipFill>
        <p:spPr>
          <a:xfrm>
            <a:off x="845820" y="1833372"/>
            <a:ext cx="228600" cy="228600"/>
          </a:xfrm>
          <a:prstGeom prst="rect">
            <a:avLst/>
          </a:prstGeom>
        </p:spPr>
      </p:pic>
      <p:sp>
        <p:nvSpPr>
          <p:cNvPr id="6" name="Text 3"/>
          <p:cNvSpPr txBox="1"/>
          <p:nvPr/>
        </p:nvSpPr>
        <p:spPr>
          <a:xfrm>
            <a:off x="1325880" y="1691640"/>
            <a:ext cx="1737360" cy="5486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£2bn</a:t>
            </a:r>
            <a:endParaRPr lang="en-US" sz="3200" dirty="0"/>
          </a:p>
        </p:txBody>
      </p:sp>
      <p:sp>
        <p:nvSpPr>
          <p:cNvPr id="7" name="Text 4"/>
          <p:cNvSpPr txBox="1"/>
          <p:nvPr/>
        </p:nvSpPr>
        <p:spPr>
          <a:xfrm>
            <a:off x="73152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Owners' revenue ambition within five years</a:t>
            </a:r>
            <a:endParaRPr lang="en-US" sz="1300" dirty="0"/>
          </a:p>
        </p:txBody>
      </p:sp>
      <p:sp>
        <p:nvSpPr>
          <p:cNvPr id="8" name="Stat card 2"/>
          <p:cNvSpPr/>
          <p:nvPr/>
        </p:nvSpPr>
        <p:spPr>
          <a:xfrm>
            <a:off x="3337560" y="1554480"/>
            <a:ext cx="2606040" cy="1920240"/>
          </a:xfrm>
          <a:prstGeom prst="rect">
            <a:avLst/>
          </a:prstGeom>
          <a:solidFill>
            <a:schemeClr val="bg2"/>
          </a:solidFill>
          <a:ln/>
        </p:spPr>
      </p:sp>
      <p:sp>
        <p:nvSpPr>
          <p:cNvPr id="9" name="Shape 6"/>
          <p:cNvSpPr/>
          <p:nvPr/>
        </p:nvSpPr>
        <p:spPr>
          <a:xfrm>
            <a:off x="3520440" y="1719072"/>
            <a:ext cx="457200" cy="457200"/>
          </a:xfrm>
          <a:prstGeom prst="ellipse">
            <a:avLst/>
          </a:prstGeom>
          <a:solidFill>
            <a:srgbClr val="D52B1E"/>
          </a:solidFill>
          <a:ln/>
        </p:spPr>
      </p:sp>
      <p:pic>
        <p:nvPicPr>
          <p:cNvPr id="10" name="Image 1" descr="icon">    </p:cNvPr>
          <p:cNvPicPr>
            <a:picLocks noChangeAspect="1"/>
          </p:cNvPicPr>
          <p:nvPr/>
        </p:nvPicPr>
        <p:blipFill>
          <a:blip r:embed="rId2"/>
          <a:stretch>
            <a:fillRect/>
          </a:stretch>
        </p:blipFill>
        <p:spPr>
          <a:xfrm>
            <a:off x="3634740" y="1833372"/>
            <a:ext cx="228600" cy="228600"/>
          </a:xfrm>
          <a:prstGeom prst="rect">
            <a:avLst/>
          </a:prstGeom>
        </p:spPr>
      </p:pic>
      <p:sp>
        <p:nvSpPr>
          <p:cNvPr id="11" name="Text 7"/>
          <p:cNvSpPr txBox="1"/>
          <p:nvPr/>
        </p:nvSpPr>
        <p:spPr>
          <a:xfrm>
            <a:off x="4114800" y="1691640"/>
            <a:ext cx="1737360" cy="5486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10%</a:t>
            </a:r>
            <a:endParaRPr lang="en-US" sz="3200" dirty="0"/>
          </a:p>
        </p:txBody>
      </p:sp>
      <p:sp>
        <p:nvSpPr>
          <p:cNvPr id="12" name="Text 8"/>
          <p:cNvSpPr txBox="1"/>
          <p:nvPr/>
        </p:nvSpPr>
        <p:spPr>
          <a:xfrm>
            <a:off x="352044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Operating margin the owners want, as soon as possible</a:t>
            </a:r>
            <a:endParaRPr lang="en-US" sz="1300" dirty="0"/>
          </a:p>
        </p:txBody>
      </p:sp>
      <p:sp>
        <p:nvSpPr>
          <p:cNvPr id="13" name="Stat card 3"/>
          <p:cNvSpPr/>
          <p:nvPr/>
        </p:nvSpPr>
        <p:spPr>
          <a:xfrm>
            <a:off x="6126480" y="1554480"/>
            <a:ext cx="2606040" cy="1920240"/>
          </a:xfrm>
          <a:prstGeom prst="rect">
            <a:avLst/>
          </a:prstGeom>
          <a:solidFill>
            <a:schemeClr val="bg2"/>
          </a:solidFill>
          <a:ln/>
        </p:spPr>
      </p:sp>
      <p:sp>
        <p:nvSpPr>
          <p:cNvPr id="14" name="Shape 10"/>
          <p:cNvSpPr/>
          <p:nvPr/>
        </p:nvSpPr>
        <p:spPr>
          <a:xfrm>
            <a:off x="6309360" y="1719072"/>
            <a:ext cx="457200" cy="457200"/>
          </a:xfrm>
          <a:prstGeom prst="ellipse">
            <a:avLst/>
          </a:prstGeom>
          <a:solidFill>
            <a:srgbClr val="D52B1E"/>
          </a:solidFill>
          <a:ln/>
        </p:spPr>
      </p:sp>
      <p:pic>
        <p:nvPicPr>
          <p:cNvPr id="15" name="Image 2" descr="icon">    </p:cNvPr>
          <p:cNvPicPr>
            <a:picLocks noChangeAspect="1"/>
          </p:cNvPicPr>
          <p:nvPr/>
        </p:nvPicPr>
        <p:blipFill>
          <a:blip r:embed="rId3"/>
          <a:stretch>
            <a:fillRect/>
          </a:stretch>
        </p:blipFill>
        <p:spPr>
          <a:xfrm>
            <a:off x="6423660" y="1833372"/>
            <a:ext cx="228600" cy="228600"/>
          </a:xfrm>
          <a:prstGeom prst="rect">
            <a:avLst/>
          </a:prstGeom>
        </p:spPr>
      </p:pic>
      <p:sp>
        <p:nvSpPr>
          <p:cNvPr id="16" name="Text 11"/>
          <p:cNvSpPr txBox="1"/>
          <p:nvPr/>
        </p:nvSpPr>
        <p:spPr>
          <a:xfrm>
            <a:off x="6903720" y="1691640"/>
            <a:ext cx="1737360" cy="5486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1 year</a:t>
            </a:r>
            <a:endParaRPr lang="en-US" sz="3200" dirty="0"/>
          </a:p>
        </p:txBody>
      </p:sp>
      <p:sp>
        <p:nvSpPr>
          <p:cNvPr id="17" name="Text 12"/>
          <p:cNvSpPr txBox="1"/>
          <p:nvPr/>
        </p:nvSpPr>
        <p:spPr>
          <a:xfrm>
            <a:off x="630936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Time in which Jack wants changes implemented</a:t>
            </a:r>
            <a:endParaRPr lang="en-US" sz="1300" dirty="0"/>
          </a:p>
        </p:txBody>
      </p:sp>
      <p:sp>
        <p:nvSpPr>
          <p:cNvPr id="18" name="Stat card 4"/>
          <p:cNvSpPr/>
          <p:nvPr/>
        </p:nvSpPr>
        <p:spPr>
          <a:xfrm>
            <a:off x="8915400" y="1554480"/>
            <a:ext cx="2606040" cy="1920240"/>
          </a:xfrm>
          <a:prstGeom prst="rect">
            <a:avLst/>
          </a:prstGeom>
          <a:solidFill>
            <a:schemeClr val="bg2"/>
          </a:solidFill>
          <a:ln/>
        </p:spPr>
      </p:sp>
      <p:sp>
        <p:nvSpPr>
          <p:cNvPr id="19" name="Shape 14"/>
          <p:cNvSpPr/>
          <p:nvPr/>
        </p:nvSpPr>
        <p:spPr>
          <a:xfrm>
            <a:off x="9098280" y="1719072"/>
            <a:ext cx="457200" cy="457200"/>
          </a:xfrm>
          <a:prstGeom prst="ellipse">
            <a:avLst/>
          </a:prstGeom>
          <a:solidFill>
            <a:srgbClr val="D52B1E"/>
          </a:solidFill>
          <a:ln/>
        </p:spPr>
      </p:sp>
      <p:pic>
        <p:nvPicPr>
          <p:cNvPr id="20" name="Image 3" descr="icon">    </p:cNvPr>
          <p:cNvPicPr>
            <a:picLocks noChangeAspect="1"/>
          </p:cNvPicPr>
          <p:nvPr/>
        </p:nvPicPr>
        <p:blipFill>
          <a:blip r:embed="rId4"/>
          <a:stretch>
            <a:fillRect/>
          </a:stretch>
        </p:blipFill>
        <p:spPr>
          <a:xfrm>
            <a:off x="9212580" y="1833372"/>
            <a:ext cx="228600" cy="228600"/>
          </a:xfrm>
          <a:prstGeom prst="rect">
            <a:avLst/>
          </a:prstGeom>
        </p:spPr>
      </p:pic>
      <p:sp>
        <p:nvSpPr>
          <p:cNvPr id="21" name="Text 15"/>
          <p:cNvSpPr txBox="1"/>
          <p:nvPr/>
        </p:nvSpPr>
        <p:spPr>
          <a:xfrm>
            <a:off x="9692640" y="1691640"/>
            <a:ext cx="1737360" cy="5486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4 + 1</a:t>
            </a:r>
            <a:endParaRPr lang="en-US" sz="3200" dirty="0"/>
          </a:p>
        </p:txBody>
      </p:sp>
      <p:sp>
        <p:nvSpPr>
          <p:cNvPr id="22" name="Text 16"/>
          <p:cNvSpPr txBox="1"/>
          <p:nvPr/>
        </p:nvSpPr>
        <p:spPr>
          <a:xfrm>
            <a:off x="909828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Four stores (London, Birmingham, Edinburgh, Orlando) plus online</a:t>
            </a:r>
            <a:endParaRPr lang="en-US" sz="1300" dirty="0"/>
          </a:p>
        </p:txBody>
      </p:sp>
      <p:sp>
        <p:nvSpPr>
          <p:cNvPr id="23" name="Panel 1"/>
          <p:cNvSpPr/>
          <p:nvPr/>
        </p:nvSpPr>
        <p:spPr>
          <a:xfrm>
            <a:off x="548640" y="3749040"/>
            <a:ext cx="5394960" cy="2377440"/>
          </a:xfrm>
          <a:prstGeom prst="rect">
            <a:avLst/>
          </a:prstGeom>
          <a:solidFill>
            <a:schemeClr val="bg1"/>
          </a:solidFill>
          <a:ln w="12700">
            <a:solidFill>
              <a:srgbClr val="D9D4CC"/>
            </a:solidFill>
            <a:prstDash val="solid"/>
          </a:ln>
        </p:spPr>
      </p:sp>
      <p:sp>
        <p:nvSpPr>
          <p:cNvPr id="24" name="Panel header 1"/>
          <p:cNvSpPr/>
          <p:nvPr/>
        </p:nvSpPr>
        <p:spPr>
          <a:xfrm>
            <a:off x="548640" y="3749040"/>
            <a:ext cx="5394960" cy="411480"/>
          </a:xfrm>
          <a:prstGeom prst="rect">
            <a:avLst/>
          </a:prstGeom>
          <a:solidFill>
            <a:schemeClr val="accent1"/>
          </a:solidFill>
          <a:ln/>
        </p:spPr>
      </p:sp>
      <p:sp>
        <p:nvSpPr>
          <p:cNvPr id="25" name="Text 19"/>
          <p:cNvSpPr txBox="1"/>
          <p:nvPr/>
        </p:nvSpPr>
        <p:spPr>
          <a:xfrm>
            <a:off x="731520" y="3749040"/>
            <a:ext cx="5029200" cy="411480"/>
          </a:xfrm>
          <a:prstGeom prst="rect">
            <a:avLst/>
          </a:prstGeom>
          <a:noFill/>
          <a:ln/>
        </p:spPr>
        <p:txBody>
          <a:bodyPr wrap="square" lIns="0" tIns="0" rIns="0" bIns="0" rtlCol="0" anchor="ctr"/>
          <a:lstStyle/>
          <a:p>
            <a:pPr indent="0" marL="0">
              <a:buNone/>
            </a:pPr>
            <a:r>
              <a:rPr lang="en-US" sz="1400" b="1" dirty="0">
                <a:solidFill>
                  <a:schemeClr val="bg1"/>
                </a:solidFill>
              </a:rPr>
              <a:t>What is not working</a:t>
            </a:r>
            <a:endParaRPr lang="en-US" sz="1400" dirty="0"/>
          </a:p>
        </p:txBody>
      </p:sp>
      <p:sp>
        <p:nvSpPr>
          <p:cNvPr id="26" name="Text 20"/>
          <p:cNvSpPr txBox="1"/>
          <p:nvPr/>
        </p:nvSpPr>
        <p:spPr>
          <a:xfrm>
            <a:off x="731520" y="4343400"/>
            <a:ext cx="50292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Revenue growth is below market average and slowing</a:t>
            </a:r>
            <a:endParaRPr lang="en-US" sz="1400" dirty="0"/>
          </a:p>
          <a:p>
            <a:pPr marL="342900" indent="-342900">
              <a:spcAft>
                <a:spcPts val="600"/>
              </a:spcAft>
              <a:buSzPct val="100000"/>
              <a:buChar char="•"/>
            </a:pPr>
            <a:r>
              <a:rPr lang="en-US" sz="1400" dirty="0">
                <a:solidFill>
                  <a:schemeClr val="tx1"/>
                </a:solidFill>
              </a:rPr>
              <a:t>Margins are in decline; profits fell over the past year</a:t>
            </a:r>
            <a:endParaRPr lang="en-US" sz="1400" dirty="0"/>
          </a:p>
          <a:p>
            <a:pPr marL="342900" indent="-342900">
              <a:spcAft>
                <a:spcPts val="600"/>
              </a:spcAft>
              <a:buSzPct val="100000"/>
              <a:buChar char="•"/>
            </a:pPr>
            <a:r>
              <a:rPr lang="en-US" sz="1400" dirty="0">
                <a:solidFill>
                  <a:schemeClr val="tx1"/>
                </a:solidFill>
              </a:rPr>
              <a:t>Online, Edinburgh and Orlando trail expectations</a:t>
            </a:r>
            <a:endParaRPr lang="en-US" sz="1400" dirty="0"/>
          </a:p>
        </p:txBody>
      </p:sp>
      <p:sp>
        <p:nvSpPr>
          <p:cNvPr id="27" name="Panel 2"/>
          <p:cNvSpPr/>
          <p:nvPr/>
        </p:nvSpPr>
        <p:spPr>
          <a:xfrm>
            <a:off x="6217920" y="3749040"/>
            <a:ext cx="5394960" cy="2377440"/>
          </a:xfrm>
          <a:prstGeom prst="rect">
            <a:avLst/>
          </a:prstGeom>
          <a:solidFill>
            <a:schemeClr val="bg1"/>
          </a:solidFill>
          <a:ln w="12700">
            <a:solidFill>
              <a:srgbClr val="D9D4CC"/>
            </a:solidFill>
            <a:prstDash val="solid"/>
          </a:ln>
        </p:spPr>
      </p:sp>
      <p:sp>
        <p:nvSpPr>
          <p:cNvPr id="28" name="Panel header 2"/>
          <p:cNvSpPr/>
          <p:nvPr/>
        </p:nvSpPr>
        <p:spPr>
          <a:xfrm>
            <a:off x="6217920" y="3749040"/>
            <a:ext cx="5394960" cy="411480"/>
          </a:xfrm>
          <a:prstGeom prst="rect">
            <a:avLst/>
          </a:prstGeom>
          <a:solidFill>
            <a:schemeClr val="accent1"/>
          </a:solidFill>
          <a:ln/>
        </p:spPr>
      </p:sp>
      <p:sp>
        <p:nvSpPr>
          <p:cNvPr id="29" name="Text 23"/>
          <p:cNvSpPr txBox="1"/>
          <p:nvPr/>
        </p:nvSpPr>
        <p:spPr>
          <a:xfrm>
            <a:off x="6400800" y="3749040"/>
            <a:ext cx="5029200" cy="411480"/>
          </a:xfrm>
          <a:prstGeom prst="rect">
            <a:avLst/>
          </a:prstGeom>
          <a:noFill/>
          <a:ln/>
        </p:spPr>
        <p:txBody>
          <a:bodyPr wrap="square" lIns="0" tIns="0" rIns="0" bIns="0" rtlCol="0" anchor="ctr"/>
          <a:lstStyle/>
          <a:p>
            <a:pPr indent="0" marL="0">
              <a:buNone/>
            </a:pPr>
            <a:r>
              <a:rPr lang="en-US" sz="1400" b="1" dirty="0">
                <a:solidFill>
                  <a:schemeClr val="bg1"/>
                </a:solidFill>
              </a:rPr>
              <a:t>What we are working with</a:t>
            </a:r>
            <a:endParaRPr lang="en-US" sz="1400" dirty="0"/>
          </a:p>
        </p:txBody>
      </p:sp>
      <p:sp>
        <p:nvSpPr>
          <p:cNvPr id="30" name="Text 24"/>
          <p:cNvSpPr txBox="1"/>
          <p:nvPr/>
        </p:nvSpPr>
        <p:spPr>
          <a:xfrm>
            <a:off x="6400800" y="4343400"/>
            <a:ext cx="50292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New owners are open to investment and expect a growth plan</a:t>
            </a:r>
            <a:endParaRPr lang="en-US" sz="1400" dirty="0"/>
          </a:p>
          <a:p>
            <a:pPr marL="342900" indent="-342900">
              <a:spcAft>
                <a:spcPts val="600"/>
              </a:spcAft>
              <a:buSzPct val="100000"/>
              <a:buChar char="•"/>
            </a:pPr>
            <a:r>
              <a:rPr lang="en-US" sz="1400" dirty="0">
                <a:solidFill>
                  <a:schemeClr val="tx1"/>
                </a:solidFill>
              </a:rPr>
              <a:t>Jack leans to online; Ashley to in-store technology</a:t>
            </a:r>
            <a:endParaRPr lang="en-US" sz="1400" dirty="0"/>
          </a:p>
          <a:p>
            <a:pPr marL="342900" indent="-342900">
              <a:spcAft>
                <a:spcPts val="600"/>
              </a:spcAft>
              <a:buSzPct val="100000"/>
              <a:buChar char="•"/>
            </a:pPr>
            <a:r>
              <a:rPr lang="en-US" sz="1400" dirty="0">
                <a:solidFill>
                  <a:schemeClr val="tx1"/>
                </a:solidFill>
              </a:rPr>
              <a:t>Board relationships are tense and strategy is contested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The market rewards luxury brands that join up stores and online</a:t>
            </a:r>
            <a:endParaRPr lang="en-US" sz="3000" dirty="0"/>
          </a:p>
        </p:txBody>
      </p:sp>
      <p:graphicFrame>
        <p:nvGraphicFramePr>
          <p:cNvPr id="3" name="Chart 0" descr=""/>
          <p:cNvGraphicFramePr/>
          <p:nvPr/>
        </p:nvGraphicFramePr>
        <p:xfrm>
          <a:off x="548640" y="1554480"/>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257800"/>
            <a:ext cx="5486400" cy="274320"/>
          </a:xfrm>
          <a:prstGeom prst="rect">
            <a:avLst/>
          </a:prstGeom>
          <a:noFill/>
          <a:ln/>
        </p:spPr>
        <p:txBody>
          <a:bodyPr wrap="square" lIns="0" tIns="0" rIns="0" bIns="0" rtlCol="0" anchor="t"/>
          <a:lstStyle/>
          <a:p>
            <a:pPr indent="0" marL="0">
              <a:buNone/>
            </a:pPr>
            <a:r>
              <a:rPr lang="en-US" sz="1000" dirty="0">
                <a:solidFill>
                  <a:schemeClr val="tx2"/>
                </a:solidFill>
              </a:rPr>
              <a:t>Source: HUB Institute 2024, cited by Cegid</a:t>
            </a:r>
            <a:endParaRPr lang="en-US" sz="1000" dirty="0"/>
          </a:p>
        </p:txBody>
      </p:sp>
      <p:sp>
        <p:nvSpPr>
          <p:cNvPr id="5" name="Gen Z card"/>
          <p:cNvSpPr/>
          <p:nvPr/>
        </p:nvSpPr>
        <p:spPr>
          <a:xfrm>
            <a:off x="6400800" y="1554480"/>
            <a:ext cx="5212080" cy="1097280"/>
          </a:xfrm>
          <a:prstGeom prst="rect">
            <a:avLst/>
          </a:prstGeom>
          <a:solidFill>
            <a:schemeClr val="bg2"/>
          </a:solidFill>
          <a:ln/>
        </p:spPr>
      </p:sp>
      <p:sp>
        <p:nvSpPr>
          <p:cNvPr id="6" name="Text 3"/>
          <p:cNvSpPr txBox="1"/>
          <p:nvPr/>
        </p:nvSpPr>
        <p:spPr>
          <a:xfrm>
            <a:off x="6583680" y="1645920"/>
            <a:ext cx="2286000" cy="91440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About 45%</a:t>
            </a:r>
            <a:endParaRPr lang="en-US" sz="2800" dirty="0"/>
          </a:p>
        </p:txBody>
      </p:sp>
      <p:sp>
        <p:nvSpPr>
          <p:cNvPr id="7" name="Text 4"/>
          <p:cNvSpPr txBox="1"/>
          <p:nvPr/>
        </p:nvSpPr>
        <p:spPr>
          <a:xfrm>
            <a:off x="8778240" y="1645920"/>
            <a:ext cx="2743200" cy="914400"/>
          </a:xfrm>
          <a:prstGeom prst="rect">
            <a:avLst/>
          </a:prstGeom>
          <a:noFill/>
          <a:ln/>
        </p:spPr>
        <p:txBody>
          <a:bodyPr wrap="square" lIns="0" tIns="0" rIns="0" bIns="0" rtlCol="0" anchor="ctr"/>
          <a:lstStyle/>
          <a:p>
            <a:pPr indent="0" marL="0">
              <a:buNone/>
            </a:pPr>
            <a:r>
              <a:rPr lang="en-US" sz="1200" dirty="0">
                <a:solidFill>
                  <a:schemeClr val="tx1"/>
                </a:solidFill>
              </a:rPr>
              <a:t>of the luxury market is held by Millennials and Gen Z by end of 2025 (Clarkston, 2026)</a:t>
            </a:r>
            <a:endParaRPr lang="en-US" sz="1200" dirty="0"/>
          </a:p>
        </p:txBody>
      </p:sp>
      <p:sp>
        <p:nvSpPr>
          <p:cNvPr id="8" name="Conversion card"/>
          <p:cNvSpPr/>
          <p:nvPr/>
        </p:nvSpPr>
        <p:spPr>
          <a:xfrm>
            <a:off x="6400800" y="2834640"/>
            <a:ext cx="5212080" cy="2377440"/>
          </a:xfrm>
          <a:prstGeom prst="rect">
            <a:avLst/>
          </a:prstGeom>
          <a:solidFill>
            <a:schemeClr val="bg2"/>
          </a:solidFill>
          <a:ln/>
        </p:spPr>
      </p:sp>
      <p:sp>
        <p:nvSpPr>
          <p:cNvPr id="9" name="Text 6"/>
          <p:cNvSpPr txBox="1"/>
          <p:nvPr/>
        </p:nvSpPr>
        <p:spPr>
          <a:xfrm>
            <a:off x="6583680" y="2926080"/>
            <a:ext cx="4846320" cy="274320"/>
          </a:xfrm>
          <a:prstGeom prst="rect">
            <a:avLst/>
          </a:prstGeom>
          <a:noFill/>
          <a:ln/>
        </p:spPr>
        <p:txBody>
          <a:bodyPr wrap="square" lIns="0" tIns="0" rIns="0" bIns="0" rtlCol="0" anchor="t"/>
          <a:lstStyle/>
          <a:p>
            <a:pPr indent="0" marL="0">
              <a:buNone/>
            </a:pPr>
            <a:r>
              <a:rPr lang="en-US" sz="1300" b="1" dirty="0">
                <a:solidFill>
                  <a:schemeClr val="tx1"/>
                </a:solidFill>
              </a:rPr>
              <a:t>Typical conversion in fashion retail (%)</a:t>
            </a:r>
            <a:endParaRPr lang="en-US" sz="1300" dirty="0"/>
          </a:p>
        </p:txBody>
      </p:sp>
      <p:sp>
        <p:nvSpPr>
          <p:cNvPr id="10" name="Text 7"/>
          <p:cNvSpPr txBox="1"/>
          <p:nvPr/>
        </p:nvSpPr>
        <p:spPr>
          <a:xfrm>
            <a:off x="6583680" y="3383280"/>
            <a:ext cx="1463040" cy="365760"/>
          </a:xfrm>
          <a:prstGeom prst="rect">
            <a:avLst/>
          </a:prstGeom>
          <a:noFill/>
          <a:ln/>
        </p:spPr>
        <p:txBody>
          <a:bodyPr wrap="square" lIns="0" tIns="0" rIns="0" bIns="0" rtlCol="0" anchor="ctr"/>
          <a:lstStyle/>
          <a:p>
            <a:pPr indent="0" marL="0">
              <a:buNone/>
            </a:pPr>
            <a:r>
              <a:rPr lang="en-US" sz="1200" dirty="0">
                <a:solidFill>
                  <a:schemeClr val="tx1"/>
                </a:solidFill>
              </a:rPr>
              <a:t>Physical stores</a:t>
            </a:r>
            <a:endParaRPr lang="en-US" sz="1200" dirty="0"/>
          </a:p>
        </p:txBody>
      </p:sp>
      <p:sp>
        <p:nvSpPr>
          <p:cNvPr id="11" name="Store bar low"/>
          <p:cNvSpPr/>
          <p:nvPr/>
        </p:nvSpPr>
        <p:spPr>
          <a:xfrm>
            <a:off x="8138160" y="3401568"/>
            <a:ext cx="1828800" cy="329184"/>
          </a:xfrm>
          <a:prstGeom prst="rect">
            <a:avLst/>
          </a:prstGeom>
          <a:solidFill>
            <a:schemeClr val="accent1"/>
          </a:solidFill>
          <a:ln/>
        </p:spPr>
      </p:sp>
      <p:sp>
        <p:nvSpPr>
          <p:cNvPr id="12" name="Store bar range"/>
          <p:cNvSpPr/>
          <p:nvPr/>
        </p:nvSpPr>
        <p:spPr>
          <a:xfrm>
            <a:off x="9966960" y="3401568"/>
            <a:ext cx="914400" cy="329184"/>
          </a:xfrm>
          <a:prstGeom prst="rect">
            <a:avLst/>
          </a:prstGeom>
          <a:solidFill>
            <a:schemeClr val="accent4"/>
          </a:solidFill>
          <a:ln/>
        </p:spPr>
      </p:sp>
      <p:sp>
        <p:nvSpPr>
          <p:cNvPr id="13" name="Text 10"/>
          <p:cNvSpPr txBox="1"/>
          <p:nvPr/>
        </p:nvSpPr>
        <p:spPr>
          <a:xfrm>
            <a:off x="10972800" y="3383280"/>
            <a:ext cx="594360" cy="365760"/>
          </a:xfrm>
          <a:prstGeom prst="rect">
            <a:avLst/>
          </a:prstGeom>
          <a:noFill/>
          <a:ln/>
        </p:spPr>
        <p:txBody>
          <a:bodyPr wrap="square" lIns="0" tIns="0" rIns="0" bIns="0" rtlCol="0" anchor="ctr"/>
          <a:lstStyle/>
          <a:p>
            <a:pPr indent="0" marL="0">
              <a:buNone/>
            </a:pPr>
            <a:r>
              <a:rPr lang="en-US" sz="1200" b="1" dirty="0">
                <a:solidFill>
                  <a:schemeClr val="tx1"/>
                </a:solidFill>
              </a:rPr>
              <a:t>20–40</a:t>
            </a:r>
            <a:endParaRPr lang="en-US" sz="1200" dirty="0"/>
          </a:p>
        </p:txBody>
      </p:sp>
      <p:sp>
        <p:nvSpPr>
          <p:cNvPr id="14" name="Text 11"/>
          <p:cNvSpPr txBox="1"/>
          <p:nvPr/>
        </p:nvSpPr>
        <p:spPr>
          <a:xfrm>
            <a:off x="6583680" y="3977640"/>
            <a:ext cx="1463040" cy="365760"/>
          </a:xfrm>
          <a:prstGeom prst="rect">
            <a:avLst/>
          </a:prstGeom>
          <a:noFill/>
          <a:ln/>
        </p:spPr>
        <p:txBody>
          <a:bodyPr wrap="square" lIns="0" tIns="0" rIns="0" bIns="0" rtlCol="0" anchor="ctr"/>
          <a:lstStyle/>
          <a:p>
            <a:pPr indent="0" marL="0">
              <a:buNone/>
            </a:pPr>
            <a:r>
              <a:rPr lang="en-US" sz="1200" dirty="0">
                <a:solidFill>
                  <a:schemeClr val="tx1"/>
                </a:solidFill>
              </a:rPr>
              <a:t>Online</a:t>
            </a:r>
            <a:endParaRPr lang="en-US" sz="1200" dirty="0"/>
          </a:p>
        </p:txBody>
      </p:sp>
      <p:sp>
        <p:nvSpPr>
          <p:cNvPr id="15" name="Online bar low"/>
          <p:cNvSpPr/>
          <p:nvPr/>
        </p:nvSpPr>
        <p:spPr>
          <a:xfrm>
            <a:off x="8138160" y="3995928"/>
            <a:ext cx="91440" cy="329184"/>
          </a:xfrm>
          <a:prstGeom prst="rect">
            <a:avLst/>
          </a:prstGeom>
          <a:solidFill>
            <a:schemeClr val="tx2"/>
          </a:solidFill>
          <a:ln/>
        </p:spPr>
      </p:sp>
      <p:sp>
        <p:nvSpPr>
          <p:cNvPr id="16" name="Online bar range"/>
          <p:cNvSpPr/>
          <p:nvPr/>
        </p:nvSpPr>
        <p:spPr>
          <a:xfrm>
            <a:off x="8229600" y="3995928"/>
            <a:ext cx="182880" cy="329184"/>
          </a:xfrm>
          <a:prstGeom prst="rect">
            <a:avLst/>
          </a:prstGeom>
          <a:solidFill>
            <a:schemeClr val="accent5"/>
          </a:solidFill>
          <a:ln/>
        </p:spPr>
      </p:sp>
      <p:sp>
        <p:nvSpPr>
          <p:cNvPr id="17" name="Text 14"/>
          <p:cNvSpPr txBox="1"/>
          <p:nvPr/>
        </p:nvSpPr>
        <p:spPr>
          <a:xfrm>
            <a:off x="8503920" y="3977640"/>
            <a:ext cx="594360" cy="365760"/>
          </a:xfrm>
          <a:prstGeom prst="rect">
            <a:avLst/>
          </a:prstGeom>
          <a:noFill/>
          <a:ln/>
        </p:spPr>
        <p:txBody>
          <a:bodyPr wrap="square" lIns="0" tIns="0" rIns="0" bIns="0" rtlCol="0" anchor="ctr"/>
          <a:lstStyle/>
          <a:p>
            <a:pPr indent="0" marL="0">
              <a:buNone/>
            </a:pPr>
            <a:r>
              <a:rPr lang="en-US" sz="1200" b="1" dirty="0">
                <a:solidFill>
                  <a:schemeClr val="tx1"/>
                </a:solidFill>
              </a:rPr>
              <a:t>1–3</a:t>
            </a:r>
            <a:endParaRPr lang="en-US" sz="1200" dirty="0"/>
          </a:p>
        </p:txBody>
      </p:sp>
      <p:sp>
        <p:nvSpPr>
          <p:cNvPr id="18" name="Text 15"/>
          <p:cNvSpPr txBox="1"/>
          <p:nvPr/>
        </p:nvSpPr>
        <p:spPr>
          <a:xfrm>
            <a:off x="6583680" y="4572000"/>
            <a:ext cx="4846320" cy="502920"/>
          </a:xfrm>
          <a:prstGeom prst="rect">
            <a:avLst/>
          </a:prstGeom>
          <a:noFill/>
          <a:ln/>
        </p:spPr>
        <p:txBody>
          <a:bodyPr wrap="square" lIns="0" tIns="0" rIns="0" bIns="0" rtlCol="0" anchor="t"/>
          <a:lstStyle/>
          <a:p>
            <a:pPr indent="0" marL="0">
              <a:buNone/>
            </a:pPr>
            <a:r>
              <a:rPr lang="en-US" sz="1000" dirty="0">
                <a:solidFill>
                  <a:schemeClr val="tx2"/>
                </a:solidFill>
              </a:rPr>
              <a:t>Source: ContactPigeon fashion retailer study. Bars use the range low and high ends.</a:t>
            </a:r>
            <a:endParaRPr lang="en-US" sz="1000" dirty="0"/>
          </a:p>
        </p:txBody>
      </p:sp>
      <p:sp>
        <p:nvSpPr>
          <p:cNvPr id="19" name="So what"/>
          <p:cNvSpPr/>
          <p:nvPr/>
        </p:nvSpPr>
        <p:spPr>
          <a:xfrm>
            <a:off x="548640" y="5486400"/>
            <a:ext cx="11064240" cy="777240"/>
          </a:xfrm>
          <a:prstGeom prst="rect">
            <a:avLst/>
          </a:prstGeom>
          <a:solidFill>
            <a:schemeClr val="tx1"/>
          </a:solidFill>
          <a:ln/>
        </p:spPr>
      </p:sp>
      <p:sp>
        <p:nvSpPr>
          <p:cNvPr id="20" name="Text 17"/>
          <p:cNvSpPr txBox="1"/>
          <p:nvPr/>
        </p:nvSpPr>
        <p:spPr>
          <a:xfrm>
            <a:off x="731520" y="5486400"/>
            <a:ext cx="10698480" cy="777240"/>
          </a:xfrm>
          <a:prstGeom prst="rect">
            <a:avLst/>
          </a:prstGeom>
          <a:noFill/>
          <a:ln/>
        </p:spPr>
        <p:txBody>
          <a:bodyPr wrap="square" lIns="0" tIns="0" rIns="0" bIns="0" rtlCol="0" anchor="ctr"/>
          <a:lstStyle/>
          <a:p>
            <a:pPr indent="0" marL="0">
              <a:buNone/>
            </a:pPr>
            <a:r>
              <a:rPr lang="en-US" sz="1400" b="1" dirty="0">
                <a:solidFill>
                  <a:schemeClr val="accent3"/>
                </a:solidFill>
              </a:rPr>
              <a:t>So what for V&amp;S: </a:t>
            </a:r>
            <a:pPr indent="0" marL="0">
              <a:buNone/>
            </a:pPr>
            <a:r>
              <a:rPr lang="en-US" sz="1400" dirty="0">
                <a:solidFill>
                  <a:schemeClr val="bg1"/>
                </a:solidFill>
              </a:rPr>
              <a:t>luxury executives point to experiential luxury and personalization (Deloitte, 2026). Stores convert far better and online has headroom, so the two work best joined up.</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The question changes from which channel to win to which experience to deliver</a:t>
            </a:r>
            <a:endParaRPr lang="en-US" sz="3000" dirty="0"/>
          </a:p>
        </p:txBody>
      </p:sp>
      <p:sp>
        <p:nvSpPr>
          <p:cNvPr id="3" name="Today's question card"/>
          <p:cNvSpPr/>
          <p:nvPr/>
        </p:nvSpPr>
        <p:spPr>
          <a:xfrm>
            <a:off x="548640" y="1645920"/>
            <a:ext cx="4846320" cy="3108960"/>
          </a:xfrm>
          <a:prstGeom prst="rect">
            <a:avLst/>
          </a:prstGeom>
          <a:solidFill>
            <a:schemeClr val="tx2"/>
          </a:solidFill>
          <a:ln/>
        </p:spPr>
      </p:sp>
      <p:sp>
        <p:nvSpPr>
          <p:cNvPr id="4" name="Text 2"/>
          <p:cNvSpPr txBox="1"/>
          <p:nvPr/>
        </p:nvSpPr>
        <p:spPr>
          <a:xfrm>
            <a:off x="822960" y="1874520"/>
            <a:ext cx="4297680" cy="274320"/>
          </a:xfrm>
          <a:prstGeom prst="rect">
            <a:avLst/>
          </a:prstGeom>
          <a:noFill/>
          <a:ln/>
        </p:spPr>
        <p:txBody>
          <a:bodyPr wrap="square" lIns="0" tIns="0" rIns="0" bIns="0" rtlCol="0" anchor="t"/>
          <a:lstStyle/>
          <a:p>
            <a:pPr indent="0" marL="0">
              <a:buNone/>
            </a:pPr>
            <a:r>
              <a:rPr lang="en-US" sz="1200" b="1" spc="200" kern="0" dirty="0">
                <a:solidFill>
                  <a:schemeClr val="bg1"/>
                </a:solidFill>
              </a:rPr>
              <a:t>THE QUESTION TODAY</a:t>
            </a:r>
            <a:endParaRPr lang="en-US" sz="1200" dirty="0"/>
          </a:p>
        </p:txBody>
      </p:sp>
      <p:sp>
        <p:nvSpPr>
          <p:cNvPr id="5" name="Text 3"/>
          <p:cNvSpPr txBox="1"/>
          <p:nvPr/>
        </p:nvSpPr>
        <p:spPr>
          <a:xfrm>
            <a:off x="822960" y="2331720"/>
            <a:ext cx="4297680" cy="2194560"/>
          </a:xfrm>
          <a:prstGeom prst="rect">
            <a:avLst/>
          </a:prstGeom>
          <a:noFill/>
          <a:ln/>
        </p:spPr>
        <p:txBody>
          <a:bodyPr wrap="square" lIns="0" tIns="0" rIns="0" bIns="0" rtlCol="0" anchor="t"/>
          <a:lstStyle/>
          <a:p>
            <a:pPr indent="0" marL="0">
              <a:buNone/>
            </a:pPr>
            <a:r>
              <a:rPr lang="en-US" sz="2200" dirty="0">
                <a:solidFill>
                  <a:schemeClr val="bg1"/>
                </a:solidFill>
                <a:latin typeface="+mj-lt" pitchFamily="34" charset="0"/>
                <a:ea typeface="+mj-lt" pitchFamily="34" charset="-122"/>
                <a:cs typeface="+mj-lt" pitchFamily="34" charset="-120"/>
              </a:rPr>
              <a:t>Should V&amp;S back stores or online, and how hard should it push sales?</a:t>
            </a:r>
            <a:endParaRPr lang="en-US" sz="2200" dirty="0"/>
          </a:p>
        </p:txBody>
      </p:sp>
      <p:sp>
        <p:nvSpPr>
          <p:cNvPr id="6" name="Shape 4"/>
          <p:cNvSpPr/>
          <p:nvPr/>
        </p:nvSpPr>
        <p:spPr>
          <a:xfrm>
            <a:off x="5577840" y="2880360"/>
            <a:ext cx="1005840" cy="640080"/>
          </a:xfrm>
          <a:prstGeom prst="rightArrow">
            <a:avLst/>
          </a:prstGeom>
          <a:solidFill>
            <a:schemeClr val="accent3"/>
          </a:solidFill>
          <a:ln/>
        </p:spPr>
      </p:sp>
      <p:sp>
        <p:nvSpPr>
          <p:cNvPr id="7" name="Proposed question card"/>
          <p:cNvSpPr/>
          <p:nvPr/>
        </p:nvSpPr>
        <p:spPr>
          <a:xfrm>
            <a:off x="6766560" y="1645920"/>
            <a:ext cx="4846320" cy="3108960"/>
          </a:xfrm>
          <a:prstGeom prst="rect">
            <a:avLst/>
          </a:prstGeom>
          <a:solidFill>
            <a:schemeClr val="accent1"/>
          </a:solidFill>
          <a:ln/>
        </p:spPr>
      </p:sp>
      <p:sp>
        <p:nvSpPr>
          <p:cNvPr id="8" name="Text 6"/>
          <p:cNvSpPr txBox="1"/>
          <p:nvPr/>
        </p:nvSpPr>
        <p:spPr>
          <a:xfrm>
            <a:off x="7040880" y="1874520"/>
            <a:ext cx="4297680" cy="274320"/>
          </a:xfrm>
          <a:prstGeom prst="rect">
            <a:avLst/>
          </a:prstGeom>
          <a:noFill/>
          <a:ln/>
        </p:spPr>
        <p:txBody>
          <a:bodyPr wrap="square" lIns="0" tIns="0" rIns="0" bIns="0" rtlCol="0" anchor="t"/>
          <a:lstStyle/>
          <a:p>
            <a:pPr indent="0" marL="0">
              <a:buNone/>
            </a:pPr>
            <a:r>
              <a:rPr lang="en-US" sz="1200" b="1" spc="200" kern="0" dirty="0">
                <a:solidFill>
                  <a:schemeClr val="bg1"/>
                </a:solidFill>
              </a:rPr>
              <a:t>THE QUESTION WE PROPOSE</a:t>
            </a:r>
            <a:endParaRPr lang="en-US" sz="1200" dirty="0"/>
          </a:p>
        </p:txBody>
      </p:sp>
      <p:sp>
        <p:nvSpPr>
          <p:cNvPr id="9" name="Text 7"/>
          <p:cNvSpPr txBox="1"/>
          <p:nvPr/>
        </p:nvSpPr>
        <p:spPr>
          <a:xfrm>
            <a:off x="7040880" y="2331720"/>
            <a:ext cx="4297680" cy="2194560"/>
          </a:xfrm>
          <a:prstGeom prst="rect">
            <a:avLst/>
          </a:prstGeom>
          <a:noFill/>
          <a:ln/>
        </p:spPr>
        <p:txBody>
          <a:bodyPr wrap="square" lIns="0" tIns="0" rIns="0" bIns="0" rtlCol="0" anchor="t"/>
          <a:lstStyle/>
          <a:p>
            <a:pPr indent="0" marL="0">
              <a:buNone/>
            </a:pPr>
            <a:r>
              <a:rPr lang="en-US" sz="2200" dirty="0">
                <a:solidFill>
                  <a:schemeClr val="bg1"/>
                </a:solidFill>
                <a:latin typeface="+mj-lt" pitchFamily="34" charset="0"/>
                <a:ea typeface="+mj-lt" pitchFamily="34" charset="-122"/>
                <a:cs typeface="+mj-lt" pitchFamily="34" charset="-120"/>
              </a:rPr>
              <a:t>How does V&amp;S deliver George Virley's promise of exciting luxury open to everyone in every channel, and run itself to sustain it?</a:t>
            </a:r>
            <a:endParaRPr lang="en-US" sz="2200" dirty="0"/>
          </a:p>
        </p:txBody>
      </p:sp>
      <p:sp>
        <p:nvSpPr>
          <p:cNvPr id="10" name="Takeaway"/>
          <p:cNvSpPr/>
          <p:nvPr/>
        </p:nvSpPr>
        <p:spPr>
          <a:xfrm>
            <a:off x="548640" y="5029200"/>
            <a:ext cx="11064240" cy="1097280"/>
          </a:xfrm>
          <a:prstGeom prst="rect">
            <a:avLst/>
          </a:prstGeom>
          <a:solidFill>
            <a:schemeClr val="bg2"/>
          </a:solidFill>
          <a:ln/>
        </p:spPr>
      </p:sp>
      <p:sp>
        <p:nvSpPr>
          <p:cNvPr id="11" name="Text 9"/>
          <p:cNvSpPr txBox="1"/>
          <p:nvPr/>
        </p:nvSpPr>
        <p:spPr>
          <a:xfrm>
            <a:off x="822960" y="5029200"/>
            <a:ext cx="10515600" cy="1097280"/>
          </a:xfrm>
          <a:prstGeom prst="rect">
            <a:avLst/>
          </a:prstGeom>
          <a:noFill/>
          <a:ln/>
        </p:spPr>
        <p:txBody>
          <a:bodyPr wrap="square" lIns="0" tIns="0" rIns="0" bIns="0" rtlCol="0" anchor="ctr"/>
          <a:lstStyle/>
          <a:p>
            <a:pPr indent="0" marL="0">
              <a:buNone/>
            </a:pPr>
            <a:r>
              <a:rPr lang="en-US" sz="1800" b="1" dirty="0">
                <a:solidFill>
                  <a:schemeClr val="tx1"/>
                </a:solidFill>
              </a:rPr>
              <a:t>Stores and online serve the same client. The sales gap is a symptom of how the experience is delivered and run.</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Four hypotheses explain why the sales push is not working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640080"/>
                <a:gridCol w="2651760"/>
                <a:gridCol w="4480560"/>
                <a:gridCol w="3291840"/>
              </a:tblGrid>
              <a:tr h="457200">
                <a:tc>
                  <a:txBody>
                    <a:bodyPr/>
                    <a:lstStyle/>
                    <a:p>
                      <a:pPr indent="0" marL="0">
                        <a:buNone/>
                      </a:pPr>
                      <a:r>
                        <a:rPr lang="en-US" sz="1400" b="1" dirty="0">
                          <a:solidFill>
                            <a:schemeClr val="bg1"/>
                          </a:solidFill>
                        </a:rPr>
                        <a:t>#</a:t>
                      </a:r>
                      <a:endParaRPr lang="en-US" sz="14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Hypothesis</a:t>
                      </a:r>
                      <a:endParaRPr lang="en-US" sz="14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Evidence in the case</a:t>
                      </a:r>
                      <a:endParaRPr lang="en-US" sz="14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How we will test it</a:t>
                      </a:r>
                      <a:endParaRPr lang="en-US" sz="14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r>
              <a:tr h="1005840">
                <a:tc>
                  <a:txBody>
                    <a:bodyPr/>
                    <a:lstStyle/>
                    <a:p>
                      <a:pPr algn="ctr" indent="0" marL="0">
                        <a:buNone/>
                      </a:pPr>
                      <a:r>
                        <a:rPr lang="en-US" sz="2000" b="1" dirty="0">
                          <a:solidFill>
                            <a:schemeClr val="accent1"/>
                          </a:solidFill>
                        </a:rPr>
                        <a:t>1</a:t>
                      </a:r>
                      <a:endParaRPr lang="en-US" sz="20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b="1" dirty="0">
                          <a:solidFill>
                            <a:schemeClr val="tx1"/>
                          </a:solidFill>
                        </a:rPr>
                        <a:t>Experience is inconsistent across channels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Online delivery and returns have operational issues; stores and online are run apart</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Journey mapping, mystery shop, online report review</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1005840">
                <a:tc>
                  <a:txBody>
                    <a:bodyPr/>
                    <a:lstStyle/>
                    <a:p>
                      <a:pPr algn="ctr" indent="0" marL="0">
                        <a:buNone/>
                      </a:pPr>
                      <a:r>
                        <a:rPr lang="en-US" sz="2000" b="1" dirty="0">
                          <a:solidFill>
                            <a:schemeClr val="accent1"/>
                          </a:solidFill>
                        </a:rPr>
                        <a:t>2</a:t>
                      </a:r>
                      <a:endParaRPr lang="en-US" sz="20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b="1" dirty="0">
                          <a:solidFill>
                            <a:schemeClr val="tx1"/>
                          </a:solidFill>
                        </a:rPr>
                        <a:t>Operating foundations are fragmented</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Three separate HR processes, manual data reconciling, IT director seat empty for 6+ months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Systems audit, turnover and training data</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1005840">
                <a:tc>
                  <a:txBody>
                    <a:bodyPr/>
                    <a:lstStyle/>
                    <a:p>
                      <a:pPr algn="ctr" indent="0" marL="0">
                        <a:buNone/>
                      </a:pPr>
                      <a:r>
                        <a:rPr lang="en-US" sz="2000" b="1" dirty="0">
                          <a:solidFill>
                            <a:schemeClr val="accent1"/>
                          </a:solidFill>
                        </a:rPr>
                        <a:t>3</a:t>
                      </a:r>
                      <a:endParaRPr lang="en-US" sz="20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b="1" dirty="0">
                          <a:solidFill>
                            <a:schemeClr val="tx1"/>
                          </a:solidFill>
                        </a:rPr>
                        <a:t>Incentives and structure pull apart</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Directors are bonused on sales while buying directors ask for margin; online sits under marketing</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KPI and bonus review, organisation review</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1005840">
                <a:tc>
                  <a:txBody>
                    <a:bodyPr/>
                    <a:lstStyle/>
                    <a:p>
                      <a:pPr algn="ctr" indent="0" marL="0">
                        <a:buNone/>
                      </a:pPr>
                      <a:r>
                        <a:rPr lang="en-US" sz="2000" b="1" dirty="0">
                          <a:solidFill>
                            <a:schemeClr val="accent1"/>
                          </a:solidFill>
                        </a:rPr>
                        <a:t>4</a:t>
                      </a:r>
                      <a:endParaRPr lang="en-US" sz="20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b="1" dirty="0">
                          <a:solidFill>
                            <a:schemeClr val="tx1"/>
                          </a:solidFill>
                        </a:rPr>
                        <a:t>Channels lack a clear role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Edinburgh and Orlando lag, Birmingham sales have fallen, attention is concentrated on Edinburgh</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Store-level P&amp;L, peer benchmarking</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Virley Everywhere puts one client, one stock view and one team behind every channel</a:t>
            </a:r>
            <a:endParaRPr lang="en-US" sz="3000" dirty="0"/>
          </a:p>
        </p:txBody>
      </p:sp>
      <p:sp>
        <p:nvSpPr>
          <p:cNvPr id="3" name="Shape 1"/>
          <p:cNvSpPr/>
          <p:nvPr/>
        </p:nvSpPr>
        <p:spPr>
          <a:xfrm>
            <a:off x="4114800" y="2468880"/>
            <a:ext cx="1143000" cy="731520"/>
          </a:xfrm>
          <a:prstGeom prst="line">
            <a:avLst/>
          </a:prstGeom>
          <a:noFill/>
          <a:ln w="19050">
            <a:solidFill>
              <a:schemeClr val="accent5"/>
            </a:solidFill>
            <a:prstDash val="solid"/>
          </a:ln>
        </p:spPr>
      </p:sp>
      <p:sp>
        <p:nvSpPr>
          <p:cNvPr id="4" name="Shape 2"/>
          <p:cNvSpPr/>
          <p:nvPr/>
        </p:nvSpPr>
        <p:spPr>
          <a:xfrm flipH="1">
            <a:off x="6949440" y="2468880"/>
            <a:ext cx="1124712" cy="731520"/>
          </a:xfrm>
          <a:prstGeom prst="line">
            <a:avLst/>
          </a:prstGeom>
          <a:noFill/>
          <a:ln w="19050">
            <a:solidFill>
              <a:schemeClr val="accent5"/>
            </a:solidFill>
            <a:prstDash val="solid"/>
          </a:ln>
        </p:spPr>
      </p:sp>
      <p:sp>
        <p:nvSpPr>
          <p:cNvPr id="5" name="Shape 3"/>
          <p:cNvSpPr/>
          <p:nvPr/>
        </p:nvSpPr>
        <p:spPr>
          <a:xfrm flipV="1">
            <a:off x="4114800" y="4480560"/>
            <a:ext cx="1143000" cy="731520"/>
          </a:xfrm>
          <a:prstGeom prst="line">
            <a:avLst/>
          </a:prstGeom>
          <a:noFill/>
          <a:ln w="19050">
            <a:solidFill>
              <a:schemeClr val="accent5"/>
            </a:solidFill>
            <a:prstDash val="solid"/>
          </a:ln>
        </p:spPr>
      </p:sp>
      <p:sp>
        <p:nvSpPr>
          <p:cNvPr id="6" name="Shape 4"/>
          <p:cNvSpPr/>
          <p:nvPr/>
        </p:nvSpPr>
        <p:spPr>
          <a:xfrm flipH="1" flipV="1">
            <a:off x="6949440" y="4480560"/>
            <a:ext cx="1124712" cy="731520"/>
          </a:xfrm>
          <a:prstGeom prst="line">
            <a:avLst/>
          </a:prstGeom>
          <a:noFill/>
          <a:ln w="19050">
            <a:solidFill>
              <a:schemeClr val="accent5"/>
            </a:solidFill>
            <a:prstDash val="solid"/>
          </a:ln>
        </p:spPr>
      </p:sp>
      <p:sp>
        <p:nvSpPr>
          <p:cNvPr id="7" name="Shape 5"/>
          <p:cNvSpPr/>
          <p:nvPr/>
        </p:nvSpPr>
        <p:spPr>
          <a:xfrm>
            <a:off x="5093208" y="2834640"/>
            <a:ext cx="2011680" cy="2011680"/>
          </a:xfrm>
          <a:prstGeom prst="ellipse">
            <a:avLst/>
          </a:prstGeom>
          <a:solidFill>
            <a:schemeClr val="accent1"/>
          </a:solidFill>
          <a:ln/>
        </p:spPr>
      </p:sp>
      <p:sp>
        <p:nvSpPr>
          <p:cNvPr id="8" name="Text 6"/>
          <p:cNvSpPr txBox="1"/>
          <p:nvPr/>
        </p:nvSpPr>
        <p:spPr>
          <a:xfrm>
            <a:off x="5093208" y="2834640"/>
            <a:ext cx="2011680" cy="201168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Virley</a:t>
            </a:r>
            <a:endParaRPr lang="en-US" sz="2000" dirty="0"/>
          </a:p>
          <a:p>
            <a:pPr algn="ctr" indent="0" marL="0">
              <a:buNone/>
            </a:pPr>
            <a:r>
              <a:rPr lang="en-US" sz="2000" b="1" dirty="0">
                <a:solidFill>
                  <a:schemeClr val="bg1"/>
                </a:solidFill>
                <a:latin typeface="+mj-lt" pitchFamily="34" charset="0"/>
                <a:ea typeface="+mj-lt" pitchFamily="34" charset="-122"/>
                <a:cs typeface="+mj-lt" pitchFamily="34" charset="-120"/>
              </a:rPr>
              <a:t>Everywhere</a:t>
            </a:r>
            <a:endParaRPr lang="en-US" sz="2000" dirty="0"/>
          </a:p>
          <a:p>
            <a:pPr algn="ctr" indent="0" marL="0">
              <a:buNone/>
            </a:pPr>
            <a:r>
              <a:rPr lang="en-US" sz="1300" dirty="0">
                <a:solidFill>
                  <a:schemeClr val="bg1"/>
                </a:solidFill>
                <a:latin typeface="+mj-lt" pitchFamily="34" charset="0"/>
                <a:ea typeface="+mj-lt" pitchFamily="34" charset="-122"/>
                <a:cs typeface="+mj-lt" pitchFamily="34" charset="-120"/>
              </a:rPr>
              <a:t>one client</a:t>
            </a:r>
            <a:endParaRPr lang="en-US" sz="2000" dirty="0"/>
          </a:p>
        </p:txBody>
      </p:sp>
      <p:sp>
        <p:nvSpPr>
          <p:cNvPr id="9" name="Pillar 1"/>
          <p:cNvSpPr/>
          <p:nvPr/>
        </p:nvSpPr>
        <p:spPr>
          <a:xfrm>
            <a:off x="548640" y="1600200"/>
            <a:ext cx="3566160" cy="1737360"/>
          </a:xfrm>
          <a:prstGeom prst="rect">
            <a:avLst/>
          </a:prstGeom>
          <a:solidFill>
            <a:schemeClr val="bg2"/>
          </a:solidFill>
          <a:ln/>
        </p:spPr>
      </p:sp>
      <p:sp>
        <p:nvSpPr>
          <p:cNvPr id="10" name="Shape 8"/>
          <p:cNvSpPr/>
          <p:nvPr/>
        </p:nvSpPr>
        <p:spPr>
          <a:xfrm>
            <a:off x="731520" y="1783080"/>
            <a:ext cx="548640" cy="548640"/>
          </a:xfrm>
          <a:prstGeom prst="ellipse">
            <a:avLst/>
          </a:prstGeom>
          <a:solidFill>
            <a:srgbClr val="D52B1E"/>
          </a:solidFill>
          <a:ln/>
        </p:spPr>
      </p:sp>
      <p:pic>
        <p:nvPicPr>
          <p:cNvPr id="11" name="Image 0" descr="icon">    </p:cNvPr>
          <p:cNvPicPr>
            <a:picLocks noChangeAspect="1"/>
          </p:cNvPicPr>
          <p:nvPr/>
        </p:nvPicPr>
        <p:blipFill>
          <a:blip r:embed="rId1"/>
          <a:stretch>
            <a:fillRect/>
          </a:stretch>
        </p:blipFill>
        <p:spPr>
          <a:xfrm>
            <a:off x="868680" y="1920240"/>
            <a:ext cx="274320" cy="274320"/>
          </a:xfrm>
          <a:prstGeom prst="rect">
            <a:avLst/>
          </a:prstGeom>
        </p:spPr>
      </p:pic>
      <p:sp>
        <p:nvSpPr>
          <p:cNvPr id="12" name="Text 9"/>
          <p:cNvSpPr txBox="1"/>
          <p:nvPr/>
        </p:nvSpPr>
        <p:spPr>
          <a:xfrm>
            <a:off x="1463040" y="178308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Know every client</a:t>
            </a:r>
            <a:endParaRPr lang="en-US" sz="1600" dirty="0"/>
          </a:p>
        </p:txBody>
      </p:sp>
      <p:sp>
        <p:nvSpPr>
          <p:cNvPr id="13" name="Text 10"/>
          <p:cNvSpPr txBox="1"/>
          <p:nvPr/>
        </p:nvSpPr>
        <p:spPr>
          <a:xfrm>
            <a:off x="731520" y="2468880"/>
            <a:ext cx="3200400" cy="822960"/>
          </a:xfrm>
          <a:prstGeom prst="rect">
            <a:avLst/>
          </a:prstGeom>
          <a:noFill/>
          <a:ln/>
        </p:spPr>
        <p:txBody>
          <a:bodyPr wrap="square" lIns="0" tIns="0" rIns="0" bIns="0" rtlCol="0" anchor="t"/>
          <a:lstStyle/>
          <a:p>
            <a:pPr indent="0" marL="0">
              <a:buNone/>
            </a:pPr>
            <a:r>
              <a:rPr lang="en-US" sz="1300" dirty="0">
                <a:solidFill>
                  <a:schemeClr val="tx2"/>
                </a:solidFill>
              </a:rPr>
              <a:t>A single client profile lets any associate or online stylist greet, advise and follow up personally.</a:t>
            </a:r>
            <a:endParaRPr lang="en-US" sz="1300" dirty="0"/>
          </a:p>
        </p:txBody>
      </p:sp>
      <p:sp>
        <p:nvSpPr>
          <p:cNvPr id="14" name="Pillar 2"/>
          <p:cNvSpPr/>
          <p:nvPr/>
        </p:nvSpPr>
        <p:spPr>
          <a:xfrm>
            <a:off x="8074152" y="1600200"/>
            <a:ext cx="3566160" cy="1737360"/>
          </a:xfrm>
          <a:prstGeom prst="rect">
            <a:avLst/>
          </a:prstGeom>
          <a:solidFill>
            <a:schemeClr val="bg2"/>
          </a:solidFill>
          <a:ln/>
        </p:spPr>
      </p:sp>
      <p:sp>
        <p:nvSpPr>
          <p:cNvPr id="15" name="Shape 12"/>
          <p:cNvSpPr/>
          <p:nvPr/>
        </p:nvSpPr>
        <p:spPr>
          <a:xfrm>
            <a:off x="8257032" y="1783080"/>
            <a:ext cx="548640" cy="548640"/>
          </a:xfrm>
          <a:prstGeom prst="ellipse">
            <a:avLst/>
          </a:prstGeom>
          <a:solidFill>
            <a:srgbClr val="D52B1E"/>
          </a:solidFill>
          <a:ln/>
        </p:spPr>
      </p:sp>
      <p:pic>
        <p:nvPicPr>
          <p:cNvPr id="16" name="Image 1" descr="icon">    </p:cNvPr>
          <p:cNvPicPr>
            <a:picLocks noChangeAspect="1"/>
          </p:cNvPicPr>
          <p:nvPr/>
        </p:nvPicPr>
        <p:blipFill>
          <a:blip r:embed="rId2"/>
          <a:stretch>
            <a:fillRect/>
          </a:stretch>
        </p:blipFill>
        <p:spPr>
          <a:xfrm>
            <a:off x="8394192" y="1920240"/>
            <a:ext cx="274320" cy="274320"/>
          </a:xfrm>
          <a:prstGeom prst="rect">
            <a:avLst/>
          </a:prstGeom>
        </p:spPr>
      </p:pic>
      <p:sp>
        <p:nvSpPr>
          <p:cNvPr id="17" name="Text 13"/>
          <p:cNvSpPr txBox="1"/>
          <p:nvPr/>
        </p:nvSpPr>
        <p:spPr>
          <a:xfrm>
            <a:off x="8988552" y="178308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Stores as stages</a:t>
            </a:r>
            <a:endParaRPr lang="en-US" sz="1600" dirty="0"/>
          </a:p>
        </p:txBody>
      </p:sp>
      <p:sp>
        <p:nvSpPr>
          <p:cNvPr id="18" name="Text 14"/>
          <p:cNvSpPr txBox="1"/>
          <p:nvPr/>
        </p:nvSpPr>
        <p:spPr>
          <a:xfrm>
            <a:off x="8257032" y="2468880"/>
            <a:ext cx="3200400" cy="822960"/>
          </a:xfrm>
          <a:prstGeom prst="rect">
            <a:avLst/>
          </a:prstGeom>
          <a:noFill/>
          <a:ln/>
        </p:spPr>
        <p:txBody>
          <a:bodyPr wrap="square" lIns="0" tIns="0" rIns="0" bIns="0" rtlCol="0" anchor="t"/>
          <a:lstStyle/>
          <a:p>
            <a:pPr indent="0" marL="0">
              <a:buNone/>
            </a:pPr>
            <a:r>
              <a:rPr lang="en-US" sz="1300" dirty="0">
                <a:solidFill>
                  <a:schemeClr val="tx2"/>
                </a:solidFill>
              </a:rPr>
              <a:t>Technology in the London flagship brings the experience to life, then scales to other stores.</a:t>
            </a:r>
            <a:endParaRPr lang="en-US" sz="1300" dirty="0"/>
          </a:p>
        </p:txBody>
      </p:sp>
      <p:sp>
        <p:nvSpPr>
          <p:cNvPr id="19" name="Pillar 3"/>
          <p:cNvSpPr/>
          <p:nvPr/>
        </p:nvSpPr>
        <p:spPr>
          <a:xfrm>
            <a:off x="548640" y="4343400"/>
            <a:ext cx="3566160" cy="1737360"/>
          </a:xfrm>
          <a:prstGeom prst="rect">
            <a:avLst/>
          </a:prstGeom>
          <a:solidFill>
            <a:schemeClr val="bg2"/>
          </a:solidFill>
          <a:ln/>
        </p:spPr>
      </p:sp>
      <p:sp>
        <p:nvSpPr>
          <p:cNvPr id="20" name="Shape 16"/>
          <p:cNvSpPr/>
          <p:nvPr/>
        </p:nvSpPr>
        <p:spPr>
          <a:xfrm>
            <a:off x="731520" y="4526280"/>
            <a:ext cx="548640" cy="548640"/>
          </a:xfrm>
          <a:prstGeom prst="ellipse">
            <a:avLst/>
          </a:prstGeom>
          <a:solidFill>
            <a:srgbClr val="D52B1E"/>
          </a:solidFill>
          <a:ln/>
        </p:spPr>
      </p:sp>
      <p:pic>
        <p:nvPicPr>
          <p:cNvPr id="21" name="Image 2" descr="icon">    </p:cNvPr>
          <p:cNvPicPr>
            <a:picLocks noChangeAspect="1"/>
          </p:cNvPicPr>
          <p:nvPr/>
        </p:nvPicPr>
        <p:blipFill>
          <a:blip r:embed="rId3"/>
          <a:stretch>
            <a:fillRect/>
          </a:stretch>
        </p:blipFill>
        <p:spPr>
          <a:xfrm>
            <a:off x="868680" y="4663440"/>
            <a:ext cx="274320" cy="274320"/>
          </a:xfrm>
          <a:prstGeom prst="rect">
            <a:avLst/>
          </a:prstGeom>
        </p:spPr>
      </p:pic>
      <p:sp>
        <p:nvSpPr>
          <p:cNvPr id="22" name="Text 17"/>
          <p:cNvSpPr txBox="1"/>
          <p:nvPr/>
        </p:nvSpPr>
        <p:spPr>
          <a:xfrm>
            <a:off x="1463040" y="452628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Online as the extension</a:t>
            </a:r>
            <a:endParaRPr lang="en-US" sz="1600" dirty="0"/>
          </a:p>
        </p:txBody>
      </p:sp>
      <p:sp>
        <p:nvSpPr>
          <p:cNvPr id="23" name="Text 18"/>
          <p:cNvSpPr txBox="1"/>
          <p:nvPr/>
        </p:nvSpPr>
        <p:spPr>
          <a:xfrm>
            <a:off x="731520" y="5212080"/>
            <a:ext cx="3200400" cy="822960"/>
          </a:xfrm>
          <a:prstGeom prst="rect">
            <a:avLst/>
          </a:prstGeom>
          <a:noFill/>
          <a:ln/>
        </p:spPr>
        <p:txBody>
          <a:bodyPr wrap="square" lIns="0" tIns="0" rIns="0" bIns="0" rtlCol="0" anchor="t"/>
          <a:lstStyle/>
          <a:p>
            <a:pPr indent="0" marL="0">
              <a:buNone/>
            </a:pPr>
            <a:r>
              <a:rPr lang="en-US" sz="1300" dirty="0">
                <a:solidFill>
                  <a:schemeClr val="tx2"/>
                </a:solidFill>
              </a:rPr>
              <a:t>Fixed delivery and returns give the 100 countries V&amp;S ships to the London standard of service.</a:t>
            </a:r>
            <a:endParaRPr lang="en-US" sz="1300" dirty="0"/>
          </a:p>
        </p:txBody>
      </p:sp>
      <p:sp>
        <p:nvSpPr>
          <p:cNvPr id="24" name="Pillar 4"/>
          <p:cNvSpPr/>
          <p:nvPr/>
        </p:nvSpPr>
        <p:spPr>
          <a:xfrm>
            <a:off x="8074152" y="4343400"/>
            <a:ext cx="3566160" cy="1737360"/>
          </a:xfrm>
          <a:prstGeom prst="rect">
            <a:avLst/>
          </a:prstGeom>
          <a:solidFill>
            <a:schemeClr val="bg2"/>
          </a:solidFill>
          <a:ln/>
        </p:spPr>
      </p:sp>
      <p:sp>
        <p:nvSpPr>
          <p:cNvPr id="25" name="Shape 20"/>
          <p:cNvSpPr/>
          <p:nvPr/>
        </p:nvSpPr>
        <p:spPr>
          <a:xfrm>
            <a:off x="8257032" y="4526280"/>
            <a:ext cx="548640" cy="548640"/>
          </a:xfrm>
          <a:prstGeom prst="ellipse">
            <a:avLst/>
          </a:prstGeom>
          <a:solidFill>
            <a:srgbClr val="D52B1E"/>
          </a:solidFill>
          <a:ln/>
        </p:spPr>
      </p:sp>
      <p:pic>
        <p:nvPicPr>
          <p:cNvPr id="26" name="Image 3" descr="icon">    </p:cNvPr>
          <p:cNvPicPr>
            <a:picLocks noChangeAspect="1"/>
          </p:cNvPicPr>
          <p:nvPr/>
        </p:nvPicPr>
        <p:blipFill>
          <a:blip r:embed="rId4"/>
          <a:stretch>
            <a:fillRect/>
          </a:stretch>
        </p:blipFill>
        <p:spPr>
          <a:xfrm>
            <a:off x="8394192" y="4663440"/>
            <a:ext cx="274320" cy="274320"/>
          </a:xfrm>
          <a:prstGeom prst="rect">
            <a:avLst/>
          </a:prstGeom>
        </p:spPr>
      </p:pic>
      <p:sp>
        <p:nvSpPr>
          <p:cNvPr id="27" name="Text 21"/>
          <p:cNvSpPr txBox="1"/>
          <p:nvPr/>
        </p:nvSpPr>
        <p:spPr>
          <a:xfrm>
            <a:off x="8988552" y="452628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One backbone</a:t>
            </a:r>
            <a:endParaRPr lang="en-US" sz="1600" dirty="0"/>
          </a:p>
        </p:txBody>
      </p:sp>
      <p:sp>
        <p:nvSpPr>
          <p:cNvPr id="28" name="Text 22"/>
          <p:cNvSpPr txBox="1"/>
          <p:nvPr/>
        </p:nvSpPr>
        <p:spPr>
          <a:xfrm>
            <a:off x="8257032" y="5212080"/>
            <a:ext cx="3200400" cy="822960"/>
          </a:xfrm>
          <a:prstGeom prst="rect">
            <a:avLst/>
          </a:prstGeom>
          <a:noFill/>
          <a:ln/>
        </p:spPr>
        <p:txBody>
          <a:bodyPr wrap="square" lIns="0" tIns="0" rIns="0" bIns="0" rtlCol="0" anchor="t"/>
          <a:lstStyle/>
          <a:p>
            <a:pPr indent="0" marL="0">
              <a:buNone/>
            </a:pPr>
            <a:r>
              <a:rPr lang="en-US" sz="1300" dirty="0">
                <a:solidFill>
                  <a:schemeClr val="tx2"/>
                </a:solidFill>
              </a:rPr>
              <a:t>One stock view, one set of people processes and one data platform across all sites.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A day in the life of a Virley client shows the experience in every channel</a:t>
            </a:r>
            <a:endParaRPr lang="en-US" sz="3000" dirty="0"/>
          </a:p>
        </p:txBody>
      </p:sp>
      <p:sp>
        <p:nvSpPr>
          <p:cNvPr id="3" name="Shape 1"/>
          <p:cNvSpPr/>
          <p:nvPr/>
        </p:nvSpPr>
        <p:spPr>
          <a:xfrm>
            <a:off x="548640" y="1554480"/>
            <a:ext cx="2103120" cy="731520"/>
          </a:xfrm>
          <a:prstGeom prst="homePlate">
            <a:avLst/>
          </a:prstGeom>
          <a:solidFill>
            <a:schemeClr val="accent1"/>
          </a:solidFill>
          <a:ln/>
        </p:spPr>
      </p:sp>
      <p:sp>
        <p:nvSpPr>
          <p:cNvPr id="4" name="Text 2"/>
          <p:cNvSpPr txBox="1"/>
          <p:nvPr/>
        </p:nvSpPr>
        <p:spPr>
          <a:xfrm>
            <a:off x="685800" y="1554480"/>
            <a:ext cx="1737360" cy="731520"/>
          </a:xfrm>
          <a:prstGeom prst="rect">
            <a:avLst/>
          </a:prstGeom>
          <a:noFill/>
          <a:ln/>
        </p:spPr>
        <p:txBody>
          <a:bodyPr wrap="square" lIns="0" tIns="0" rIns="0" bIns="0" rtlCol="0" anchor="ctr"/>
          <a:lstStyle/>
          <a:p>
            <a:pPr indent="0" marL="0">
              <a:buNone/>
            </a:pPr>
            <a:r>
              <a:rPr lang="en-US" sz="1500" b="1" dirty="0">
                <a:solidFill>
                  <a:schemeClr val="bg1"/>
                </a:solidFill>
              </a:rPr>
              <a:t>1  Discover</a:t>
            </a:r>
            <a:endParaRPr lang="en-US" sz="1500" dirty="0"/>
          </a:p>
        </p:txBody>
      </p:sp>
      <p:sp>
        <p:nvSpPr>
          <p:cNvPr id="5" name="Experience 1"/>
          <p:cNvSpPr/>
          <p:nvPr/>
        </p:nvSpPr>
        <p:spPr>
          <a:xfrm>
            <a:off x="548640" y="2468880"/>
            <a:ext cx="2103120" cy="2011680"/>
          </a:xfrm>
          <a:prstGeom prst="rect">
            <a:avLst/>
          </a:prstGeom>
          <a:solidFill>
            <a:schemeClr val="bg2"/>
          </a:solidFill>
          <a:ln/>
        </p:spPr>
      </p:sp>
      <p:sp>
        <p:nvSpPr>
          <p:cNvPr id="6" name="Shape 4"/>
          <p:cNvSpPr/>
          <p:nvPr/>
        </p:nvSpPr>
        <p:spPr>
          <a:xfrm>
            <a:off x="685800" y="2578608"/>
            <a:ext cx="457200" cy="457200"/>
          </a:xfrm>
          <a:prstGeom prst="ellipse">
            <a:avLst/>
          </a:prstGeom>
          <a:solidFill>
            <a:srgbClr val="D52B1E"/>
          </a:solidFill>
          <a:ln/>
        </p:spPr>
      </p:sp>
      <p:pic>
        <p:nvPicPr>
          <p:cNvPr id="7" name="Image 0" descr="icon">    </p:cNvPr>
          <p:cNvPicPr>
            <a:picLocks noChangeAspect="1"/>
          </p:cNvPicPr>
          <p:nvPr/>
        </p:nvPicPr>
        <p:blipFill>
          <a:blip r:embed="rId1"/>
          <a:stretch>
            <a:fillRect/>
          </a:stretch>
        </p:blipFill>
        <p:spPr>
          <a:xfrm>
            <a:off x="800100" y="2692908"/>
            <a:ext cx="228600" cy="228600"/>
          </a:xfrm>
          <a:prstGeom prst="rect">
            <a:avLst/>
          </a:prstGeom>
        </p:spPr>
      </p:pic>
      <p:sp>
        <p:nvSpPr>
          <p:cNvPr id="8" name="Text 5"/>
          <p:cNvSpPr txBox="1"/>
          <p:nvPr/>
        </p:nvSpPr>
        <p:spPr>
          <a:xfrm>
            <a:off x="685800" y="3154680"/>
            <a:ext cx="1828800" cy="1280160"/>
          </a:xfrm>
          <a:prstGeom prst="rect">
            <a:avLst/>
          </a:prstGeom>
          <a:noFill/>
          <a:ln/>
        </p:spPr>
        <p:txBody>
          <a:bodyPr wrap="square" lIns="0" tIns="0" rIns="0" bIns="0" rtlCol="0" anchor="t"/>
          <a:lstStyle/>
          <a:p>
            <a:pPr indent="0" marL="0">
              <a:buNone/>
            </a:pPr>
            <a:r>
              <a:rPr lang="en-US" sz="1300" dirty="0">
                <a:solidFill>
                  <a:schemeClr val="tx1"/>
                </a:solidFill>
              </a:rPr>
              <a:t>She sees a new collection on social media and books a styling session.</a:t>
            </a:r>
            <a:endParaRPr lang="en-US" sz="1300" dirty="0"/>
          </a:p>
        </p:txBody>
      </p:sp>
      <p:sp>
        <p:nvSpPr>
          <p:cNvPr id="9" name="Enabled by 1"/>
          <p:cNvSpPr/>
          <p:nvPr/>
        </p:nvSpPr>
        <p:spPr>
          <a:xfrm>
            <a:off x="548640" y="4617720"/>
            <a:ext cx="2103120" cy="1097280"/>
          </a:xfrm>
          <a:prstGeom prst="rect">
            <a:avLst/>
          </a:prstGeom>
          <a:solidFill>
            <a:schemeClr val="tx2"/>
          </a:solidFill>
          <a:ln/>
        </p:spPr>
      </p:sp>
      <p:sp>
        <p:nvSpPr>
          <p:cNvPr id="10" name="Text 7"/>
          <p:cNvSpPr txBox="1"/>
          <p:nvPr/>
        </p:nvSpPr>
        <p:spPr>
          <a:xfrm>
            <a:off x="685800" y="4690872"/>
            <a:ext cx="1828800" cy="228600"/>
          </a:xfrm>
          <a:prstGeom prst="rect">
            <a:avLst/>
          </a:prstGeom>
          <a:noFill/>
          <a:ln/>
        </p:spPr>
        <p:txBody>
          <a:bodyPr wrap="square" lIns="0" tIns="0" rIns="0" bIns="0" rtlCol="0" anchor="t"/>
          <a:lstStyle/>
          <a:p>
            <a:pPr indent="0" marL="0">
              <a:buNone/>
            </a:pPr>
            <a:r>
              <a:rPr lang="en-US" sz="1000" b="1" spc="100" kern="0" dirty="0">
                <a:solidFill>
                  <a:schemeClr val="bg2"/>
                </a:solidFill>
              </a:rPr>
              <a:t>ENABLED BY</a:t>
            </a:r>
            <a:endParaRPr lang="en-US" sz="1000" dirty="0"/>
          </a:p>
        </p:txBody>
      </p:sp>
      <p:sp>
        <p:nvSpPr>
          <p:cNvPr id="11" name="Text 8"/>
          <p:cNvSpPr txBox="1"/>
          <p:nvPr/>
        </p:nvSpPr>
        <p:spPr>
          <a:xfrm>
            <a:off x="685800" y="4956048"/>
            <a:ext cx="1828800" cy="731520"/>
          </a:xfrm>
          <a:prstGeom prst="rect">
            <a:avLst/>
          </a:prstGeom>
          <a:noFill/>
          <a:ln/>
        </p:spPr>
        <p:txBody>
          <a:bodyPr wrap="square" lIns="0" tIns="0" rIns="0" bIns="0" rtlCol="0" anchor="t"/>
          <a:lstStyle/>
          <a:p>
            <a:pPr indent="0" marL="0">
              <a:buNone/>
            </a:pPr>
            <a:r>
              <a:rPr lang="en-US" sz="1300" dirty="0">
                <a:solidFill>
                  <a:schemeClr val="bg1"/>
                </a:solidFill>
              </a:rPr>
              <a:t>Social content, online booking</a:t>
            </a:r>
            <a:endParaRPr lang="en-US" sz="1300" dirty="0"/>
          </a:p>
        </p:txBody>
      </p:sp>
      <p:sp>
        <p:nvSpPr>
          <p:cNvPr id="12" name="Shape 9"/>
          <p:cNvSpPr/>
          <p:nvPr/>
        </p:nvSpPr>
        <p:spPr>
          <a:xfrm>
            <a:off x="2788920" y="1554480"/>
            <a:ext cx="2103120" cy="731520"/>
          </a:xfrm>
          <a:prstGeom prst="homePlate">
            <a:avLst/>
          </a:prstGeom>
          <a:solidFill>
            <a:schemeClr val="accent1"/>
          </a:solidFill>
          <a:ln/>
        </p:spPr>
      </p:sp>
      <p:sp>
        <p:nvSpPr>
          <p:cNvPr id="13" name="Text 10"/>
          <p:cNvSpPr txBox="1"/>
          <p:nvPr/>
        </p:nvSpPr>
        <p:spPr>
          <a:xfrm>
            <a:off x="2926080" y="1554480"/>
            <a:ext cx="1737360" cy="731520"/>
          </a:xfrm>
          <a:prstGeom prst="rect">
            <a:avLst/>
          </a:prstGeom>
          <a:noFill/>
          <a:ln/>
        </p:spPr>
        <p:txBody>
          <a:bodyPr wrap="square" lIns="0" tIns="0" rIns="0" bIns="0" rtlCol="0" anchor="ctr"/>
          <a:lstStyle/>
          <a:p>
            <a:pPr indent="0" marL="0">
              <a:buNone/>
            </a:pPr>
            <a:r>
              <a:rPr lang="en-US" sz="1500" b="1" dirty="0">
                <a:solidFill>
                  <a:schemeClr val="bg1"/>
                </a:solidFill>
              </a:rPr>
              <a:t>2  Plan</a:t>
            </a:r>
            <a:endParaRPr lang="en-US" sz="1500" dirty="0"/>
          </a:p>
        </p:txBody>
      </p:sp>
      <p:sp>
        <p:nvSpPr>
          <p:cNvPr id="14" name="Experience 2"/>
          <p:cNvSpPr/>
          <p:nvPr/>
        </p:nvSpPr>
        <p:spPr>
          <a:xfrm>
            <a:off x="2788920" y="2468880"/>
            <a:ext cx="2103120" cy="2011680"/>
          </a:xfrm>
          <a:prstGeom prst="rect">
            <a:avLst/>
          </a:prstGeom>
          <a:solidFill>
            <a:schemeClr val="bg2"/>
          </a:solidFill>
          <a:ln/>
        </p:spPr>
      </p:sp>
      <p:sp>
        <p:nvSpPr>
          <p:cNvPr id="15" name="Shape 12"/>
          <p:cNvSpPr/>
          <p:nvPr/>
        </p:nvSpPr>
        <p:spPr>
          <a:xfrm>
            <a:off x="2926080" y="2578608"/>
            <a:ext cx="457200" cy="457200"/>
          </a:xfrm>
          <a:prstGeom prst="ellipse">
            <a:avLst/>
          </a:prstGeom>
          <a:solidFill>
            <a:srgbClr val="D52B1E"/>
          </a:solidFill>
          <a:ln/>
        </p:spPr>
      </p:sp>
      <p:pic>
        <p:nvPicPr>
          <p:cNvPr id="16" name="Image 1" descr="icon">    </p:cNvPr>
          <p:cNvPicPr>
            <a:picLocks noChangeAspect="1"/>
          </p:cNvPicPr>
          <p:nvPr/>
        </p:nvPicPr>
        <p:blipFill>
          <a:blip r:embed="rId2"/>
          <a:stretch>
            <a:fillRect/>
          </a:stretch>
        </p:blipFill>
        <p:spPr>
          <a:xfrm>
            <a:off x="3040380" y="2692908"/>
            <a:ext cx="228600" cy="228600"/>
          </a:xfrm>
          <a:prstGeom prst="rect">
            <a:avLst/>
          </a:prstGeom>
        </p:spPr>
      </p:pic>
      <p:sp>
        <p:nvSpPr>
          <p:cNvPr id="17" name="Text 13"/>
          <p:cNvSpPr txBox="1"/>
          <p:nvPr/>
        </p:nvSpPr>
        <p:spPr>
          <a:xfrm>
            <a:off x="2926080" y="3154680"/>
            <a:ext cx="1828800" cy="1280160"/>
          </a:xfrm>
          <a:prstGeom prst="rect">
            <a:avLst/>
          </a:prstGeom>
          <a:noFill/>
          <a:ln/>
        </p:spPr>
        <p:txBody>
          <a:bodyPr wrap="square" lIns="0" tIns="0" rIns="0" bIns="0" rtlCol="0" anchor="t"/>
          <a:lstStyle/>
          <a:p>
            <a:pPr indent="0" marL="0">
              <a:buNone/>
            </a:pPr>
            <a:r>
              <a:rPr lang="en-US" sz="1300" dirty="0">
                <a:solidFill>
                  <a:schemeClr val="tx1"/>
                </a:solidFill>
              </a:rPr>
              <a:t>A stylist joins by video, already knowing her past purchases.</a:t>
            </a:r>
            <a:endParaRPr lang="en-US" sz="1300" dirty="0"/>
          </a:p>
        </p:txBody>
      </p:sp>
      <p:sp>
        <p:nvSpPr>
          <p:cNvPr id="18" name="Enabled by 2"/>
          <p:cNvSpPr/>
          <p:nvPr/>
        </p:nvSpPr>
        <p:spPr>
          <a:xfrm>
            <a:off x="2788920" y="4617720"/>
            <a:ext cx="2103120" cy="1097280"/>
          </a:xfrm>
          <a:prstGeom prst="rect">
            <a:avLst/>
          </a:prstGeom>
          <a:solidFill>
            <a:schemeClr val="tx2"/>
          </a:solidFill>
          <a:ln/>
        </p:spPr>
      </p:sp>
      <p:sp>
        <p:nvSpPr>
          <p:cNvPr id="19" name="Text 15"/>
          <p:cNvSpPr txBox="1"/>
          <p:nvPr/>
        </p:nvSpPr>
        <p:spPr>
          <a:xfrm>
            <a:off x="2926080" y="4690872"/>
            <a:ext cx="1828800" cy="228600"/>
          </a:xfrm>
          <a:prstGeom prst="rect">
            <a:avLst/>
          </a:prstGeom>
          <a:noFill/>
          <a:ln/>
        </p:spPr>
        <p:txBody>
          <a:bodyPr wrap="square" lIns="0" tIns="0" rIns="0" bIns="0" rtlCol="0" anchor="t"/>
          <a:lstStyle/>
          <a:p>
            <a:pPr indent="0" marL="0">
              <a:buNone/>
            </a:pPr>
            <a:r>
              <a:rPr lang="en-US" sz="1000" b="1" spc="100" kern="0" dirty="0">
                <a:solidFill>
                  <a:schemeClr val="bg2"/>
                </a:solidFill>
              </a:rPr>
              <a:t>ENABLED BY</a:t>
            </a:r>
            <a:endParaRPr lang="en-US" sz="1000" dirty="0"/>
          </a:p>
        </p:txBody>
      </p:sp>
      <p:sp>
        <p:nvSpPr>
          <p:cNvPr id="20" name="Text 16"/>
          <p:cNvSpPr txBox="1"/>
          <p:nvPr/>
        </p:nvSpPr>
        <p:spPr>
          <a:xfrm>
            <a:off x="2926080" y="4956048"/>
            <a:ext cx="1828800" cy="731520"/>
          </a:xfrm>
          <a:prstGeom prst="rect">
            <a:avLst/>
          </a:prstGeom>
          <a:noFill/>
          <a:ln/>
        </p:spPr>
        <p:txBody>
          <a:bodyPr wrap="square" lIns="0" tIns="0" rIns="0" bIns="0" rtlCol="0" anchor="t"/>
          <a:lstStyle/>
          <a:p>
            <a:pPr indent="0" marL="0">
              <a:buNone/>
            </a:pPr>
            <a:r>
              <a:rPr lang="en-US" sz="1300" dirty="0">
                <a:solidFill>
                  <a:schemeClr val="bg1"/>
                </a:solidFill>
              </a:rPr>
              <a:t>Unified client profile</a:t>
            </a:r>
            <a:endParaRPr lang="en-US" sz="1300" dirty="0"/>
          </a:p>
        </p:txBody>
      </p:sp>
      <p:sp>
        <p:nvSpPr>
          <p:cNvPr id="21" name="Shape 17"/>
          <p:cNvSpPr/>
          <p:nvPr/>
        </p:nvSpPr>
        <p:spPr>
          <a:xfrm>
            <a:off x="5029200" y="1554480"/>
            <a:ext cx="2103120" cy="731520"/>
          </a:xfrm>
          <a:prstGeom prst="homePlate">
            <a:avLst/>
          </a:prstGeom>
          <a:solidFill>
            <a:schemeClr val="accent1"/>
          </a:solidFill>
          <a:ln/>
        </p:spPr>
      </p:sp>
      <p:sp>
        <p:nvSpPr>
          <p:cNvPr id="22" name="Text 18"/>
          <p:cNvSpPr txBox="1"/>
          <p:nvPr/>
        </p:nvSpPr>
        <p:spPr>
          <a:xfrm>
            <a:off x="5166360" y="1554480"/>
            <a:ext cx="1737360" cy="731520"/>
          </a:xfrm>
          <a:prstGeom prst="rect">
            <a:avLst/>
          </a:prstGeom>
          <a:noFill/>
          <a:ln/>
        </p:spPr>
        <p:txBody>
          <a:bodyPr wrap="square" lIns="0" tIns="0" rIns="0" bIns="0" rtlCol="0" anchor="ctr"/>
          <a:lstStyle/>
          <a:p>
            <a:pPr indent="0" marL="0">
              <a:buNone/>
            </a:pPr>
            <a:r>
              <a:rPr lang="en-US" sz="1500" b="1" dirty="0">
                <a:solidFill>
                  <a:schemeClr val="bg1"/>
                </a:solidFill>
              </a:rPr>
              <a:t>3  Visit</a:t>
            </a:r>
            <a:endParaRPr lang="en-US" sz="1500" dirty="0"/>
          </a:p>
        </p:txBody>
      </p:sp>
      <p:sp>
        <p:nvSpPr>
          <p:cNvPr id="23" name="Experience 3"/>
          <p:cNvSpPr/>
          <p:nvPr/>
        </p:nvSpPr>
        <p:spPr>
          <a:xfrm>
            <a:off x="5029200" y="2468880"/>
            <a:ext cx="2103120" cy="2011680"/>
          </a:xfrm>
          <a:prstGeom prst="rect">
            <a:avLst/>
          </a:prstGeom>
          <a:solidFill>
            <a:schemeClr val="bg2"/>
          </a:solidFill>
          <a:ln/>
        </p:spPr>
      </p:sp>
      <p:sp>
        <p:nvSpPr>
          <p:cNvPr id="24" name="Shape 20"/>
          <p:cNvSpPr/>
          <p:nvPr/>
        </p:nvSpPr>
        <p:spPr>
          <a:xfrm>
            <a:off x="5166360" y="2578608"/>
            <a:ext cx="457200" cy="457200"/>
          </a:xfrm>
          <a:prstGeom prst="ellipse">
            <a:avLst/>
          </a:prstGeom>
          <a:solidFill>
            <a:srgbClr val="D52B1E"/>
          </a:solidFill>
          <a:ln/>
        </p:spPr>
      </p:sp>
      <p:pic>
        <p:nvPicPr>
          <p:cNvPr id="25" name="Image 2" descr="icon">    </p:cNvPr>
          <p:cNvPicPr>
            <a:picLocks noChangeAspect="1"/>
          </p:cNvPicPr>
          <p:nvPr/>
        </p:nvPicPr>
        <p:blipFill>
          <a:blip r:embed="rId3"/>
          <a:stretch>
            <a:fillRect/>
          </a:stretch>
        </p:blipFill>
        <p:spPr>
          <a:xfrm>
            <a:off x="5280660" y="2692908"/>
            <a:ext cx="228600" cy="228600"/>
          </a:xfrm>
          <a:prstGeom prst="rect">
            <a:avLst/>
          </a:prstGeom>
        </p:spPr>
      </p:pic>
      <p:sp>
        <p:nvSpPr>
          <p:cNvPr id="26" name="Text 21"/>
          <p:cNvSpPr txBox="1"/>
          <p:nvPr/>
        </p:nvSpPr>
        <p:spPr>
          <a:xfrm>
            <a:off x="5166360" y="3154680"/>
            <a:ext cx="1828800" cy="1280160"/>
          </a:xfrm>
          <a:prstGeom prst="rect">
            <a:avLst/>
          </a:prstGeom>
          <a:noFill/>
          <a:ln/>
        </p:spPr>
        <p:txBody>
          <a:bodyPr wrap="square" lIns="0" tIns="0" rIns="0" bIns="0" rtlCol="0" anchor="t"/>
          <a:lstStyle/>
          <a:p>
            <a:pPr indent="0" marL="0">
              <a:buNone/>
            </a:pPr>
            <a:r>
              <a:rPr lang="en-US" sz="1300" dirty="0">
                <a:solidFill>
                  <a:schemeClr val="tx1"/>
                </a:solidFill>
              </a:rPr>
              <a:t>She is greeted by name and her chosen pieces are ready to try.</a:t>
            </a:r>
            <a:endParaRPr lang="en-US" sz="1300" dirty="0"/>
          </a:p>
        </p:txBody>
      </p:sp>
      <p:sp>
        <p:nvSpPr>
          <p:cNvPr id="27" name="Enabled by 3"/>
          <p:cNvSpPr/>
          <p:nvPr/>
        </p:nvSpPr>
        <p:spPr>
          <a:xfrm>
            <a:off x="5029200" y="4617720"/>
            <a:ext cx="2103120" cy="1097280"/>
          </a:xfrm>
          <a:prstGeom prst="rect">
            <a:avLst/>
          </a:prstGeom>
          <a:solidFill>
            <a:schemeClr val="tx2"/>
          </a:solidFill>
          <a:ln/>
        </p:spPr>
      </p:sp>
      <p:sp>
        <p:nvSpPr>
          <p:cNvPr id="28" name="Text 23"/>
          <p:cNvSpPr txBox="1"/>
          <p:nvPr/>
        </p:nvSpPr>
        <p:spPr>
          <a:xfrm>
            <a:off x="5166360" y="4690872"/>
            <a:ext cx="1828800" cy="228600"/>
          </a:xfrm>
          <a:prstGeom prst="rect">
            <a:avLst/>
          </a:prstGeom>
          <a:noFill/>
          <a:ln/>
        </p:spPr>
        <p:txBody>
          <a:bodyPr wrap="square" lIns="0" tIns="0" rIns="0" bIns="0" rtlCol="0" anchor="t"/>
          <a:lstStyle/>
          <a:p>
            <a:pPr indent="0" marL="0">
              <a:buNone/>
            </a:pPr>
            <a:r>
              <a:rPr lang="en-US" sz="1000" b="1" spc="100" kern="0" dirty="0">
                <a:solidFill>
                  <a:schemeClr val="bg2"/>
                </a:solidFill>
              </a:rPr>
              <a:t>ENABLED BY</a:t>
            </a:r>
            <a:endParaRPr lang="en-US" sz="1000" dirty="0"/>
          </a:p>
        </p:txBody>
      </p:sp>
      <p:sp>
        <p:nvSpPr>
          <p:cNvPr id="29" name="Text 24"/>
          <p:cNvSpPr txBox="1"/>
          <p:nvPr/>
        </p:nvSpPr>
        <p:spPr>
          <a:xfrm>
            <a:off x="5166360" y="4956048"/>
            <a:ext cx="1828800" cy="731520"/>
          </a:xfrm>
          <a:prstGeom prst="rect">
            <a:avLst/>
          </a:prstGeom>
          <a:noFill/>
          <a:ln/>
        </p:spPr>
        <p:txBody>
          <a:bodyPr wrap="square" lIns="0" tIns="0" rIns="0" bIns="0" rtlCol="0" anchor="t"/>
          <a:lstStyle/>
          <a:p>
            <a:pPr indent="0" marL="0">
              <a:buNone/>
            </a:pPr>
            <a:r>
              <a:rPr lang="en-US" sz="1300" dirty="0">
                <a:solidFill>
                  <a:schemeClr val="bg1"/>
                </a:solidFill>
              </a:rPr>
              <a:t>Clienteling app, in-store technology</a:t>
            </a:r>
            <a:endParaRPr lang="en-US" sz="1300" dirty="0"/>
          </a:p>
        </p:txBody>
      </p:sp>
      <p:sp>
        <p:nvSpPr>
          <p:cNvPr id="30" name="Shape 25"/>
          <p:cNvSpPr/>
          <p:nvPr/>
        </p:nvSpPr>
        <p:spPr>
          <a:xfrm>
            <a:off x="7269480" y="1554480"/>
            <a:ext cx="2103120" cy="731520"/>
          </a:xfrm>
          <a:prstGeom prst="homePlate">
            <a:avLst/>
          </a:prstGeom>
          <a:solidFill>
            <a:schemeClr val="accent1"/>
          </a:solidFill>
          <a:ln/>
        </p:spPr>
      </p:sp>
      <p:sp>
        <p:nvSpPr>
          <p:cNvPr id="31" name="Text 26"/>
          <p:cNvSpPr txBox="1"/>
          <p:nvPr/>
        </p:nvSpPr>
        <p:spPr>
          <a:xfrm>
            <a:off x="7406640" y="1554480"/>
            <a:ext cx="1737360" cy="731520"/>
          </a:xfrm>
          <a:prstGeom prst="rect">
            <a:avLst/>
          </a:prstGeom>
          <a:noFill/>
          <a:ln/>
        </p:spPr>
        <p:txBody>
          <a:bodyPr wrap="square" lIns="0" tIns="0" rIns="0" bIns="0" rtlCol="0" anchor="ctr"/>
          <a:lstStyle/>
          <a:p>
            <a:pPr indent="0" marL="0">
              <a:buNone/>
            </a:pPr>
            <a:r>
              <a:rPr lang="en-US" sz="1500" b="1" dirty="0">
                <a:solidFill>
                  <a:schemeClr val="bg1"/>
                </a:solidFill>
              </a:rPr>
              <a:t>4  Take home</a:t>
            </a:r>
            <a:endParaRPr lang="en-US" sz="1500" dirty="0"/>
          </a:p>
        </p:txBody>
      </p:sp>
      <p:sp>
        <p:nvSpPr>
          <p:cNvPr id="32" name="Experience 4"/>
          <p:cNvSpPr/>
          <p:nvPr/>
        </p:nvSpPr>
        <p:spPr>
          <a:xfrm>
            <a:off x="7269480" y="2468880"/>
            <a:ext cx="2103120" cy="2011680"/>
          </a:xfrm>
          <a:prstGeom prst="rect">
            <a:avLst/>
          </a:prstGeom>
          <a:solidFill>
            <a:schemeClr val="bg2"/>
          </a:solidFill>
          <a:ln/>
        </p:spPr>
      </p:sp>
      <p:sp>
        <p:nvSpPr>
          <p:cNvPr id="33" name="Shape 28"/>
          <p:cNvSpPr/>
          <p:nvPr/>
        </p:nvSpPr>
        <p:spPr>
          <a:xfrm>
            <a:off x="7406640" y="2578608"/>
            <a:ext cx="457200" cy="457200"/>
          </a:xfrm>
          <a:prstGeom prst="ellipse">
            <a:avLst/>
          </a:prstGeom>
          <a:solidFill>
            <a:srgbClr val="D52B1E"/>
          </a:solidFill>
          <a:ln/>
        </p:spPr>
      </p:sp>
      <p:pic>
        <p:nvPicPr>
          <p:cNvPr id="34" name="Image 3" descr="icon">    </p:cNvPr>
          <p:cNvPicPr>
            <a:picLocks noChangeAspect="1"/>
          </p:cNvPicPr>
          <p:nvPr/>
        </p:nvPicPr>
        <p:blipFill>
          <a:blip r:embed="rId4"/>
          <a:stretch>
            <a:fillRect/>
          </a:stretch>
        </p:blipFill>
        <p:spPr>
          <a:xfrm>
            <a:off x="7520940" y="2692908"/>
            <a:ext cx="228600" cy="228600"/>
          </a:xfrm>
          <a:prstGeom prst="rect">
            <a:avLst/>
          </a:prstGeom>
        </p:spPr>
      </p:pic>
      <p:sp>
        <p:nvSpPr>
          <p:cNvPr id="35" name="Text 29"/>
          <p:cNvSpPr txBox="1"/>
          <p:nvPr/>
        </p:nvSpPr>
        <p:spPr>
          <a:xfrm>
            <a:off x="7406640" y="3154680"/>
            <a:ext cx="1828800" cy="1280160"/>
          </a:xfrm>
          <a:prstGeom prst="rect">
            <a:avLst/>
          </a:prstGeom>
          <a:noFill/>
          <a:ln/>
        </p:spPr>
        <p:txBody>
          <a:bodyPr wrap="square" lIns="0" tIns="0" rIns="0" bIns="0" rtlCol="0" anchor="t"/>
          <a:lstStyle/>
          <a:p>
            <a:pPr indent="0" marL="0">
              <a:buNone/>
            </a:pPr>
            <a:r>
              <a:rPr lang="en-US" sz="1300" dirty="0">
                <a:solidFill>
                  <a:schemeClr val="tx1"/>
                </a:solidFill>
              </a:rPr>
              <a:t>Her purchase arrives on time, and a return is simple.</a:t>
            </a:r>
            <a:endParaRPr lang="en-US" sz="1300" dirty="0"/>
          </a:p>
        </p:txBody>
      </p:sp>
      <p:sp>
        <p:nvSpPr>
          <p:cNvPr id="36" name="Enabled by 4"/>
          <p:cNvSpPr/>
          <p:nvPr/>
        </p:nvSpPr>
        <p:spPr>
          <a:xfrm>
            <a:off x="7269480" y="4617720"/>
            <a:ext cx="2103120" cy="1097280"/>
          </a:xfrm>
          <a:prstGeom prst="rect">
            <a:avLst/>
          </a:prstGeom>
          <a:solidFill>
            <a:schemeClr val="tx2"/>
          </a:solidFill>
          <a:ln/>
        </p:spPr>
      </p:sp>
      <p:sp>
        <p:nvSpPr>
          <p:cNvPr id="37" name="Text 31"/>
          <p:cNvSpPr txBox="1"/>
          <p:nvPr/>
        </p:nvSpPr>
        <p:spPr>
          <a:xfrm>
            <a:off x="7406640" y="4690872"/>
            <a:ext cx="1828800" cy="228600"/>
          </a:xfrm>
          <a:prstGeom prst="rect">
            <a:avLst/>
          </a:prstGeom>
          <a:noFill/>
          <a:ln/>
        </p:spPr>
        <p:txBody>
          <a:bodyPr wrap="square" lIns="0" tIns="0" rIns="0" bIns="0" rtlCol="0" anchor="t"/>
          <a:lstStyle/>
          <a:p>
            <a:pPr indent="0" marL="0">
              <a:buNone/>
            </a:pPr>
            <a:r>
              <a:rPr lang="en-US" sz="1000" b="1" spc="100" kern="0" dirty="0">
                <a:solidFill>
                  <a:schemeClr val="bg2"/>
                </a:solidFill>
              </a:rPr>
              <a:t>ENABLED BY</a:t>
            </a:r>
            <a:endParaRPr lang="en-US" sz="1000" dirty="0"/>
          </a:p>
        </p:txBody>
      </p:sp>
      <p:sp>
        <p:nvSpPr>
          <p:cNvPr id="38" name="Text 32"/>
          <p:cNvSpPr txBox="1"/>
          <p:nvPr/>
        </p:nvSpPr>
        <p:spPr>
          <a:xfrm>
            <a:off x="7406640" y="4956048"/>
            <a:ext cx="1828800" cy="731520"/>
          </a:xfrm>
          <a:prstGeom prst="rect">
            <a:avLst/>
          </a:prstGeom>
          <a:noFill/>
          <a:ln/>
        </p:spPr>
        <p:txBody>
          <a:bodyPr wrap="square" lIns="0" tIns="0" rIns="0" bIns="0" rtlCol="0" anchor="t"/>
          <a:lstStyle/>
          <a:p>
            <a:pPr indent="0" marL="0">
              <a:buNone/>
            </a:pPr>
            <a:r>
              <a:rPr lang="en-US" sz="1300" dirty="0">
                <a:solidFill>
                  <a:schemeClr val="bg1"/>
                </a:solidFill>
              </a:rPr>
              <a:t>One stock view, fixed delivery and returns</a:t>
            </a:r>
            <a:endParaRPr lang="en-US" sz="1300" dirty="0"/>
          </a:p>
        </p:txBody>
      </p:sp>
      <p:sp>
        <p:nvSpPr>
          <p:cNvPr id="39" name="Shape 33"/>
          <p:cNvSpPr/>
          <p:nvPr/>
        </p:nvSpPr>
        <p:spPr>
          <a:xfrm>
            <a:off x="9509760" y="1554480"/>
            <a:ext cx="2103120" cy="731520"/>
          </a:xfrm>
          <a:prstGeom prst="homePlate">
            <a:avLst/>
          </a:prstGeom>
          <a:solidFill>
            <a:schemeClr val="accent1"/>
          </a:solidFill>
          <a:ln/>
        </p:spPr>
      </p:sp>
      <p:sp>
        <p:nvSpPr>
          <p:cNvPr id="40" name="Text 34"/>
          <p:cNvSpPr txBox="1"/>
          <p:nvPr/>
        </p:nvSpPr>
        <p:spPr>
          <a:xfrm>
            <a:off x="9646920" y="1554480"/>
            <a:ext cx="1737360" cy="731520"/>
          </a:xfrm>
          <a:prstGeom prst="rect">
            <a:avLst/>
          </a:prstGeom>
          <a:noFill/>
          <a:ln/>
        </p:spPr>
        <p:txBody>
          <a:bodyPr wrap="square" lIns="0" tIns="0" rIns="0" bIns="0" rtlCol="0" anchor="ctr"/>
          <a:lstStyle/>
          <a:p>
            <a:pPr indent="0" marL="0">
              <a:buNone/>
            </a:pPr>
            <a:r>
              <a:rPr lang="en-US" sz="1500" b="1" dirty="0">
                <a:solidFill>
                  <a:schemeClr val="bg1"/>
                </a:solidFill>
              </a:rPr>
              <a:t>5  Return</a:t>
            </a:r>
            <a:endParaRPr lang="en-US" sz="1500" dirty="0"/>
          </a:p>
        </p:txBody>
      </p:sp>
      <p:sp>
        <p:nvSpPr>
          <p:cNvPr id="41" name="Experience 5"/>
          <p:cNvSpPr/>
          <p:nvPr/>
        </p:nvSpPr>
        <p:spPr>
          <a:xfrm>
            <a:off x="9509760" y="2468880"/>
            <a:ext cx="2103120" cy="2011680"/>
          </a:xfrm>
          <a:prstGeom prst="rect">
            <a:avLst/>
          </a:prstGeom>
          <a:solidFill>
            <a:schemeClr val="bg2"/>
          </a:solidFill>
          <a:ln/>
        </p:spPr>
      </p:sp>
      <p:sp>
        <p:nvSpPr>
          <p:cNvPr id="42" name="Shape 36"/>
          <p:cNvSpPr/>
          <p:nvPr/>
        </p:nvSpPr>
        <p:spPr>
          <a:xfrm>
            <a:off x="9646920" y="2578608"/>
            <a:ext cx="457200" cy="457200"/>
          </a:xfrm>
          <a:prstGeom prst="ellipse">
            <a:avLst/>
          </a:prstGeom>
          <a:solidFill>
            <a:srgbClr val="D52B1E"/>
          </a:solidFill>
          <a:ln/>
        </p:spPr>
      </p:sp>
      <p:pic>
        <p:nvPicPr>
          <p:cNvPr id="43" name="Image 4" descr="icon">    </p:cNvPr>
          <p:cNvPicPr>
            <a:picLocks noChangeAspect="1"/>
          </p:cNvPicPr>
          <p:nvPr/>
        </p:nvPicPr>
        <p:blipFill>
          <a:blip r:embed="rId5"/>
          <a:stretch>
            <a:fillRect/>
          </a:stretch>
        </p:blipFill>
        <p:spPr>
          <a:xfrm>
            <a:off x="9761220" y="2692908"/>
            <a:ext cx="228600" cy="228600"/>
          </a:xfrm>
          <a:prstGeom prst="rect">
            <a:avLst/>
          </a:prstGeom>
        </p:spPr>
      </p:pic>
      <p:sp>
        <p:nvSpPr>
          <p:cNvPr id="44" name="Text 37"/>
          <p:cNvSpPr txBox="1"/>
          <p:nvPr/>
        </p:nvSpPr>
        <p:spPr>
          <a:xfrm>
            <a:off x="9646920" y="3154680"/>
            <a:ext cx="1828800" cy="1280160"/>
          </a:xfrm>
          <a:prstGeom prst="rect">
            <a:avLst/>
          </a:prstGeom>
          <a:noFill/>
          <a:ln/>
        </p:spPr>
        <p:txBody>
          <a:bodyPr wrap="square" lIns="0" tIns="0" rIns="0" bIns="0" rtlCol="0" anchor="t"/>
          <a:lstStyle/>
          <a:p>
            <a:pPr indent="0" marL="0">
              <a:buNone/>
            </a:pPr>
            <a:r>
              <a:rPr lang="en-US" sz="1300" dirty="0">
                <a:solidFill>
                  <a:schemeClr val="tx1"/>
                </a:solidFill>
              </a:rPr>
              <a:t>Her stylist follows up with looks she will like and event invitations.</a:t>
            </a:r>
            <a:endParaRPr lang="en-US" sz="1300" dirty="0"/>
          </a:p>
        </p:txBody>
      </p:sp>
      <p:sp>
        <p:nvSpPr>
          <p:cNvPr id="45" name="Enabled by 5"/>
          <p:cNvSpPr/>
          <p:nvPr/>
        </p:nvSpPr>
        <p:spPr>
          <a:xfrm>
            <a:off x="9509760" y="4617720"/>
            <a:ext cx="2103120" cy="1097280"/>
          </a:xfrm>
          <a:prstGeom prst="rect">
            <a:avLst/>
          </a:prstGeom>
          <a:solidFill>
            <a:schemeClr val="tx2"/>
          </a:solidFill>
          <a:ln/>
        </p:spPr>
      </p:sp>
      <p:sp>
        <p:nvSpPr>
          <p:cNvPr id="46" name="Text 39"/>
          <p:cNvSpPr txBox="1"/>
          <p:nvPr/>
        </p:nvSpPr>
        <p:spPr>
          <a:xfrm>
            <a:off x="9646920" y="4690872"/>
            <a:ext cx="1828800" cy="228600"/>
          </a:xfrm>
          <a:prstGeom prst="rect">
            <a:avLst/>
          </a:prstGeom>
          <a:noFill/>
          <a:ln/>
        </p:spPr>
        <p:txBody>
          <a:bodyPr wrap="square" lIns="0" tIns="0" rIns="0" bIns="0" rtlCol="0" anchor="t"/>
          <a:lstStyle/>
          <a:p>
            <a:pPr indent="0" marL="0">
              <a:buNone/>
            </a:pPr>
            <a:r>
              <a:rPr lang="en-US" sz="1000" b="1" spc="100" kern="0" dirty="0">
                <a:solidFill>
                  <a:schemeClr val="bg2"/>
                </a:solidFill>
              </a:rPr>
              <a:t>ENABLED BY</a:t>
            </a:r>
            <a:endParaRPr lang="en-US" sz="1000" dirty="0"/>
          </a:p>
        </p:txBody>
      </p:sp>
      <p:sp>
        <p:nvSpPr>
          <p:cNvPr id="47" name="Text 40"/>
          <p:cNvSpPr txBox="1"/>
          <p:nvPr/>
        </p:nvSpPr>
        <p:spPr>
          <a:xfrm>
            <a:off x="9646920" y="4956048"/>
            <a:ext cx="1828800" cy="731520"/>
          </a:xfrm>
          <a:prstGeom prst="rect">
            <a:avLst/>
          </a:prstGeom>
          <a:noFill/>
          <a:ln/>
        </p:spPr>
        <p:txBody>
          <a:bodyPr wrap="square" lIns="0" tIns="0" rIns="0" bIns="0" rtlCol="0" anchor="t"/>
          <a:lstStyle/>
          <a:p>
            <a:pPr indent="0" marL="0">
              <a:buNone/>
            </a:pPr>
            <a:r>
              <a:rPr lang="en-US" sz="1300" dirty="0">
                <a:solidFill>
                  <a:schemeClr val="bg1"/>
                </a:solidFill>
              </a:rPr>
              <a:t>Data-driven personalization, store events</a:t>
            </a:r>
            <a:endParaRPr lang="en-US" sz="1300" dirty="0"/>
          </a:p>
        </p:txBody>
      </p:sp>
      <p:sp>
        <p:nvSpPr>
          <p:cNvPr id="48" name="Text 41"/>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800" i="1" dirty="0">
                <a:solidFill>
                  <a:schemeClr val="tx1"/>
                </a:solidFill>
                <a:latin typeface="+mj-lt" pitchFamily="34" charset="0"/>
                <a:ea typeface="+mj-lt" pitchFamily="34" charset="-122"/>
                <a:cs typeface="+mj-lt" pitchFamily="34" charset="-120"/>
              </a:rPr>
              <a:t>The same Virley welcome, whether she walks into the London store or orders from abroad.</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Technology serves the experience; the IT leadership gap must be closed first</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926080"/>
                <a:gridCol w="4572000"/>
                <a:gridCol w="1188720"/>
                <a:gridCol w="1188720"/>
                <a:gridCol w="1188720"/>
              </a:tblGrid>
              <a:tr h="457200">
                <a:tc>
                  <a:txBody>
                    <a:bodyPr/>
                    <a:lstStyle/>
                    <a:p>
                      <a:pPr algn="l" indent="0" marL="0">
                        <a:buNone/>
                      </a:pPr>
                      <a:r>
                        <a:rPr lang="en-US" sz="1300" b="1" dirty="0">
                          <a:solidFill>
                            <a:schemeClr val="bg1"/>
                          </a:solidFill>
                        </a:rPr>
                        <a:t>Capability</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What it does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Experience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Margin</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People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r>
              <a:tr h="731520">
                <a:tc>
                  <a:txBody>
                    <a:bodyPr/>
                    <a:lstStyle/>
                    <a:p>
                      <a:pPr indent="0" marL="0">
                        <a:buNone/>
                      </a:pPr>
                      <a:r>
                        <a:rPr lang="en-US" sz="1300" b="1" dirty="0">
                          <a:solidFill>
                            <a:schemeClr val="tx1"/>
                          </a:solidFill>
                        </a:rPr>
                        <a:t>Unified inventory visibility</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One view of stock across stores, online and the US distribution centre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731520">
                <a:tc>
                  <a:txBody>
                    <a:bodyPr/>
                    <a:lstStyle/>
                    <a:p>
                      <a:pPr indent="0" marL="0">
                        <a:buNone/>
                      </a:pPr>
                      <a:r>
                        <a:rPr lang="en-US" sz="1300" b="1" dirty="0">
                          <a:solidFill>
                            <a:schemeClr val="tx1"/>
                          </a:solidFill>
                        </a:rPr>
                        <a:t>Client data and in-store technology</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Single client profile and associate tools for personal service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731520">
                <a:tc>
                  <a:txBody>
                    <a:bodyPr/>
                    <a:lstStyle/>
                    <a:p>
                      <a:pPr indent="0" marL="0">
                        <a:buNone/>
                      </a:pPr>
                      <a:r>
                        <a:rPr lang="en-US" sz="1300" b="1" dirty="0">
                          <a:solidFill>
                            <a:schemeClr val="tx1"/>
                          </a:solidFill>
                        </a:rPr>
                        <a:t>Delivery and returns upgrade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Fixes the operational issues flagged in the online report</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731520">
                <a:tc>
                  <a:txBody>
                    <a:bodyPr/>
                    <a:lstStyle/>
                    <a:p>
                      <a:pPr indent="0" marL="0">
                        <a:buNone/>
                      </a:pPr>
                      <a:r>
                        <a:rPr lang="en-US" sz="1300" b="1" dirty="0">
                          <a:solidFill>
                            <a:schemeClr val="tx1"/>
                          </a:solidFill>
                        </a:rPr>
                        <a:t>Integrated people platform</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One employee-first system replacing three separate HR processes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bl>
          </a:graphicData>
        </a:graphic>
      </p:graphicFrame>
      <p:sp>
        <p:nvSpPr>
          <p:cNvPr id="4" name="Text 1"/>
          <p:cNvSpPr txBox="1"/>
          <p:nvPr/>
        </p:nvSpPr>
        <p:spPr>
          <a:xfrm>
            <a:off x="548640" y="5074920"/>
            <a:ext cx="11064240" cy="274320"/>
          </a:xfrm>
          <a:prstGeom prst="rect">
            <a:avLst/>
          </a:prstGeom>
          <a:noFill/>
          <a:ln/>
        </p:spPr>
        <p:txBody>
          <a:bodyPr wrap="square" lIns="0" tIns="0" rIns="0" bIns="0" rtlCol="0" anchor="t"/>
          <a:lstStyle/>
          <a:p>
            <a:pPr indent="0" marL="0">
              <a:buNone/>
            </a:pPr>
            <a:r>
              <a:rPr lang="en-US" sz="1100" dirty="0">
                <a:solidFill>
                  <a:schemeClr val="tx2"/>
                </a:solidFill>
              </a:rPr>
              <a:t>● strong link   ○ some link   Our assessment, to be tested</a:t>
            </a:r>
            <a:endParaRPr lang="en-US" sz="1100" dirty="0"/>
          </a:p>
        </p:txBody>
      </p:sp>
      <p:sp>
        <p:nvSpPr>
          <p:cNvPr id="5" name="Dependency"/>
          <p:cNvSpPr/>
          <p:nvPr/>
        </p:nvSpPr>
        <p:spPr>
          <a:xfrm>
            <a:off x="548640" y="5440680"/>
            <a:ext cx="11064240" cy="777240"/>
          </a:xfrm>
          <a:prstGeom prst="rect">
            <a:avLst/>
          </a:prstGeom>
          <a:solidFill>
            <a:schemeClr val="tx1"/>
          </a:solidFill>
          <a:ln/>
        </p:spPr>
      </p:sp>
      <p:sp>
        <p:nvSpPr>
          <p:cNvPr id="6" name="Text 3"/>
          <p:cNvSpPr txBox="1"/>
          <p:nvPr/>
        </p:nvSpPr>
        <p:spPr>
          <a:xfrm>
            <a:off x="731520" y="5440680"/>
            <a:ext cx="10698480" cy="777240"/>
          </a:xfrm>
          <a:prstGeom prst="rect">
            <a:avLst/>
          </a:prstGeom>
          <a:noFill/>
          <a:ln/>
        </p:spPr>
        <p:txBody>
          <a:bodyPr wrap="square" lIns="0" tIns="0" rIns="0" bIns="0" rtlCol="0" anchor="ctr"/>
          <a:lstStyle/>
          <a:p>
            <a:pPr indent="0" marL="0">
              <a:buNone/>
            </a:pPr>
            <a:r>
              <a:rPr lang="en-US" sz="1500" b="1" dirty="0">
                <a:solidFill>
                  <a:schemeClr val="accent3"/>
                </a:solidFill>
              </a:rPr>
              <a:t>Dependency: </a:t>
            </a:r>
            <a:pPr indent="0" marL="0">
              <a:buNone/>
            </a:pPr>
            <a:r>
              <a:rPr lang="en-US" sz="1500" dirty="0">
                <a:solidFill>
                  <a:schemeClr val="bg1"/>
                </a:solidFill>
              </a:rPr>
              <a:t>the IT director seat has been empty for over six months. An interim leader is needed to deliver any of this.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The idea supports the £2 billion goal through revenue, margin and capability</a:t>
            </a:r>
            <a:endParaRPr lang="en-US" sz="3000" dirty="0"/>
          </a:p>
        </p:txBody>
      </p:sp>
      <p:sp>
        <p:nvSpPr>
          <p:cNvPr id="3" name="Lever 1"/>
          <p:cNvSpPr/>
          <p:nvPr/>
        </p:nvSpPr>
        <p:spPr>
          <a:xfrm>
            <a:off x="548640" y="1554480"/>
            <a:ext cx="3566160" cy="2651760"/>
          </a:xfrm>
          <a:prstGeom prst="rect">
            <a:avLst/>
          </a:prstGeom>
          <a:solidFill>
            <a:schemeClr val="bg2"/>
          </a:solidFill>
          <a:ln/>
        </p:spPr>
      </p:sp>
      <p:sp>
        <p:nvSpPr>
          <p:cNvPr id="4" name="Lever header 1"/>
          <p:cNvSpPr/>
          <p:nvPr/>
        </p:nvSpPr>
        <p:spPr>
          <a:xfrm>
            <a:off x="548640" y="1554480"/>
            <a:ext cx="3566160" cy="457200"/>
          </a:xfrm>
          <a:prstGeom prst="rect">
            <a:avLst/>
          </a:prstGeom>
          <a:solidFill>
            <a:schemeClr val="accent1"/>
          </a:solidFill>
          <a:ln/>
        </p:spPr>
      </p:sp>
      <p:sp>
        <p:nvSpPr>
          <p:cNvPr id="5" name="Text 3"/>
          <p:cNvSpPr txBox="1"/>
          <p:nvPr/>
        </p:nvSpPr>
        <p:spPr>
          <a:xfrm>
            <a:off x="731520" y="1554480"/>
            <a:ext cx="3200400" cy="457200"/>
          </a:xfrm>
          <a:prstGeom prst="rect">
            <a:avLst/>
          </a:prstGeom>
          <a:noFill/>
          <a:ln/>
        </p:spPr>
        <p:txBody>
          <a:bodyPr wrap="square" lIns="0" tIns="0" rIns="0" bIns="0" rtlCol="0" anchor="ctr"/>
          <a:lstStyle/>
          <a:p>
            <a:pPr indent="0" marL="0">
              <a:buNone/>
            </a:pPr>
            <a:r>
              <a:rPr lang="en-US" sz="1500" b="1" dirty="0">
                <a:solidFill>
                  <a:schemeClr val="bg1"/>
                </a:solidFill>
              </a:rPr>
              <a:t>Grow revenue</a:t>
            </a:r>
            <a:endParaRPr lang="en-US" sz="1500" dirty="0"/>
          </a:p>
        </p:txBody>
      </p:sp>
      <p:sp>
        <p:nvSpPr>
          <p:cNvPr id="6" name="Text 4"/>
          <p:cNvSpPr txBox="1"/>
          <p:nvPr/>
        </p:nvSpPr>
        <p:spPr>
          <a:xfrm>
            <a:off x="731520" y="2194560"/>
            <a:ext cx="324612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Lift conversion and basket size through clienteling</a:t>
            </a:r>
            <a:endParaRPr lang="en-US" sz="1300" dirty="0"/>
          </a:p>
          <a:p>
            <a:pPr marL="342900" indent="-342900">
              <a:spcAft>
                <a:spcPts val="600"/>
              </a:spcAft>
              <a:buSzPct val="100000"/>
              <a:buChar char="•"/>
            </a:pPr>
            <a:r>
              <a:rPr lang="en-US" sz="1300" dirty="0">
                <a:solidFill>
                  <a:schemeClr val="tx1"/>
                </a:solidFill>
              </a:rPr>
              <a:t>Fix delivery and returns to unlock global online growth</a:t>
            </a:r>
            <a:endParaRPr lang="en-US" sz="1300" dirty="0"/>
          </a:p>
          <a:p>
            <a:pPr marL="342900" indent="-342900">
              <a:spcAft>
                <a:spcPts val="600"/>
              </a:spcAft>
              <a:buSzPct val="100000"/>
              <a:buChar char="•"/>
            </a:pPr>
            <a:r>
              <a:rPr lang="en-US" sz="1300" dirty="0">
                <a:solidFill>
                  <a:schemeClr val="tx1"/>
                </a:solidFill>
              </a:rPr>
              <a:t>Open new flagships only where the London model is proven</a:t>
            </a:r>
            <a:endParaRPr lang="en-US" sz="1300" dirty="0"/>
          </a:p>
        </p:txBody>
      </p:sp>
      <p:sp>
        <p:nvSpPr>
          <p:cNvPr id="7" name="Lever 2"/>
          <p:cNvSpPr/>
          <p:nvPr/>
        </p:nvSpPr>
        <p:spPr>
          <a:xfrm>
            <a:off x="4297680" y="1554480"/>
            <a:ext cx="3566160" cy="2651760"/>
          </a:xfrm>
          <a:prstGeom prst="rect">
            <a:avLst/>
          </a:prstGeom>
          <a:solidFill>
            <a:schemeClr val="bg2"/>
          </a:solidFill>
          <a:ln/>
        </p:spPr>
      </p:sp>
      <p:sp>
        <p:nvSpPr>
          <p:cNvPr id="8" name="Lever header 2"/>
          <p:cNvSpPr/>
          <p:nvPr/>
        </p:nvSpPr>
        <p:spPr>
          <a:xfrm>
            <a:off x="4297680" y="1554480"/>
            <a:ext cx="3566160" cy="457200"/>
          </a:xfrm>
          <a:prstGeom prst="rect">
            <a:avLst/>
          </a:prstGeom>
          <a:solidFill>
            <a:schemeClr val="accent1"/>
          </a:solidFill>
          <a:ln/>
        </p:spPr>
      </p:sp>
      <p:sp>
        <p:nvSpPr>
          <p:cNvPr id="9" name="Text 7"/>
          <p:cNvSpPr txBox="1"/>
          <p:nvPr/>
        </p:nvSpPr>
        <p:spPr>
          <a:xfrm>
            <a:off x="4480560" y="1554480"/>
            <a:ext cx="3200400" cy="457200"/>
          </a:xfrm>
          <a:prstGeom prst="rect">
            <a:avLst/>
          </a:prstGeom>
          <a:noFill/>
          <a:ln/>
        </p:spPr>
        <p:txBody>
          <a:bodyPr wrap="square" lIns="0" tIns="0" rIns="0" bIns="0" rtlCol="0" anchor="ctr"/>
          <a:lstStyle/>
          <a:p>
            <a:pPr indent="0" marL="0">
              <a:buNone/>
            </a:pPr>
            <a:r>
              <a:rPr lang="en-US" sz="1500" b="1" dirty="0">
                <a:solidFill>
                  <a:schemeClr val="bg1"/>
                </a:solidFill>
              </a:rPr>
              <a:t>Protect margin</a:t>
            </a:r>
            <a:endParaRPr lang="en-US" sz="1500" dirty="0"/>
          </a:p>
        </p:txBody>
      </p:sp>
      <p:sp>
        <p:nvSpPr>
          <p:cNvPr id="10" name="Text 8"/>
          <p:cNvSpPr txBox="1"/>
          <p:nvPr/>
        </p:nvSpPr>
        <p:spPr>
          <a:xfrm>
            <a:off x="4480560" y="2194560"/>
            <a:ext cx="324612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Use one stock view to reduce markdowns and stock-outs</a:t>
            </a:r>
            <a:endParaRPr lang="en-US" sz="1300" dirty="0"/>
          </a:p>
          <a:p>
            <a:pPr marL="342900" indent="-342900">
              <a:spcAft>
                <a:spcPts val="600"/>
              </a:spcAft>
              <a:buSzPct val="100000"/>
              <a:buChar char="•"/>
            </a:pPr>
            <a:r>
              <a:rPr lang="en-US" sz="1300" dirty="0">
                <a:solidFill>
                  <a:schemeClr val="tx1"/>
                </a:solidFill>
              </a:rPr>
              <a:t>Remove manual data reconciling in operations</a:t>
            </a:r>
            <a:endParaRPr lang="en-US" sz="1300" dirty="0"/>
          </a:p>
          <a:p>
            <a:pPr marL="342900" indent="-342900">
              <a:spcAft>
                <a:spcPts val="600"/>
              </a:spcAft>
              <a:buSzPct val="100000"/>
              <a:buChar char="•"/>
            </a:pPr>
            <a:r>
              <a:rPr lang="en-US" sz="1300" dirty="0">
                <a:solidFill>
                  <a:schemeClr val="tx1"/>
                </a:solidFill>
              </a:rPr>
              <a:t>Balance sales bonuses with margin measures</a:t>
            </a:r>
            <a:endParaRPr lang="en-US" sz="1300" dirty="0"/>
          </a:p>
        </p:txBody>
      </p:sp>
      <p:sp>
        <p:nvSpPr>
          <p:cNvPr id="11" name="Lever 3"/>
          <p:cNvSpPr/>
          <p:nvPr/>
        </p:nvSpPr>
        <p:spPr>
          <a:xfrm>
            <a:off x="8046720" y="1554480"/>
            <a:ext cx="3566160" cy="2651760"/>
          </a:xfrm>
          <a:prstGeom prst="rect">
            <a:avLst/>
          </a:prstGeom>
          <a:solidFill>
            <a:schemeClr val="bg2"/>
          </a:solidFill>
          <a:ln/>
        </p:spPr>
      </p:sp>
      <p:sp>
        <p:nvSpPr>
          <p:cNvPr id="12" name="Lever header 3"/>
          <p:cNvSpPr/>
          <p:nvPr/>
        </p:nvSpPr>
        <p:spPr>
          <a:xfrm>
            <a:off x="8046720" y="1554480"/>
            <a:ext cx="3566160" cy="457200"/>
          </a:xfrm>
          <a:prstGeom prst="rect">
            <a:avLst/>
          </a:prstGeom>
          <a:solidFill>
            <a:schemeClr val="accent1"/>
          </a:solidFill>
          <a:ln/>
        </p:spPr>
      </p:sp>
      <p:sp>
        <p:nvSpPr>
          <p:cNvPr id="13" name="Text 11"/>
          <p:cNvSpPr txBox="1"/>
          <p:nvPr/>
        </p:nvSpPr>
        <p:spPr>
          <a:xfrm>
            <a:off x="8229600" y="1554480"/>
            <a:ext cx="3200400" cy="457200"/>
          </a:xfrm>
          <a:prstGeom prst="rect">
            <a:avLst/>
          </a:prstGeom>
          <a:noFill/>
          <a:ln/>
        </p:spPr>
        <p:txBody>
          <a:bodyPr wrap="square" lIns="0" tIns="0" rIns="0" bIns="0" rtlCol="0" anchor="ctr"/>
          <a:lstStyle/>
          <a:p>
            <a:pPr indent="0" marL="0">
              <a:buNone/>
            </a:pPr>
            <a:r>
              <a:rPr lang="en-US" sz="1500" b="1" dirty="0">
                <a:solidFill>
                  <a:schemeClr val="bg1"/>
                </a:solidFill>
              </a:rPr>
              <a:t>Build capability</a:t>
            </a:r>
            <a:endParaRPr lang="en-US" sz="1500" dirty="0"/>
          </a:p>
        </p:txBody>
      </p:sp>
      <p:sp>
        <p:nvSpPr>
          <p:cNvPr id="14" name="Text 12"/>
          <p:cNvSpPr txBox="1"/>
          <p:nvPr/>
        </p:nvSpPr>
        <p:spPr>
          <a:xfrm>
            <a:off x="8229600" y="2194560"/>
            <a:ext cx="324612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Grow talent from within for roles such as Edinburgh GM</a:t>
            </a:r>
            <a:endParaRPr lang="en-US" sz="1300" dirty="0"/>
          </a:p>
          <a:p>
            <a:pPr marL="342900" indent="-342900">
              <a:spcAft>
                <a:spcPts val="600"/>
              </a:spcAft>
              <a:buSzPct val="100000"/>
              <a:buChar char="•"/>
            </a:pPr>
            <a:r>
              <a:rPr lang="en-US" sz="1300" dirty="0">
                <a:solidFill>
                  <a:schemeClr val="tx1"/>
                </a:solidFill>
              </a:rPr>
              <a:t>Run one people platform across all sites</a:t>
            </a:r>
            <a:endParaRPr lang="en-US" sz="1300" dirty="0"/>
          </a:p>
          <a:p>
            <a:pPr marL="342900" indent="-342900">
              <a:spcAft>
                <a:spcPts val="600"/>
              </a:spcAft>
              <a:buSzPct val="100000"/>
              <a:buChar char="•"/>
            </a:pPr>
            <a:r>
              <a:rPr lang="en-US" sz="1300" dirty="0">
                <a:solidFill>
                  <a:schemeClr val="tx1"/>
                </a:solidFill>
              </a:rPr>
              <a:t>Review where online sits in the organisation</a:t>
            </a:r>
            <a:endParaRPr lang="en-US" sz="1300" dirty="0"/>
          </a:p>
        </p:txBody>
      </p:sp>
      <p:sp>
        <p:nvSpPr>
          <p:cNvPr id="15" name="Text 13"/>
          <p:cNvSpPr txBox="1"/>
          <p:nvPr/>
        </p:nvSpPr>
        <p:spPr>
          <a:xfrm>
            <a:off x="548640" y="4389120"/>
            <a:ext cx="1106424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ROLE OF EACH CHANNEL (WORKING HYPOTHESES)</a:t>
            </a:r>
            <a:endParaRPr lang="en-US" sz="1200" dirty="0"/>
          </a:p>
        </p:txBody>
      </p:sp>
      <p:sp>
        <p:nvSpPr>
          <p:cNvPr id="16" name="Channel London"/>
          <p:cNvSpPr/>
          <p:nvPr/>
        </p:nvSpPr>
        <p:spPr>
          <a:xfrm>
            <a:off x="548640" y="4754880"/>
            <a:ext cx="2103120" cy="1371600"/>
          </a:xfrm>
          <a:prstGeom prst="rect">
            <a:avLst/>
          </a:prstGeom>
          <a:solidFill>
            <a:schemeClr val="tx2"/>
          </a:solidFill>
          <a:ln/>
        </p:spPr>
      </p:sp>
      <p:sp>
        <p:nvSpPr>
          <p:cNvPr id="17" name="Text 15"/>
          <p:cNvSpPr txBox="1"/>
          <p:nvPr/>
        </p:nvSpPr>
        <p:spPr>
          <a:xfrm>
            <a:off x="685800" y="4846320"/>
            <a:ext cx="1828800" cy="320040"/>
          </a:xfrm>
          <a:prstGeom prst="rect">
            <a:avLst/>
          </a:prstGeom>
          <a:noFill/>
          <a:ln/>
        </p:spPr>
        <p:txBody>
          <a:bodyPr wrap="square" lIns="0" tIns="0" rIns="0" bIns="0" rtlCol="0" anchor="t"/>
          <a:lstStyle/>
          <a:p>
            <a:pPr indent="0" marL="0">
              <a:buNone/>
            </a:pPr>
            <a:r>
              <a:rPr lang="en-US" sz="1400" b="1" dirty="0">
                <a:solidFill>
                  <a:schemeClr val="bg1"/>
                </a:solidFill>
              </a:rPr>
              <a:t>London</a:t>
            </a:r>
            <a:endParaRPr lang="en-US" sz="1400" dirty="0"/>
          </a:p>
        </p:txBody>
      </p:sp>
      <p:sp>
        <p:nvSpPr>
          <p:cNvPr id="18" name="Text 16"/>
          <p:cNvSpPr txBox="1"/>
          <p:nvPr/>
        </p:nvSpPr>
        <p:spPr>
          <a:xfrm>
            <a:off x="685800" y="5212080"/>
            <a:ext cx="1828800" cy="822960"/>
          </a:xfrm>
          <a:prstGeom prst="rect">
            <a:avLst/>
          </a:prstGeom>
          <a:noFill/>
          <a:ln/>
        </p:spPr>
        <p:txBody>
          <a:bodyPr wrap="square" lIns="0" tIns="0" rIns="0" bIns="0" rtlCol="0" anchor="t"/>
          <a:lstStyle/>
          <a:p>
            <a:pPr indent="0" marL="0">
              <a:buNone/>
            </a:pPr>
            <a:r>
              <a:rPr lang="en-US" sz="1300" dirty="0">
                <a:solidFill>
                  <a:schemeClr val="bg1"/>
                </a:solidFill>
              </a:rPr>
              <a:t>Flagship and experience lab</a:t>
            </a:r>
            <a:endParaRPr lang="en-US" sz="1300" dirty="0"/>
          </a:p>
        </p:txBody>
      </p:sp>
      <p:sp>
        <p:nvSpPr>
          <p:cNvPr id="19" name="Channel Birmingham"/>
          <p:cNvSpPr/>
          <p:nvPr/>
        </p:nvSpPr>
        <p:spPr>
          <a:xfrm>
            <a:off x="2788920" y="4754880"/>
            <a:ext cx="2103120" cy="1371600"/>
          </a:xfrm>
          <a:prstGeom prst="rect">
            <a:avLst/>
          </a:prstGeom>
          <a:solidFill>
            <a:schemeClr val="tx2"/>
          </a:solidFill>
          <a:ln/>
        </p:spPr>
      </p:sp>
      <p:sp>
        <p:nvSpPr>
          <p:cNvPr id="20" name="Text 18"/>
          <p:cNvSpPr txBox="1"/>
          <p:nvPr/>
        </p:nvSpPr>
        <p:spPr>
          <a:xfrm>
            <a:off x="2926080" y="4846320"/>
            <a:ext cx="1828800" cy="320040"/>
          </a:xfrm>
          <a:prstGeom prst="rect">
            <a:avLst/>
          </a:prstGeom>
          <a:noFill/>
          <a:ln/>
        </p:spPr>
        <p:txBody>
          <a:bodyPr wrap="square" lIns="0" tIns="0" rIns="0" bIns="0" rtlCol="0" anchor="t"/>
          <a:lstStyle/>
          <a:p>
            <a:pPr indent="0" marL="0">
              <a:buNone/>
            </a:pPr>
            <a:r>
              <a:rPr lang="en-US" sz="1400" b="1" dirty="0">
                <a:solidFill>
                  <a:schemeClr val="bg1"/>
                </a:solidFill>
              </a:rPr>
              <a:t>Birmingham</a:t>
            </a:r>
            <a:endParaRPr lang="en-US" sz="1400" dirty="0"/>
          </a:p>
        </p:txBody>
      </p:sp>
      <p:sp>
        <p:nvSpPr>
          <p:cNvPr id="21" name="Text 19"/>
          <p:cNvSpPr txBox="1"/>
          <p:nvPr/>
        </p:nvSpPr>
        <p:spPr>
          <a:xfrm>
            <a:off x="2926080" y="5212080"/>
            <a:ext cx="1828800" cy="822960"/>
          </a:xfrm>
          <a:prstGeom prst="rect">
            <a:avLst/>
          </a:prstGeom>
          <a:noFill/>
          <a:ln/>
        </p:spPr>
        <p:txBody>
          <a:bodyPr wrap="square" lIns="0" tIns="0" rIns="0" bIns="0" rtlCol="0" anchor="t"/>
          <a:lstStyle/>
          <a:p>
            <a:pPr indent="0" marL="0">
              <a:buNone/>
            </a:pPr>
            <a:r>
              <a:rPr lang="en-US" sz="1300" dirty="0">
                <a:solidFill>
                  <a:schemeClr val="bg1"/>
                </a:solidFill>
              </a:rPr>
              <a:t>Diagnose the sales decline</a:t>
            </a:r>
            <a:endParaRPr lang="en-US" sz="1300" dirty="0"/>
          </a:p>
        </p:txBody>
      </p:sp>
      <p:sp>
        <p:nvSpPr>
          <p:cNvPr id="22" name="Channel Edinburgh"/>
          <p:cNvSpPr/>
          <p:nvPr/>
        </p:nvSpPr>
        <p:spPr>
          <a:xfrm>
            <a:off x="5029200" y="4754880"/>
            <a:ext cx="2103120" cy="1371600"/>
          </a:xfrm>
          <a:prstGeom prst="rect">
            <a:avLst/>
          </a:prstGeom>
          <a:solidFill>
            <a:schemeClr val="tx2"/>
          </a:solidFill>
          <a:ln/>
        </p:spPr>
      </p:sp>
      <p:sp>
        <p:nvSpPr>
          <p:cNvPr id="23" name="Text 21"/>
          <p:cNvSpPr txBox="1"/>
          <p:nvPr/>
        </p:nvSpPr>
        <p:spPr>
          <a:xfrm>
            <a:off x="5166360" y="4846320"/>
            <a:ext cx="1828800" cy="320040"/>
          </a:xfrm>
          <a:prstGeom prst="rect">
            <a:avLst/>
          </a:prstGeom>
          <a:noFill/>
          <a:ln/>
        </p:spPr>
        <p:txBody>
          <a:bodyPr wrap="square" lIns="0" tIns="0" rIns="0" bIns="0" rtlCol="0" anchor="t"/>
          <a:lstStyle/>
          <a:p>
            <a:pPr indent="0" marL="0">
              <a:buNone/>
            </a:pPr>
            <a:r>
              <a:rPr lang="en-US" sz="1400" b="1" dirty="0">
                <a:solidFill>
                  <a:schemeClr val="bg1"/>
                </a:solidFill>
              </a:rPr>
              <a:t>Edinburgh</a:t>
            </a:r>
            <a:endParaRPr lang="en-US" sz="1400" dirty="0"/>
          </a:p>
        </p:txBody>
      </p:sp>
      <p:sp>
        <p:nvSpPr>
          <p:cNvPr id="24" name="Text 22"/>
          <p:cNvSpPr txBox="1"/>
          <p:nvPr/>
        </p:nvSpPr>
        <p:spPr>
          <a:xfrm>
            <a:off x="5166360" y="5212080"/>
            <a:ext cx="1828800" cy="822960"/>
          </a:xfrm>
          <a:prstGeom prst="rect">
            <a:avLst/>
          </a:prstGeom>
          <a:noFill/>
          <a:ln/>
        </p:spPr>
        <p:txBody>
          <a:bodyPr wrap="square" lIns="0" tIns="0" rIns="0" bIns="0" rtlCol="0" anchor="t"/>
          <a:lstStyle/>
          <a:p>
            <a:pPr indent="0" marL="0">
              <a:buNone/>
            </a:pPr>
            <a:r>
              <a:rPr lang="en-US" sz="1300" dirty="0">
                <a:solidFill>
                  <a:schemeClr val="bg1"/>
                </a:solidFill>
              </a:rPr>
              <a:t>Set clear improvement milestones</a:t>
            </a:r>
            <a:endParaRPr lang="en-US" sz="1300" dirty="0"/>
          </a:p>
        </p:txBody>
      </p:sp>
      <p:sp>
        <p:nvSpPr>
          <p:cNvPr id="25" name="Channel Orlando"/>
          <p:cNvSpPr/>
          <p:nvPr/>
        </p:nvSpPr>
        <p:spPr>
          <a:xfrm>
            <a:off x="7269480" y="4754880"/>
            <a:ext cx="2103120" cy="1371600"/>
          </a:xfrm>
          <a:prstGeom prst="rect">
            <a:avLst/>
          </a:prstGeom>
          <a:solidFill>
            <a:schemeClr val="tx2"/>
          </a:solidFill>
          <a:ln/>
        </p:spPr>
      </p:sp>
      <p:sp>
        <p:nvSpPr>
          <p:cNvPr id="26" name="Text 24"/>
          <p:cNvSpPr txBox="1"/>
          <p:nvPr/>
        </p:nvSpPr>
        <p:spPr>
          <a:xfrm>
            <a:off x="7406640" y="4846320"/>
            <a:ext cx="1828800" cy="320040"/>
          </a:xfrm>
          <a:prstGeom prst="rect">
            <a:avLst/>
          </a:prstGeom>
          <a:noFill/>
          <a:ln/>
        </p:spPr>
        <p:txBody>
          <a:bodyPr wrap="square" lIns="0" tIns="0" rIns="0" bIns="0" rtlCol="0" anchor="t"/>
          <a:lstStyle/>
          <a:p>
            <a:pPr indent="0" marL="0">
              <a:buNone/>
            </a:pPr>
            <a:r>
              <a:rPr lang="en-US" sz="1400" b="1" dirty="0">
                <a:solidFill>
                  <a:schemeClr val="bg1"/>
                </a:solidFill>
              </a:rPr>
              <a:t>Orlando</a:t>
            </a:r>
            <a:endParaRPr lang="en-US" sz="1400" dirty="0"/>
          </a:p>
        </p:txBody>
      </p:sp>
      <p:sp>
        <p:nvSpPr>
          <p:cNvPr id="27" name="Text 25"/>
          <p:cNvSpPr txBox="1"/>
          <p:nvPr/>
        </p:nvSpPr>
        <p:spPr>
          <a:xfrm>
            <a:off x="7406640" y="5212080"/>
            <a:ext cx="1828800" cy="822960"/>
          </a:xfrm>
          <a:prstGeom prst="rect">
            <a:avLst/>
          </a:prstGeom>
          <a:noFill/>
          <a:ln/>
        </p:spPr>
        <p:txBody>
          <a:bodyPr wrap="square" lIns="0" tIns="0" rIns="0" bIns="0" rtlCol="0" anchor="t"/>
          <a:lstStyle/>
          <a:p>
            <a:pPr indent="0" marL="0">
              <a:buNone/>
            </a:pPr>
            <a:r>
              <a:rPr lang="en-US" sz="1300" dirty="0">
                <a:solidFill>
                  <a:schemeClr val="bg1"/>
                </a:solidFill>
              </a:rPr>
              <a:t>Give it the attention it needs</a:t>
            </a:r>
            <a:endParaRPr lang="en-US" sz="1300" dirty="0"/>
          </a:p>
        </p:txBody>
      </p:sp>
      <p:sp>
        <p:nvSpPr>
          <p:cNvPr id="28" name="Channel Online"/>
          <p:cNvSpPr/>
          <p:nvPr/>
        </p:nvSpPr>
        <p:spPr>
          <a:xfrm>
            <a:off x="9509760" y="4754880"/>
            <a:ext cx="2103120" cy="1371600"/>
          </a:xfrm>
          <a:prstGeom prst="rect">
            <a:avLst/>
          </a:prstGeom>
          <a:solidFill>
            <a:schemeClr val="tx2"/>
          </a:solidFill>
          <a:ln/>
        </p:spPr>
      </p:sp>
      <p:sp>
        <p:nvSpPr>
          <p:cNvPr id="29" name="Text 27"/>
          <p:cNvSpPr txBox="1"/>
          <p:nvPr/>
        </p:nvSpPr>
        <p:spPr>
          <a:xfrm>
            <a:off x="9646920" y="4846320"/>
            <a:ext cx="1828800" cy="320040"/>
          </a:xfrm>
          <a:prstGeom prst="rect">
            <a:avLst/>
          </a:prstGeom>
          <a:noFill/>
          <a:ln/>
        </p:spPr>
        <p:txBody>
          <a:bodyPr wrap="square" lIns="0" tIns="0" rIns="0" bIns="0" rtlCol="0" anchor="t"/>
          <a:lstStyle/>
          <a:p>
            <a:pPr indent="0" marL="0">
              <a:buNone/>
            </a:pPr>
            <a:r>
              <a:rPr lang="en-US" sz="1400" b="1" dirty="0">
                <a:solidFill>
                  <a:schemeClr val="bg1"/>
                </a:solidFill>
              </a:rPr>
              <a:t>Online</a:t>
            </a:r>
            <a:endParaRPr lang="en-US" sz="1400" dirty="0"/>
          </a:p>
        </p:txBody>
      </p:sp>
      <p:sp>
        <p:nvSpPr>
          <p:cNvPr id="30" name="Text 28"/>
          <p:cNvSpPr txBox="1"/>
          <p:nvPr/>
        </p:nvSpPr>
        <p:spPr>
          <a:xfrm>
            <a:off x="9646920" y="5212080"/>
            <a:ext cx="1828800" cy="822960"/>
          </a:xfrm>
          <a:prstGeom prst="rect">
            <a:avLst/>
          </a:prstGeom>
          <a:noFill/>
          <a:ln/>
        </p:spPr>
        <p:txBody>
          <a:bodyPr wrap="square" lIns="0" tIns="0" rIns="0" bIns="0" rtlCol="0" anchor="t"/>
          <a:lstStyle/>
          <a:p>
            <a:pPr indent="0" marL="0">
              <a:buNone/>
            </a:pPr>
            <a:r>
              <a:rPr lang="en-US" sz="1300" dirty="0">
                <a:solidFill>
                  <a:schemeClr val="bg1"/>
                </a:solidFill>
              </a:rPr>
              <a:t>Growth engine on fixed operations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A phased roadmap delivers visible results within the first year</a:t>
            </a:r>
            <a:endParaRPr lang="en-US" sz="3000" dirty="0"/>
          </a:p>
        </p:txBody>
      </p:sp>
      <p:sp>
        <p:nvSpPr>
          <p:cNvPr id="3" name="Shape 1"/>
          <p:cNvSpPr/>
          <p:nvPr/>
        </p:nvSpPr>
        <p:spPr>
          <a:xfrm>
            <a:off x="548640" y="1554480"/>
            <a:ext cx="3657600" cy="914400"/>
          </a:xfrm>
          <a:prstGeom prst="homePlate">
            <a:avLst/>
          </a:prstGeom>
          <a:solidFill>
            <a:schemeClr val="accent1"/>
          </a:solidFill>
          <a:ln/>
        </p:spPr>
      </p:sp>
      <p:sp>
        <p:nvSpPr>
          <p:cNvPr id="4" name="Text 2"/>
          <p:cNvSpPr txBox="1"/>
          <p:nvPr/>
        </p:nvSpPr>
        <p:spPr>
          <a:xfrm>
            <a:off x="731520" y="1554480"/>
            <a:ext cx="2926080" cy="914400"/>
          </a:xfrm>
          <a:prstGeom prst="rect">
            <a:avLst/>
          </a:prstGeom>
          <a:noFill/>
          <a:ln/>
        </p:spPr>
        <p:txBody>
          <a:bodyPr wrap="square" lIns="0" tIns="0" rIns="0" bIns="0" rtlCol="0" anchor="ctr"/>
          <a:lstStyle/>
          <a:p>
            <a:pPr indent="0" marL="0">
              <a:buNone/>
            </a:pPr>
            <a:r>
              <a:rPr lang="en-US" sz="1200" dirty="0">
                <a:solidFill>
                  <a:schemeClr val="bg1"/>
                </a:solidFill>
              </a:rPr>
              <a:t>First 100 days</a:t>
            </a:r>
            <a:endParaRPr lang="en-US" sz="1200" dirty="0"/>
          </a:p>
          <a:p>
            <a:pPr indent="0" marL="0">
              <a:buNone/>
            </a:pPr>
            <a:r>
              <a:rPr lang="en-US" sz="2000" b="1" dirty="0">
                <a:solidFill>
                  <a:schemeClr val="bg1"/>
                </a:solidFill>
              </a:rPr>
              <a:t>Foundations</a:t>
            </a:r>
            <a:endParaRPr lang="en-US" sz="1200" dirty="0"/>
          </a:p>
        </p:txBody>
      </p:sp>
      <p:sp>
        <p:nvSpPr>
          <p:cNvPr id="5" name="Phase 1 card"/>
          <p:cNvSpPr/>
          <p:nvPr/>
        </p:nvSpPr>
        <p:spPr>
          <a:xfrm>
            <a:off x="548640" y="2651760"/>
            <a:ext cx="3566160" cy="2743200"/>
          </a:xfrm>
          <a:prstGeom prst="rect">
            <a:avLst/>
          </a:prstGeom>
          <a:solidFill>
            <a:schemeClr val="bg2"/>
          </a:solidFill>
          <a:ln/>
        </p:spPr>
      </p:sp>
      <p:sp>
        <p:nvSpPr>
          <p:cNvPr id="6" name="Text 4"/>
          <p:cNvSpPr txBox="1"/>
          <p:nvPr/>
        </p:nvSpPr>
        <p:spPr>
          <a:xfrm>
            <a:off x="731520" y="2834640"/>
            <a:ext cx="324612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Benchmark V&amp;S against peers</a:t>
            </a:r>
            <a:endParaRPr lang="en-US" sz="1400" dirty="0"/>
          </a:p>
          <a:p>
            <a:pPr marL="342900" indent="-342900">
              <a:spcAft>
                <a:spcPts val="600"/>
              </a:spcAft>
              <a:buSzPct val="100000"/>
              <a:buChar char="•"/>
            </a:pPr>
            <a:r>
              <a:rPr lang="en-US" sz="1400" dirty="0">
                <a:solidFill>
                  <a:schemeClr val="tx1"/>
                </a:solidFill>
              </a:rPr>
              <a:t>Quick wins on online delivery and returns</a:t>
            </a:r>
            <a:endParaRPr lang="en-US" sz="1400" dirty="0"/>
          </a:p>
          <a:p>
            <a:pPr marL="342900" indent="-342900">
              <a:spcAft>
                <a:spcPts val="600"/>
              </a:spcAft>
              <a:buSzPct val="100000"/>
              <a:buChar char="•"/>
            </a:pPr>
            <a:r>
              <a:rPr lang="en-US" sz="1400" dirty="0">
                <a:solidFill>
                  <a:schemeClr val="tx1"/>
                </a:solidFill>
              </a:rPr>
              <a:t>Appoint an interim IT leader</a:t>
            </a:r>
            <a:endParaRPr lang="en-US" sz="1400" dirty="0"/>
          </a:p>
          <a:p>
            <a:pPr marL="342900" indent="-342900">
              <a:spcAft>
                <a:spcPts val="600"/>
              </a:spcAft>
              <a:buSzPct val="100000"/>
              <a:buChar char="•"/>
            </a:pPr>
            <a:r>
              <a:rPr lang="en-US" sz="1400" dirty="0">
                <a:solidFill>
                  <a:schemeClr val="tx1"/>
                </a:solidFill>
              </a:rPr>
              <a:t>Agree channel roles and shared KPIs</a:t>
            </a:r>
            <a:endParaRPr lang="en-US" sz="1400" dirty="0"/>
          </a:p>
        </p:txBody>
      </p:sp>
      <p:sp>
        <p:nvSpPr>
          <p:cNvPr id="7" name="Shape 5"/>
          <p:cNvSpPr/>
          <p:nvPr/>
        </p:nvSpPr>
        <p:spPr>
          <a:xfrm>
            <a:off x="4297680" y="1554480"/>
            <a:ext cx="3657600" cy="914400"/>
          </a:xfrm>
          <a:prstGeom prst="homePlate">
            <a:avLst/>
          </a:prstGeom>
          <a:solidFill>
            <a:schemeClr val="accent2"/>
          </a:solidFill>
          <a:ln/>
        </p:spPr>
      </p:sp>
      <p:sp>
        <p:nvSpPr>
          <p:cNvPr id="8" name="Text 6"/>
          <p:cNvSpPr txBox="1"/>
          <p:nvPr/>
        </p:nvSpPr>
        <p:spPr>
          <a:xfrm>
            <a:off x="4480560" y="1554480"/>
            <a:ext cx="2926080" cy="914400"/>
          </a:xfrm>
          <a:prstGeom prst="rect">
            <a:avLst/>
          </a:prstGeom>
          <a:noFill/>
          <a:ln/>
        </p:spPr>
        <p:txBody>
          <a:bodyPr wrap="square" lIns="0" tIns="0" rIns="0" bIns="0" rtlCol="0" anchor="ctr"/>
          <a:lstStyle/>
          <a:p>
            <a:pPr indent="0" marL="0">
              <a:buNone/>
            </a:pPr>
            <a:r>
              <a:rPr lang="en-US" sz="1200" dirty="0">
                <a:solidFill>
                  <a:schemeClr val="bg1"/>
                </a:solidFill>
              </a:rPr>
              <a:t>Months 4 to 12</a:t>
            </a:r>
            <a:endParaRPr lang="en-US" sz="1200" dirty="0"/>
          </a:p>
          <a:p>
            <a:pPr indent="0" marL="0">
              <a:buNone/>
            </a:pPr>
            <a:r>
              <a:rPr lang="en-US" sz="2000" b="1" dirty="0">
                <a:solidFill>
                  <a:schemeClr val="bg1"/>
                </a:solidFill>
              </a:rPr>
              <a:t>Prove</a:t>
            </a:r>
            <a:endParaRPr lang="en-US" sz="1200" dirty="0"/>
          </a:p>
        </p:txBody>
      </p:sp>
      <p:sp>
        <p:nvSpPr>
          <p:cNvPr id="9" name="Phase 2 card"/>
          <p:cNvSpPr/>
          <p:nvPr/>
        </p:nvSpPr>
        <p:spPr>
          <a:xfrm>
            <a:off x="4297680" y="2651760"/>
            <a:ext cx="3566160" cy="2743200"/>
          </a:xfrm>
          <a:prstGeom prst="rect">
            <a:avLst/>
          </a:prstGeom>
          <a:solidFill>
            <a:schemeClr val="bg2"/>
          </a:solidFill>
          <a:ln/>
        </p:spPr>
      </p:sp>
      <p:sp>
        <p:nvSpPr>
          <p:cNvPr id="10" name="Text 8"/>
          <p:cNvSpPr txBox="1"/>
          <p:nvPr/>
        </p:nvSpPr>
        <p:spPr>
          <a:xfrm>
            <a:off x="4480560" y="2834640"/>
            <a:ext cx="324612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Pilot clienteling and in-store technology in London</a:t>
            </a:r>
            <a:endParaRPr lang="en-US" sz="1400" dirty="0"/>
          </a:p>
          <a:p>
            <a:pPr marL="342900" indent="-342900">
              <a:spcAft>
                <a:spcPts val="600"/>
              </a:spcAft>
              <a:buSzPct val="100000"/>
              <a:buChar char="•"/>
            </a:pPr>
            <a:r>
              <a:rPr lang="en-US" sz="1400" dirty="0">
                <a:solidFill>
                  <a:schemeClr val="tx1"/>
                </a:solidFill>
              </a:rPr>
              <a:t>Roll out unified inventory visibility</a:t>
            </a:r>
            <a:endParaRPr lang="en-US" sz="1400" dirty="0"/>
          </a:p>
          <a:p>
            <a:pPr marL="342900" indent="-342900">
              <a:spcAft>
                <a:spcPts val="600"/>
              </a:spcAft>
              <a:buSzPct val="100000"/>
              <a:buChar char="•"/>
            </a:pPr>
            <a:r>
              <a:rPr lang="en-US" sz="1400" dirty="0">
                <a:solidFill>
                  <a:schemeClr val="tx1"/>
                </a:solidFill>
              </a:rPr>
              <a:t>Design the single people platform</a:t>
            </a:r>
            <a:endParaRPr lang="en-US" sz="1400" dirty="0"/>
          </a:p>
          <a:p>
            <a:pPr marL="342900" indent="-342900">
              <a:spcAft>
                <a:spcPts val="600"/>
              </a:spcAft>
              <a:buSzPct val="100000"/>
              <a:buChar char="•"/>
            </a:pPr>
            <a:r>
              <a:rPr lang="en-US" sz="1400" dirty="0">
                <a:solidFill>
                  <a:schemeClr val="tx1"/>
                </a:solidFill>
              </a:rPr>
              <a:t>Track Edinburgh and Orlando milestones</a:t>
            </a:r>
            <a:endParaRPr lang="en-US" sz="1400" dirty="0"/>
          </a:p>
        </p:txBody>
      </p:sp>
      <p:sp>
        <p:nvSpPr>
          <p:cNvPr id="11" name="Shape 9"/>
          <p:cNvSpPr/>
          <p:nvPr/>
        </p:nvSpPr>
        <p:spPr>
          <a:xfrm>
            <a:off x="8046720" y="1554480"/>
            <a:ext cx="3657600" cy="914400"/>
          </a:xfrm>
          <a:prstGeom prst="homePlate">
            <a:avLst/>
          </a:prstGeom>
          <a:solidFill>
            <a:schemeClr val="accent3"/>
          </a:solidFill>
          <a:ln/>
        </p:spPr>
      </p:sp>
      <p:sp>
        <p:nvSpPr>
          <p:cNvPr id="12" name="Text 10"/>
          <p:cNvSpPr txBox="1"/>
          <p:nvPr/>
        </p:nvSpPr>
        <p:spPr>
          <a:xfrm>
            <a:off x="8229600" y="1554480"/>
            <a:ext cx="2926080" cy="914400"/>
          </a:xfrm>
          <a:prstGeom prst="rect">
            <a:avLst/>
          </a:prstGeom>
          <a:noFill/>
          <a:ln/>
        </p:spPr>
        <p:txBody>
          <a:bodyPr wrap="square" lIns="0" tIns="0" rIns="0" bIns="0" rtlCol="0" anchor="ctr"/>
          <a:lstStyle/>
          <a:p>
            <a:pPr indent="0" marL="0">
              <a:buNone/>
            </a:pPr>
            <a:r>
              <a:rPr lang="en-US" sz="1200" dirty="0">
                <a:solidFill>
                  <a:schemeClr val="tx1"/>
                </a:solidFill>
              </a:rPr>
              <a:t>Year 2</a:t>
            </a:r>
            <a:endParaRPr lang="en-US" sz="1200" dirty="0"/>
          </a:p>
          <a:p>
            <a:pPr indent="0" marL="0">
              <a:buNone/>
            </a:pPr>
            <a:r>
              <a:rPr lang="en-US" sz="2000" b="1" dirty="0">
                <a:solidFill>
                  <a:schemeClr val="tx1"/>
                </a:solidFill>
              </a:rPr>
              <a:t>Scale</a:t>
            </a:r>
            <a:endParaRPr lang="en-US" sz="1200" dirty="0"/>
          </a:p>
        </p:txBody>
      </p:sp>
      <p:sp>
        <p:nvSpPr>
          <p:cNvPr id="13" name="Phase 3 card"/>
          <p:cNvSpPr/>
          <p:nvPr/>
        </p:nvSpPr>
        <p:spPr>
          <a:xfrm>
            <a:off x="8046720" y="2651760"/>
            <a:ext cx="3566160" cy="2743200"/>
          </a:xfrm>
          <a:prstGeom prst="rect">
            <a:avLst/>
          </a:prstGeom>
          <a:solidFill>
            <a:schemeClr val="bg2"/>
          </a:solidFill>
          <a:ln/>
        </p:spPr>
      </p:sp>
      <p:sp>
        <p:nvSpPr>
          <p:cNvPr id="14" name="Text 12"/>
          <p:cNvSpPr txBox="1"/>
          <p:nvPr/>
        </p:nvSpPr>
        <p:spPr>
          <a:xfrm>
            <a:off x="8229600" y="2834640"/>
            <a:ext cx="324612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Extend proven formats to other stores</a:t>
            </a:r>
            <a:endParaRPr lang="en-US" sz="1400" dirty="0"/>
          </a:p>
          <a:p>
            <a:pPr marL="342900" indent="-342900">
              <a:spcAft>
                <a:spcPts val="600"/>
              </a:spcAft>
              <a:buSzPct val="100000"/>
              <a:buChar char="•"/>
            </a:pPr>
            <a:r>
              <a:rPr lang="en-US" sz="1400" dirty="0">
                <a:solidFill>
                  <a:schemeClr val="tx1"/>
                </a:solidFill>
              </a:rPr>
              <a:t>Decide on a web-only acquisition</a:t>
            </a:r>
            <a:endParaRPr lang="en-US" sz="1400" dirty="0"/>
          </a:p>
          <a:p>
            <a:pPr marL="342900" indent="-342900">
              <a:spcAft>
                <a:spcPts val="600"/>
              </a:spcAft>
              <a:buSzPct val="100000"/>
              <a:buChar char="•"/>
            </a:pPr>
            <a:r>
              <a:rPr lang="en-US" sz="1400" dirty="0">
                <a:solidFill>
                  <a:schemeClr val="tx1"/>
                </a:solidFill>
              </a:rPr>
              <a:t>Consider flagships in other major cities</a:t>
            </a:r>
            <a:endParaRPr lang="en-US" sz="1400" dirty="0"/>
          </a:p>
          <a:p>
            <a:pPr marL="342900" indent="-342900">
              <a:spcAft>
                <a:spcPts val="600"/>
              </a:spcAft>
              <a:buSzPct val="100000"/>
              <a:buChar char="•"/>
            </a:pPr>
            <a:r>
              <a:rPr lang="en-US" sz="1400" dirty="0">
                <a:solidFill>
                  <a:schemeClr val="tx1"/>
                </a:solidFill>
              </a:rPr>
              <a:t>Review progress against £2bn and 10%</a:t>
            </a:r>
            <a:endParaRPr lang="en-US" sz="1400" dirty="0"/>
          </a:p>
        </p:txBody>
      </p:sp>
      <p:sp>
        <p:nvSpPr>
          <p:cNvPr id="15" name="Text 13"/>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400" i="1" dirty="0">
                <a:solidFill>
                  <a:schemeClr val="tx2"/>
                </a:solidFill>
              </a:rPr>
              <a:t>Phasing is indicative and will be refined once benchmarking and store-level data are in.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Each leader gets what they need without crowning one channel</a:t>
            </a:r>
            <a:endParaRPr lang="en-US" sz="3000" dirty="0"/>
          </a:p>
        </p:txBody>
      </p:sp>
      <p:sp>
        <p:nvSpPr>
          <p:cNvPr id="3" name="Card Jack, CEO"/>
          <p:cNvSpPr/>
          <p:nvPr/>
        </p:nvSpPr>
        <p:spPr>
          <a:xfrm>
            <a:off x="548640" y="1554480"/>
            <a:ext cx="3566160" cy="3566160"/>
          </a:xfrm>
          <a:prstGeom prst="rect">
            <a:avLst/>
          </a:prstGeom>
          <a:solidFill>
            <a:schemeClr val="bg2"/>
          </a:solidFill>
          <a:ln/>
        </p:spPr>
      </p:sp>
      <p:sp>
        <p:nvSpPr>
          <p:cNvPr id="4" name="Card header Jack, CEO"/>
          <p:cNvSpPr/>
          <p:nvPr/>
        </p:nvSpPr>
        <p:spPr>
          <a:xfrm>
            <a:off x="548640" y="1554480"/>
            <a:ext cx="3566160" cy="502920"/>
          </a:xfrm>
          <a:prstGeom prst="rect">
            <a:avLst/>
          </a:prstGeom>
          <a:solidFill>
            <a:schemeClr val="accent1"/>
          </a:solidFill>
          <a:ln/>
        </p:spPr>
      </p:sp>
      <p:sp>
        <p:nvSpPr>
          <p:cNvPr id="5" name="Text 3"/>
          <p:cNvSpPr txBox="1"/>
          <p:nvPr/>
        </p:nvSpPr>
        <p:spPr>
          <a:xfrm>
            <a:off x="731520" y="1554480"/>
            <a:ext cx="3200400" cy="502920"/>
          </a:xfrm>
          <a:prstGeom prst="rect">
            <a:avLst/>
          </a:prstGeom>
          <a:noFill/>
          <a:ln/>
        </p:spPr>
        <p:txBody>
          <a:bodyPr wrap="square" lIns="0" tIns="0" rIns="0" bIns="0" rtlCol="0" anchor="ctr"/>
          <a:lstStyle/>
          <a:p>
            <a:pPr indent="0" marL="0">
              <a:buNone/>
            </a:pPr>
            <a:r>
              <a:rPr lang="en-US" sz="1600" b="1" dirty="0">
                <a:solidFill>
                  <a:schemeClr val="bg1"/>
                </a:solidFill>
              </a:rPr>
              <a:t>Jack, CEO</a:t>
            </a:r>
            <a:endParaRPr lang="en-US" sz="1600" dirty="0"/>
          </a:p>
        </p:txBody>
      </p:sp>
      <p:sp>
        <p:nvSpPr>
          <p:cNvPr id="6" name="Text 4"/>
          <p:cNvSpPr txBox="1"/>
          <p:nvPr/>
        </p:nvSpPr>
        <p:spPr>
          <a:xfrm>
            <a:off x="731520" y="2286000"/>
            <a:ext cx="324612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growth story anchored in online, with delivery and returns fixed first</a:t>
            </a:r>
            <a:endParaRPr lang="en-US" sz="1400" dirty="0"/>
          </a:p>
          <a:p>
            <a:pPr marL="342900" indent="-342900">
              <a:spcAft>
                <a:spcPts val="600"/>
              </a:spcAft>
              <a:buSzPct val="100000"/>
              <a:buChar char="•"/>
            </a:pPr>
            <a:r>
              <a:rPr lang="en-US" sz="1400" dirty="0">
                <a:solidFill>
                  <a:schemeClr val="tx1"/>
                </a:solidFill>
              </a:rPr>
              <a:t>Fact-based benchmarking that shows where V&amp;S underperforms</a:t>
            </a:r>
            <a:endParaRPr lang="en-US" sz="1400" dirty="0"/>
          </a:p>
          <a:p>
            <a:pPr marL="342900" indent="-342900">
              <a:spcAft>
                <a:spcPts val="600"/>
              </a:spcAft>
              <a:buSzPct val="100000"/>
              <a:buChar char="•"/>
            </a:pPr>
            <a:r>
              <a:rPr lang="en-US" sz="1400" dirty="0">
                <a:solidFill>
                  <a:schemeClr val="tx1"/>
                </a:solidFill>
              </a:rPr>
              <a:t>A clear view on the timing of a web-only acquisition</a:t>
            </a:r>
            <a:endParaRPr lang="en-US" sz="1400" dirty="0"/>
          </a:p>
        </p:txBody>
      </p:sp>
      <p:sp>
        <p:nvSpPr>
          <p:cNvPr id="7" name="Card Ashley, COO"/>
          <p:cNvSpPr/>
          <p:nvPr/>
        </p:nvSpPr>
        <p:spPr>
          <a:xfrm>
            <a:off x="4297680" y="1554480"/>
            <a:ext cx="3566160" cy="3566160"/>
          </a:xfrm>
          <a:prstGeom prst="rect">
            <a:avLst/>
          </a:prstGeom>
          <a:solidFill>
            <a:schemeClr val="bg2"/>
          </a:solidFill>
          <a:ln/>
        </p:spPr>
      </p:sp>
      <p:sp>
        <p:nvSpPr>
          <p:cNvPr id="8" name="Card header Ashley, COO"/>
          <p:cNvSpPr/>
          <p:nvPr/>
        </p:nvSpPr>
        <p:spPr>
          <a:xfrm>
            <a:off x="4297680" y="1554480"/>
            <a:ext cx="3566160" cy="502920"/>
          </a:xfrm>
          <a:prstGeom prst="rect">
            <a:avLst/>
          </a:prstGeom>
          <a:solidFill>
            <a:schemeClr val="accent1"/>
          </a:solidFill>
          <a:ln/>
        </p:spPr>
      </p:sp>
      <p:sp>
        <p:nvSpPr>
          <p:cNvPr id="9" name="Text 7"/>
          <p:cNvSpPr txBox="1"/>
          <p:nvPr/>
        </p:nvSpPr>
        <p:spPr>
          <a:xfrm>
            <a:off x="4480560" y="1554480"/>
            <a:ext cx="3200400" cy="502920"/>
          </a:xfrm>
          <a:prstGeom prst="rect">
            <a:avLst/>
          </a:prstGeom>
          <a:noFill/>
          <a:ln/>
        </p:spPr>
        <p:txBody>
          <a:bodyPr wrap="square" lIns="0" tIns="0" rIns="0" bIns="0" rtlCol="0" anchor="ctr"/>
          <a:lstStyle/>
          <a:p>
            <a:pPr indent="0" marL="0">
              <a:buNone/>
            </a:pPr>
            <a:r>
              <a:rPr lang="en-US" sz="1600" b="1" dirty="0">
                <a:solidFill>
                  <a:schemeClr val="bg1"/>
                </a:solidFill>
              </a:rPr>
              <a:t>Ashley, COO</a:t>
            </a:r>
            <a:endParaRPr lang="en-US" sz="1600" dirty="0"/>
          </a:p>
        </p:txBody>
      </p:sp>
      <p:sp>
        <p:nvSpPr>
          <p:cNvPr id="10" name="Text 8"/>
          <p:cNvSpPr txBox="1"/>
          <p:nvPr/>
        </p:nvSpPr>
        <p:spPr>
          <a:xfrm>
            <a:off x="4480560" y="2286000"/>
            <a:ext cx="324612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Investment in in-store technology, with London as the flagship</a:t>
            </a:r>
            <a:endParaRPr lang="en-US" sz="1400" dirty="0"/>
          </a:p>
          <a:p>
            <a:pPr marL="342900" indent="-342900">
              <a:spcAft>
                <a:spcPts val="600"/>
              </a:spcAft>
              <a:buSzPct val="100000"/>
              <a:buChar char="•"/>
            </a:pPr>
            <a:r>
              <a:rPr lang="en-US" sz="1400" dirty="0">
                <a:solidFill>
                  <a:schemeClr val="tx1"/>
                </a:solidFill>
              </a:rPr>
              <a:t>One inventory view and less manual reconciling</a:t>
            </a:r>
            <a:endParaRPr lang="en-US" sz="1400" dirty="0"/>
          </a:p>
          <a:p>
            <a:pPr marL="342900" indent="-342900">
              <a:spcAft>
                <a:spcPts val="600"/>
              </a:spcAft>
              <a:buSzPct val="100000"/>
              <a:buChar char="•"/>
            </a:pPr>
            <a:r>
              <a:rPr lang="en-US" sz="1400" dirty="0">
                <a:solidFill>
                  <a:schemeClr val="tx1"/>
                </a:solidFill>
              </a:rPr>
              <a:t>A clear role for each store so Edinburgh and Orlando both get attention</a:t>
            </a:r>
            <a:endParaRPr lang="en-US" sz="1400" dirty="0"/>
          </a:p>
        </p:txBody>
      </p:sp>
      <p:sp>
        <p:nvSpPr>
          <p:cNvPr id="11" name="Card The board"/>
          <p:cNvSpPr/>
          <p:nvPr/>
        </p:nvSpPr>
        <p:spPr>
          <a:xfrm>
            <a:off x="8046720" y="1554480"/>
            <a:ext cx="3566160" cy="3566160"/>
          </a:xfrm>
          <a:prstGeom prst="rect">
            <a:avLst/>
          </a:prstGeom>
          <a:solidFill>
            <a:schemeClr val="bg2"/>
          </a:solidFill>
          <a:ln/>
        </p:spPr>
      </p:sp>
      <p:sp>
        <p:nvSpPr>
          <p:cNvPr id="12" name="Card header The board"/>
          <p:cNvSpPr/>
          <p:nvPr/>
        </p:nvSpPr>
        <p:spPr>
          <a:xfrm>
            <a:off x="8046720" y="1554480"/>
            <a:ext cx="3566160" cy="502920"/>
          </a:xfrm>
          <a:prstGeom prst="rect">
            <a:avLst/>
          </a:prstGeom>
          <a:solidFill>
            <a:schemeClr val="tx2"/>
          </a:solidFill>
          <a:ln/>
        </p:spPr>
      </p:sp>
      <p:sp>
        <p:nvSpPr>
          <p:cNvPr id="13" name="Text 11"/>
          <p:cNvSpPr txBox="1"/>
          <p:nvPr/>
        </p:nvSpPr>
        <p:spPr>
          <a:xfrm>
            <a:off x="8229600" y="1554480"/>
            <a:ext cx="3200400" cy="502920"/>
          </a:xfrm>
          <a:prstGeom prst="rect">
            <a:avLst/>
          </a:prstGeom>
          <a:noFill/>
          <a:ln/>
        </p:spPr>
        <p:txBody>
          <a:bodyPr wrap="square" lIns="0" tIns="0" rIns="0" bIns="0" rtlCol="0" anchor="ctr"/>
          <a:lstStyle/>
          <a:p>
            <a:pPr indent="0" marL="0">
              <a:buNone/>
            </a:pPr>
            <a:r>
              <a:rPr lang="en-US" sz="1600" b="1" dirty="0">
                <a:solidFill>
                  <a:schemeClr val="bg1"/>
                </a:solidFill>
              </a:rPr>
              <a:t>The board</a:t>
            </a:r>
            <a:endParaRPr lang="en-US" sz="1600" dirty="0"/>
          </a:p>
        </p:txBody>
      </p:sp>
      <p:sp>
        <p:nvSpPr>
          <p:cNvPr id="14" name="Text 12"/>
          <p:cNvSpPr txBox="1"/>
          <p:nvPr/>
        </p:nvSpPr>
        <p:spPr>
          <a:xfrm>
            <a:off x="8229600" y="2286000"/>
            <a:ext cx="324612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shared fact base to settle the debate on strategy</a:t>
            </a:r>
            <a:endParaRPr lang="en-US" sz="1400" dirty="0"/>
          </a:p>
          <a:p>
            <a:pPr marL="342900" indent="-342900">
              <a:spcAft>
                <a:spcPts val="600"/>
              </a:spcAft>
              <a:buSzPct val="100000"/>
              <a:buChar char="•"/>
            </a:pPr>
            <a:r>
              <a:rPr lang="en-US" sz="1400" dirty="0">
                <a:solidFill>
                  <a:schemeClr val="tx1"/>
                </a:solidFill>
              </a:rPr>
              <a:t>Shared KPIs that balance sales and margin</a:t>
            </a:r>
            <a:endParaRPr lang="en-US" sz="1400" dirty="0"/>
          </a:p>
          <a:p>
            <a:pPr marL="342900" indent="-342900">
              <a:spcAft>
                <a:spcPts val="600"/>
              </a:spcAft>
              <a:buSzPct val="100000"/>
              <a:buChar char="•"/>
            </a:pPr>
            <a:r>
              <a:rPr lang="en-US" sz="1400" dirty="0">
                <a:solidFill>
                  <a:schemeClr val="tx1"/>
                </a:solidFill>
              </a:rPr>
              <a:t>A named owner for each initiative</a:t>
            </a:r>
            <a:endParaRPr lang="en-US" sz="1400" dirty="0"/>
          </a:p>
        </p:txBody>
      </p:sp>
      <p:sp>
        <p:nvSpPr>
          <p:cNvPr id="15" name="Risks"/>
          <p:cNvSpPr/>
          <p:nvPr/>
        </p:nvSpPr>
        <p:spPr>
          <a:xfrm>
            <a:off x="548640" y="5349240"/>
            <a:ext cx="11064240" cy="822960"/>
          </a:xfrm>
          <a:prstGeom prst="rect">
            <a:avLst/>
          </a:prstGeom>
          <a:solidFill>
            <a:schemeClr val="bg1"/>
          </a:solidFill>
          <a:ln w="12700">
            <a:solidFill>
              <a:srgbClr val="D52B1E"/>
            </a:solidFill>
            <a:prstDash val="solid"/>
          </a:ln>
        </p:spPr>
      </p:sp>
      <p:sp>
        <p:nvSpPr>
          <p:cNvPr id="16" name="Text 14"/>
          <p:cNvSpPr txBox="1"/>
          <p:nvPr/>
        </p:nvSpPr>
        <p:spPr>
          <a:xfrm>
            <a:off x="777240" y="5349240"/>
            <a:ext cx="10607040" cy="822960"/>
          </a:xfrm>
          <a:prstGeom prst="rect">
            <a:avLst/>
          </a:prstGeom>
          <a:noFill/>
          <a:ln/>
        </p:spPr>
        <p:txBody>
          <a:bodyPr wrap="square" lIns="0" tIns="0" rIns="0" bIns="0" rtlCol="0" anchor="ctr"/>
          <a:lstStyle/>
          <a:p>
            <a:pPr indent="0" marL="0">
              <a:buNone/>
            </a:pPr>
            <a:r>
              <a:rPr lang="en-US" sz="1500" b="1" dirty="0">
                <a:solidFill>
                  <a:schemeClr val="accent1"/>
                </a:solidFill>
              </a:rPr>
              <a:t>Biggest risks: </a:t>
            </a:r>
            <a:pPr indent="0" marL="0">
              <a:buNone/>
            </a:pPr>
            <a:r>
              <a:rPr lang="en-US" sz="1500" dirty="0">
                <a:solidFill>
                  <a:schemeClr val="tx1"/>
                </a:solidFill>
              </a:rPr>
              <a:t>leadership disagreement on stores versus online, the IT leadership gap, and change fatigue across three sites.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bg1"/>
                </a:solidFill>
              </a:rPr>
              <a:t>We ask for three decisions today and will deliver facts in 30 days</a:t>
            </a:r>
            <a:endParaRPr lang="en-US" sz="3000" dirty="0"/>
          </a:p>
        </p:txBody>
      </p:sp>
      <p:sp>
        <p:nvSpPr>
          <p:cNvPr id="3" name="Decisions card"/>
          <p:cNvSpPr/>
          <p:nvPr/>
        </p:nvSpPr>
        <p:spPr>
          <a:xfrm>
            <a:off x="548640" y="1645920"/>
            <a:ext cx="5486400" cy="4206240"/>
          </a:xfrm>
          <a:prstGeom prst="rect">
            <a:avLst/>
          </a:prstGeom>
          <a:solidFill>
            <a:schemeClr val="accent1"/>
          </a:solidFill>
          <a:ln/>
        </p:spPr>
      </p:sp>
      <p:sp>
        <p:nvSpPr>
          <p:cNvPr id="4" name="Text 2"/>
          <p:cNvSpPr txBox="1"/>
          <p:nvPr/>
        </p:nvSpPr>
        <p:spPr>
          <a:xfrm>
            <a:off x="822960" y="1874520"/>
            <a:ext cx="493776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Decisions today</a:t>
            </a:r>
            <a:endParaRPr lang="en-US" sz="2200" dirty="0"/>
          </a:p>
        </p:txBody>
      </p:sp>
      <p:sp>
        <p:nvSpPr>
          <p:cNvPr id="5" name="Shape 3"/>
          <p:cNvSpPr/>
          <p:nvPr/>
        </p:nvSpPr>
        <p:spPr>
          <a:xfrm>
            <a:off x="822960" y="2606040"/>
            <a:ext cx="502920" cy="502920"/>
          </a:xfrm>
          <a:prstGeom prst="ellipse">
            <a:avLst/>
          </a:prstGeom>
          <a:solidFill>
            <a:schemeClr val="bg1"/>
          </a:solidFill>
          <a:ln/>
        </p:spPr>
      </p:sp>
      <p:sp>
        <p:nvSpPr>
          <p:cNvPr id="6" name="Text 4"/>
          <p:cNvSpPr txBox="1"/>
          <p:nvPr/>
        </p:nvSpPr>
        <p:spPr>
          <a:xfrm>
            <a:off x="822960" y="260604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 name="Text 5"/>
          <p:cNvSpPr txBox="1"/>
          <p:nvPr/>
        </p:nvSpPr>
        <p:spPr>
          <a:xfrm>
            <a:off x="1508760" y="2560320"/>
            <a:ext cx="4297680" cy="914400"/>
          </a:xfrm>
          <a:prstGeom prst="rect">
            <a:avLst/>
          </a:prstGeom>
          <a:noFill/>
          <a:ln/>
        </p:spPr>
        <p:txBody>
          <a:bodyPr wrap="square" lIns="0" tIns="0" rIns="0" bIns="0" rtlCol="0" anchor="t"/>
          <a:lstStyle/>
          <a:p>
            <a:pPr indent="0" marL="0">
              <a:buNone/>
            </a:pPr>
            <a:r>
              <a:rPr lang="en-US" sz="1600" dirty="0">
                <a:solidFill>
                  <a:schemeClr val="bg1"/>
                </a:solidFill>
              </a:rPr>
              <a:t>Endorse the reframe to one Virley experience in every channel</a:t>
            </a:r>
            <a:endParaRPr lang="en-US" sz="1600" dirty="0"/>
          </a:p>
        </p:txBody>
      </p:sp>
      <p:sp>
        <p:nvSpPr>
          <p:cNvPr id="8" name="Shape 6"/>
          <p:cNvSpPr/>
          <p:nvPr/>
        </p:nvSpPr>
        <p:spPr>
          <a:xfrm>
            <a:off x="822960" y="3657600"/>
            <a:ext cx="502920" cy="502920"/>
          </a:xfrm>
          <a:prstGeom prst="ellipse">
            <a:avLst/>
          </a:prstGeom>
          <a:solidFill>
            <a:schemeClr val="bg1"/>
          </a:solidFill>
          <a:ln/>
        </p:spPr>
      </p:sp>
      <p:sp>
        <p:nvSpPr>
          <p:cNvPr id="9" name="Text 7"/>
          <p:cNvSpPr txBox="1"/>
          <p:nvPr/>
        </p:nvSpPr>
        <p:spPr>
          <a:xfrm>
            <a:off x="822960" y="365760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0" name="Text 8"/>
          <p:cNvSpPr txBox="1"/>
          <p:nvPr/>
        </p:nvSpPr>
        <p:spPr>
          <a:xfrm>
            <a:off x="1508760" y="3611880"/>
            <a:ext cx="4297680" cy="914400"/>
          </a:xfrm>
          <a:prstGeom prst="rect">
            <a:avLst/>
          </a:prstGeom>
          <a:noFill/>
          <a:ln/>
        </p:spPr>
        <p:txBody>
          <a:bodyPr wrap="square" lIns="0" tIns="0" rIns="0" bIns="0" rtlCol="0" anchor="t"/>
          <a:lstStyle/>
          <a:p>
            <a:pPr indent="0" marL="0">
              <a:buNone/>
            </a:pPr>
            <a:r>
              <a:rPr lang="en-US" sz="1600" dirty="0">
                <a:solidFill>
                  <a:schemeClr val="bg1"/>
                </a:solidFill>
              </a:rPr>
              <a:t>Agree to prove the model in the London flagship</a:t>
            </a:r>
            <a:endParaRPr lang="en-US" sz="1600" dirty="0"/>
          </a:p>
        </p:txBody>
      </p:sp>
      <p:sp>
        <p:nvSpPr>
          <p:cNvPr id="11" name="Shape 9"/>
          <p:cNvSpPr/>
          <p:nvPr/>
        </p:nvSpPr>
        <p:spPr>
          <a:xfrm>
            <a:off x="822960" y="4709160"/>
            <a:ext cx="502920" cy="502920"/>
          </a:xfrm>
          <a:prstGeom prst="ellipse">
            <a:avLst/>
          </a:prstGeom>
          <a:solidFill>
            <a:schemeClr val="bg1"/>
          </a:solidFill>
          <a:ln/>
        </p:spPr>
      </p:sp>
      <p:sp>
        <p:nvSpPr>
          <p:cNvPr id="12" name="Text 10"/>
          <p:cNvSpPr txBox="1"/>
          <p:nvPr/>
        </p:nvSpPr>
        <p:spPr>
          <a:xfrm>
            <a:off x="822960" y="470916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3" name="Text 11"/>
          <p:cNvSpPr txBox="1"/>
          <p:nvPr/>
        </p:nvSpPr>
        <p:spPr>
          <a:xfrm>
            <a:off x="1508760" y="4663440"/>
            <a:ext cx="4297680" cy="914400"/>
          </a:xfrm>
          <a:prstGeom prst="rect">
            <a:avLst/>
          </a:prstGeom>
          <a:noFill/>
          <a:ln/>
        </p:spPr>
        <p:txBody>
          <a:bodyPr wrap="square" lIns="0" tIns="0" rIns="0" bIns="0" rtlCol="0" anchor="t"/>
          <a:lstStyle/>
          <a:p>
            <a:pPr indent="0" marL="0">
              <a:buNone/>
            </a:pPr>
            <a:r>
              <a:rPr lang="en-US" sz="1600" dirty="0">
                <a:solidFill>
                  <a:schemeClr val="bg1"/>
                </a:solidFill>
              </a:rPr>
              <a:t>Name sponsors and an interim IT leader</a:t>
            </a:r>
            <a:endParaRPr lang="en-US" sz="1600" dirty="0"/>
          </a:p>
        </p:txBody>
      </p:sp>
      <p:sp>
        <p:nvSpPr>
          <p:cNvPr id="14" name="Next 30 days card"/>
          <p:cNvSpPr/>
          <p:nvPr/>
        </p:nvSpPr>
        <p:spPr>
          <a:xfrm>
            <a:off x="6309360" y="1645920"/>
            <a:ext cx="5303520" cy="4206240"/>
          </a:xfrm>
          <a:prstGeom prst="rect">
            <a:avLst/>
          </a:prstGeom>
          <a:solidFill>
            <a:schemeClr val="tx2"/>
          </a:solidFill>
          <a:ln/>
        </p:spPr>
      </p:sp>
      <p:sp>
        <p:nvSpPr>
          <p:cNvPr id="15" name="Text 13"/>
          <p:cNvSpPr txBox="1"/>
          <p:nvPr/>
        </p:nvSpPr>
        <p:spPr>
          <a:xfrm>
            <a:off x="6583680" y="1874520"/>
            <a:ext cx="475488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Next 30 days</a:t>
            </a:r>
            <a:endParaRPr lang="en-US" sz="2200" dirty="0"/>
          </a:p>
        </p:txBody>
      </p:sp>
      <p:sp>
        <p:nvSpPr>
          <p:cNvPr id="16" name="Text 14"/>
          <p:cNvSpPr txBox="1"/>
          <p:nvPr/>
        </p:nvSpPr>
        <p:spPr>
          <a:xfrm>
            <a:off x="6583680" y="260604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rPr>
              <a:t>Benchmark V&amp;S against peers</a:t>
            </a:r>
            <a:endParaRPr lang="en-US" sz="1600" dirty="0"/>
          </a:p>
          <a:p>
            <a:pPr marL="342900" indent="-342900">
              <a:spcAft>
                <a:spcPts val="1200"/>
              </a:spcAft>
              <a:buSzPct val="100000"/>
              <a:buChar char="•"/>
            </a:pPr>
            <a:r>
              <a:rPr lang="en-US" sz="1600" dirty="0">
                <a:solidFill>
                  <a:schemeClr val="bg1"/>
                </a:solidFill>
              </a:rPr>
              <a:t>Map the client journey and review the online report</a:t>
            </a:r>
            <a:endParaRPr lang="en-US" sz="1600" dirty="0"/>
          </a:p>
          <a:p>
            <a:pPr marL="342900" indent="-342900">
              <a:spcAft>
                <a:spcPts val="1200"/>
              </a:spcAft>
              <a:buSzPct val="100000"/>
              <a:buChar char="•"/>
            </a:pPr>
            <a:r>
              <a:rPr lang="en-US" sz="1600" dirty="0">
                <a:solidFill>
                  <a:schemeClr val="bg1"/>
                </a:solidFill>
              </a:rPr>
              <a:t>Build a store-level P&amp;L baseline</a:t>
            </a:r>
            <a:endParaRPr lang="en-US" sz="1600" dirty="0"/>
          </a:p>
          <a:p>
            <a:pPr marL="342900" indent="-342900">
              <a:spcAft>
                <a:spcPts val="1200"/>
              </a:spcAft>
              <a:buSzPct val="100000"/>
              <a:buChar char="•"/>
            </a:pPr>
            <a:r>
              <a:rPr lang="en-US" sz="1600" dirty="0">
                <a:solidFill>
                  <a:schemeClr val="bg1"/>
                </a:solidFill>
              </a:rPr>
              <a:t>Hold a board alignment workshop</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Appendix: we chose grouping logic because the audience is action-oriented</a:t>
            </a:r>
            <a:endParaRPr lang="en-US" sz="3000" dirty="0"/>
          </a:p>
        </p:txBody>
      </p:sp>
      <p:sp>
        <p:nvSpPr>
          <p:cNvPr id="3" name="Text 1"/>
          <p:cNvSpPr txBox="1"/>
          <p:nvPr/>
        </p:nvSpPr>
        <p:spPr>
          <a:xfrm>
            <a:off x="548640" y="1600200"/>
            <a:ext cx="3566160" cy="320040"/>
          </a:xfrm>
          <a:prstGeom prst="rect">
            <a:avLst/>
          </a:prstGeom>
          <a:noFill/>
          <a:ln/>
        </p:spPr>
        <p:txBody>
          <a:bodyPr wrap="square" lIns="0" tIns="0" rIns="0" bIns="0" rtlCol="0" anchor="t"/>
          <a:lstStyle/>
          <a:p>
            <a:pPr indent="0" marL="0">
              <a:buNone/>
            </a:pPr>
            <a:r>
              <a:rPr lang="en-US" sz="1600" b="1" dirty="0">
                <a:solidFill>
                  <a:schemeClr val="accent1"/>
                </a:solidFill>
              </a:rPr>
              <a:t>Deductive logic</a:t>
            </a:r>
            <a:endParaRPr lang="en-US" sz="1600" dirty="0"/>
          </a:p>
        </p:txBody>
      </p:sp>
      <p:sp>
        <p:nvSpPr>
          <p:cNvPr id="4" name="Shape 2"/>
          <p:cNvSpPr/>
          <p:nvPr/>
        </p:nvSpPr>
        <p:spPr>
          <a:xfrm>
            <a:off x="548640" y="2011680"/>
            <a:ext cx="3566160" cy="3291840"/>
          </a:xfrm>
          <a:prstGeom prst="rect">
            <a:avLst/>
          </a:prstGeom>
          <a:solidFill>
            <a:schemeClr val="bg1"/>
          </a:solidFill>
          <a:ln w="12700">
            <a:solidFill>
              <a:schemeClr val="accent5"/>
            </a:solidFill>
            <a:prstDash val="solid"/>
          </a:ln>
        </p:spPr>
      </p:sp>
      <p:sp>
        <p:nvSpPr>
          <p:cNvPr id="5" name="Text 3"/>
          <p:cNvSpPr txBox="1"/>
          <p:nvPr/>
        </p:nvSpPr>
        <p:spPr>
          <a:xfrm>
            <a:off x="731520" y="2148840"/>
            <a:ext cx="3200400" cy="320040"/>
          </a:xfrm>
          <a:prstGeom prst="rect">
            <a:avLst/>
          </a:prstGeom>
          <a:noFill/>
          <a:ln/>
        </p:spPr>
        <p:txBody>
          <a:bodyPr wrap="square" lIns="0" tIns="0" rIns="0" bIns="0" rtlCol="0" anchor="t"/>
          <a:lstStyle/>
          <a:p>
            <a:pPr indent="0" marL="0">
              <a:buNone/>
            </a:pPr>
            <a:r>
              <a:rPr lang="en-US" sz="1600" b="1" dirty="0">
                <a:solidFill>
                  <a:schemeClr val="tx1"/>
                </a:solidFill>
              </a:rPr>
              <a:t>Argument</a:t>
            </a:r>
            <a:endParaRPr lang="en-US" sz="1600" dirty="0"/>
          </a:p>
        </p:txBody>
      </p:sp>
      <p:sp>
        <p:nvSpPr>
          <p:cNvPr id="6" name="Text 4"/>
          <p:cNvSpPr txBox="1"/>
          <p:nvPr/>
        </p:nvSpPr>
        <p:spPr>
          <a:xfrm>
            <a:off x="731520" y="2514600"/>
            <a:ext cx="3200400" cy="548640"/>
          </a:xfrm>
          <a:prstGeom prst="rect">
            <a:avLst/>
          </a:prstGeom>
          <a:noFill/>
          <a:ln/>
        </p:spPr>
        <p:txBody>
          <a:bodyPr wrap="square" lIns="0" tIns="0" rIns="0" bIns="0" rtlCol="0" anchor="t"/>
          <a:lstStyle/>
          <a:p>
            <a:pPr indent="0" marL="0">
              <a:buNone/>
            </a:pPr>
            <a:r>
              <a:rPr lang="en-US" sz="1300" dirty="0">
                <a:solidFill>
                  <a:schemeClr val="tx2"/>
                </a:solidFill>
              </a:rPr>
              <a:t>Particularly effective with a resistive audience</a:t>
            </a:r>
            <a:endParaRPr lang="en-US" sz="1300" dirty="0"/>
          </a:p>
        </p:txBody>
      </p:sp>
      <p:sp>
        <p:nvSpPr>
          <p:cNvPr id="7" name="Core message 1"/>
          <p:cNvSpPr/>
          <p:nvPr/>
        </p:nvSpPr>
        <p:spPr>
          <a:xfrm>
            <a:off x="1417320" y="3337560"/>
            <a:ext cx="1828800" cy="548640"/>
          </a:xfrm>
          <a:prstGeom prst="rect">
            <a:avLst/>
          </a:prstGeom>
          <a:solidFill>
            <a:schemeClr val="accent1"/>
          </a:solidFill>
          <a:ln/>
        </p:spPr>
      </p:sp>
      <p:sp>
        <p:nvSpPr>
          <p:cNvPr id="8" name="Text 6"/>
          <p:cNvSpPr txBox="1"/>
          <p:nvPr/>
        </p:nvSpPr>
        <p:spPr>
          <a:xfrm>
            <a:off x="1417320" y="3337560"/>
            <a:ext cx="1828800" cy="548640"/>
          </a:xfrm>
          <a:prstGeom prst="rect">
            <a:avLst/>
          </a:prstGeom>
          <a:noFill/>
          <a:ln/>
        </p:spPr>
        <p:txBody>
          <a:bodyPr wrap="square" lIns="0" tIns="0" rIns="0" bIns="0" rtlCol="0" anchor="ctr"/>
          <a:lstStyle/>
          <a:p>
            <a:pPr algn="ctr" indent="0" marL="0">
              <a:buNone/>
            </a:pPr>
            <a:r>
              <a:rPr lang="en-US" sz="1200" b="1" dirty="0">
                <a:solidFill>
                  <a:schemeClr val="bg1"/>
                </a:solidFill>
              </a:rPr>
              <a:t>Core message</a:t>
            </a:r>
            <a:endParaRPr lang="en-US" sz="1200" dirty="0"/>
          </a:p>
        </p:txBody>
      </p:sp>
      <p:sp>
        <p:nvSpPr>
          <p:cNvPr id="9" name="Shape 7"/>
          <p:cNvSpPr/>
          <p:nvPr/>
        </p:nvSpPr>
        <p:spPr>
          <a:xfrm>
            <a:off x="2331720" y="3886200"/>
            <a:ext cx="0" cy="274320"/>
          </a:xfrm>
          <a:prstGeom prst="line">
            <a:avLst/>
          </a:prstGeom>
          <a:noFill/>
          <a:ln w="12700">
            <a:solidFill>
              <a:schemeClr val="tx2"/>
            </a:solidFill>
            <a:prstDash val="solid"/>
          </a:ln>
        </p:spPr>
      </p:sp>
      <p:sp>
        <p:nvSpPr>
          <p:cNvPr id="10" name="Shape 8"/>
          <p:cNvSpPr/>
          <p:nvPr/>
        </p:nvSpPr>
        <p:spPr>
          <a:xfrm>
            <a:off x="1188720" y="4160520"/>
            <a:ext cx="2286000" cy="0"/>
          </a:xfrm>
          <a:prstGeom prst="line">
            <a:avLst/>
          </a:prstGeom>
          <a:noFill/>
          <a:ln w="12700">
            <a:solidFill>
              <a:schemeClr val="tx2"/>
            </a:solidFill>
            <a:prstDash val="solid"/>
          </a:ln>
        </p:spPr>
      </p:sp>
      <p:sp>
        <p:nvSpPr>
          <p:cNvPr id="11" name="Shape 9"/>
          <p:cNvSpPr/>
          <p:nvPr/>
        </p:nvSpPr>
        <p:spPr>
          <a:xfrm>
            <a:off x="1234440" y="4160520"/>
            <a:ext cx="0" cy="274320"/>
          </a:xfrm>
          <a:prstGeom prst="line">
            <a:avLst/>
          </a:prstGeom>
          <a:noFill/>
          <a:ln w="12700">
            <a:solidFill>
              <a:schemeClr val="tx2"/>
            </a:solidFill>
            <a:prstDash val="solid"/>
          </a:ln>
        </p:spPr>
      </p:sp>
      <p:sp>
        <p:nvSpPr>
          <p:cNvPr id="12" name="Box 1.1"/>
          <p:cNvSpPr/>
          <p:nvPr/>
        </p:nvSpPr>
        <p:spPr>
          <a:xfrm>
            <a:off x="731520" y="4434840"/>
            <a:ext cx="1005840" cy="640080"/>
          </a:xfrm>
          <a:prstGeom prst="rect">
            <a:avLst/>
          </a:prstGeom>
          <a:solidFill>
            <a:schemeClr val="tx2"/>
          </a:solidFill>
          <a:ln/>
        </p:spPr>
      </p:sp>
      <p:sp>
        <p:nvSpPr>
          <p:cNvPr id="13" name="Text 11"/>
          <p:cNvSpPr txBox="1"/>
          <p:nvPr/>
        </p:nvSpPr>
        <p:spPr>
          <a:xfrm>
            <a:off x="75895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Statement</a:t>
            </a:r>
            <a:endParaRPr lang="en-US" sz="1000" dirty="0"/>
          </a:p>
        </p:txBody>
      </p:sp>
      <p:sp>
        <p:nvSpPr>
          <p:cNvPr id="14" name="Shape 12"/>
          <p:cNvSpPr/>
          <p:nvPr/>
        </p:nvSpPr>
        <p:spPr>
          <a:xfrm>
            <a:off x="2331720" y="4160520"/>
            <a:ext cx="0" cy="274320"/>
          </a:xfrm>
          <a:prstGeom prst="line">
            <a:avLst/>
          </a:prstGeom>
          <a:noFill/>
          <a:ln w="12700">
            <a:solidFill>
              <a:schemeClr val="tx2"/>
            </a:solidFill>
            <a:prstDash val="solid"/>
          </a:ln>
        </p:spPr>
      </p:sp>
      <p:sp>
        <p:nvSpPr>
          <p:cNvPr id="15" name="Box 1.2"/>
          <p:cNvSpPr/>
          <p:nvPr/>
        </p:nvSpPr>
        <p:spPr>
          <a:xfrm>
            <a:off x="1828800" y="4434840"/>
            <a:ext cx="1005840" cy="640080"/>
          </a:xfrm>
          <a:prstGeom prst="rect">
            <a:avLst/>
          </a:prstGeom>
          <a:solidFill>
            <a:schemeClr val="tx2"/>
          </a:solidFill>
          <a:ln/>
        </p:spPr>
      </p:sp>
      <p:sp>
        <p:nvSpPr>
          <p:cNvPr id="16" name="Text 14"/>
          <p:cNvSpPr txBox="1"/>
          <p:nvPr/>
        </p:nvSpPr>
        <p:spPr>
          <a:xfrm>
            <a:off x="185623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Comment</a:t>
            </a:r>
            <a:endParaRPr lang="en-US" sz="1000" dirty="0"/>
          </a:p>
        </p:txBody>
      </p:sp>
      <p:sp>
        <p:nvSpPr>
          <p:cNvPr id="17" name="Shape 15"/>
          <p:cNvSpPr/>
          <p:nvPr/>
        </p:nvSpPr>
        <p:spPr>
          <a:xfrm>
            <a:off x="3429000" y="4160520"/>
            <a:ext cx="0" cy="274320"/>
          </a:xfrm>
          <a:prstGeom prst="line">
            <a:avLst/>
          </a:prstGeom>
          <a:noFill/>
          <a:ln w="12700">
            <a:solidFill>
              <a:schemeClr val="tx2"/>
            </a:solidFill>
            <a:prstDash val="solid"/>
          </a:ln>
        </p:spPr>
      </p:sp>
      <p:sp>
        <p:nvSpPr>
          <p:cNvPr id="18" name="Box 1.3"/>
          <p:cNvSpPr/>
          <p:nvPr/>
        </p:nvSpPr>
        <p:spPr>
          <a:xfrm>
            <a:off x="2926080" y="4434840"/>
            <a:ext cx="1005840" cy="640080"/>
          </a:xfrm>
          <a:prstGeom prst="rect">
            <a:avLst/>
          </a:prstGeom>
          <a:solidFill>
            <a:schemeClr val="tx2"/>
          </a:solidFill>
          <a:ln/>
        </p:spPr>
      </p:sp>
      <p:sp>
        <p:nvSpPr>
          <p:cNvPr id="19" name="Text 17"/>
          <p:cNvSpPr txBox="1"/>
          <p:nvPr/>
        </p:nvSpPr>
        <p:spPr>
          <a:xfrm>
            <a:off x="295351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Recommen-dation</a:t>
            </a:r>
            <a:endParaRPr lang="en-US" sz="1000" dirty="0"/>
          </a:p>
        </p:txBody>
      </p:sp>
      <p:sp>
        <p:nvSpPr>
          <p:cNvPr id="20" name="Text 18"/>
          <p:cNvSpPr txBox="1"/>
          <p:nvPr/>
        </p:nvSpPr>
        <p:spPr>
          <a:xfrm>
            <a:off x="4297680" y="1600200"/>
            <a:ext cx="3566160" cy="320040"/>
          </a:xfrm>
          <a:prstGeom prst="rect">
            <a:avLst/>
          </a:prstGeom>
          <a:noFill/>
          <a:ln/>
        </p:spPr>
        <p:txBody>
          <a:bodyPr wrap="square" lIns="0" tIns="0" rIns="0" bIns="0" rtlCol="0" anchor="t"/>
          <a:lstStyle/>
          <a:p>
            <a:pPr indent="0" marL="0">
              <a:buNone/>
            </a:pPr>
            <a:r>
              <a:rPr lang="en-US" sz="1600" b="1" dirty="0">
                <a:solidFill>
                  <a:schemeClr val="accent1"/>
                </a:solidFill>
              </a:rPr>
              <a:t>Inductive logic  (our choice)</a:t>
            </a:r>
            <a:endParaRPr lang="en-US" sz="1600" dirty="0"/>
          </a:p>
        </p:txBody>
      </p:sp>
      <p:sp>
        <p:nvSpPr>
          <p:cNvPr id="21" name="Shape 19"/>
          <p:cNvSpPr/>
          <p:nvPr/>
        </p:nvSpPr>
        <p:spPr>
          <a:xfrm>
            <a:off x="4297680" y="2011680"/>
            <a:ext cx="3566160" cy="3291840"/>
          </a:xfrm>
          <a:prstGeom prst="rect">
            <a:avLst/>
          </a:prstGeom>
          <a:solidFill>
            <a:schemeClr val="bg2"/>
          </a:solidFill>
          <a:ln w="31750">
            <a:solidFill>
              <a:schemeClr val="accent1"/>
            </a:solidFill>
            <a:prstDash val="solid"/>
          </a:ln>
        </p:spPr>
      </p:sp>
      <p:sp>
        <p:nvSpPr>
          <p:cNvPr id="22" name="Text 20"/>
          <p:cNvSpPr txBox="1"/>
          <p:nvPr/>
        </p:nvSpPr>
        <p:spPr>
          <a:xfrm>
            <a:off x="4480560" y="2148840"/>
            <a:ext cx="3200400" cy="320040"/>
          </a:xfrm>
          <a:prstGeom prst="rect">
            <a:avLst/>
          </a:prstGeom>
          <a:noFill/>
          <a:ln/>
        </p:spPr>
        <p:txBody>
          <a:bodyPr wrap="square" lIns="0" tIns="0" rIns="0" bIns="0" rtlCol="0" anchor="t"/>
          <a:lstStyle/>
          <a:p>
            <a:pPr indent="0" marL="0">
              <a:buNone/>
            </a:pPr>
            <a:r>
              <a:rPr lang="en-US" sz="1600" b="1" dirty="0">
                <a:solidFill>
                  <a:schemeClr val="tx1"/>
                </a:solidFill>
              </a:rPr>
              <a:t>Grouping</a:t>
            </a:r>
            <a:endParaRPr lang="en-US" sz="1600" dirty="0"/>
          </a:p>
        </p:txBody>
      </p:sp>
      <p:sp>
        <p:nvSpPr>
          <p:cNvPr id="23" name="Text 21"/>
          <p:cNvSpPr txBox="1"/>
          <p:nvPr/>
        </p:nvSpPr>
        <p:spPr>
          <a:xfrm>
            <a:off x="4480560" y="2514600"/>
            <a:ext cx="3200400" cy="548640"/>
          </a:xfrm>
          <a:prstGeom prst="rect">
            <a:avLst/>
          </a:prstGeom>
          <a:noFill/>
          <a:ln/>
        </p:spPr>
        <p:txBody>
          <a:bodyPr wrap="square" lIns="0" tIns="0" rIns="0" bIns="0" rtlCol="0" anchor="t"/>
          <a:lstStyle/>
          <a:p>
            <a:pPr indent="0" marL="0">
              <a:buNone/>
            </a:pPr>
            <a:r>
              <a:rPr lang="en-US" sz="1300" dirty="0">
                <a:solidFill>
                  <a:schemeClr val="tx2"/>
                </a:solidFill>
              </a:rPr>
              <a:t>Very effective for an action-oriented audience</a:t>
            </a:r>
            <a:endParaRPr lang="en-US" sz="1300" dirty="0"/>
          </a:p>
        </p:txBody>
      </p:sp>
      <p:sp>
        <p:nvSpPr>
          <p:cNvPr id="24" name="Core message 2"/>
          <p:cNvSpPr/>
          <p:nvPr/>
        </p:nvSpPr>
        <p:spPr>
          <a:xfrm>
            <a:off x="5166360" y="3337560"/>
            <a:ext cx="1828800" cy="548640"/>
          </a:xfrm>
          <a:prstGeom prst="rect">
            <a:avLst/>
          </a:prstGeom>
          <a:solidFill>
            <a:schemeClr val="accent1"/>
          </a:solidFill>
          <a:ln/>
        </p:spPr>
      </p:sp>
      <p:sp>
        <p:nvSpPr>
          <p:cNvPr id="25" name="Text 23"/>
          <p:cNvSpPr txBox="1"/>
          <p:nvPr/>
        </p:nvSpPr>
        <p:spPr>
          <a:xfrm>
            <a:off x="5166360" y="3337560"/>
            <a:ext cx="1828800" cy="548640"/>
          </a:xfrm>
          <a:prstGeom prst="rect">
            <a:avLst/>
          </a:prstGeom>
          <a:noFill/>
          <a:ln/>
        </p:spPr>
        <p:txBody>
          <a:bodyPr wrap="square" lIns="0" tIns="0" rIns="0" bIns="0" rtlCol="0" anchor="ctr"/>
          <a:lstStyle/>
          <a:p>
            <a:pPr algn="ctr" indent="0" marL="0">
              <a:buNone/>
            </a:pPr>
            <a:r>
              <a:rPr lang="en-US" sz="1200" b="1" dirty="0">
                <a:solidFill>
                  <a:schemeClr val="bg1"/>
                </a:solidFill>
              </a:rPr>
              <a:t>Core message</a:t>
            </a:r>
            <a:endParaRPr lang="en-US" sz="1200" dirty="0"/>
          </a:p>
        </p:txBody>
      </p:sp>
      <p:sp>
        <p:nvSpPr>
          <p:cNvPr id="26" name="Shape 24"/>
          <p:cNvSpPr/>
          <p:nvPr/>
        </p:nvSpPr>
        <p:spPr>
          <a:xfrm>
            <a:off x="6080760" y="3886200"/>
            <a:ext cx="0" cy="274320"/>
          </a:xfrm>
          <a:prstGeom prst="line">
            <a:avLst/>
          </a:prstGeom>
          <a:noFill/>
          <a:ln w="12700">
            <a:solidFill>
              <a:schemeClr val="tx2"/>
            </a:solidFill>
            <a:prstDash val="solid"/>
          </a:ln>
        </p:spPr>
      </p:sp>
      <p:sp>
        <p:nvSpPr>
          <p:cNvPr id="27" name="Shape 25"/>
          <p:cNvSpPr/>
          <p:nvPr/>
        </p:nvSpPr>
        <p:spPr>
          <a:xfrm>
            <a:off x="4937760" y="4160520"/>
            <a:ext cx="2286000" cy="0"/>
          </a:xfrm>
          <a:prstGeom prst="line">
            <a:avLst/>
          </a:prstGeom>
          <a:noFill/>
          <a:ln w="12700">
            <a:solidFill>
              <a:schemeClr val="tx2"/>
            </a:solidFill>
            <a:prstDash val="solid"/>
          </a:ln>
        </p:spPr>
      </p:sp>
      <p:sp>
        <p:nvSpPr>
          <p:cNvPr id="28" name="Shape 26"/>
          <p:cNvSpPr/>
          <p:nvPr/>
        </p:nvSpPr>
        <p:spPr>
          <a:xfrm>
            <a:off x="4983480" y="4160520"/>
            <a:ext cx="0" cy="274320"/>
          </a:xfrm>
          <a:prstGeom prst="line">
            <a:avLst/>
          </a:prstGeom>
          <a:noFill/>
          <a:ln w="12700">
            <a:solidFill>
              <a:schemeClr val="tx2"/>
            </a:solidFill>
            <a:prstDash val="solid"/>
          </a:ln>
        </p:spPr>
      </p:sp>
      <p:sp>
        <p:nvSpPr>
          <p:cNvPr id="29" name="Box 2.1"/>
          <p:cNvSpPr/>
          <p:nvPr/>
        </p:nvSpPr>
        <p:spPr>
          <a:xfrm>
            <a:off x="4480560" y="4434840"/>
            <a:ext cx="1005840" cy="640080"/>
          </a:xfrm>
          <a:prstGeom prst="rect">
            <a:avLst/>
          </a:prstGeom>
          <a:solidFill>
            <a:schemeClr val="tx2"/>
          </a:solidFill>
          <a:ln/>
        </p:spPr>
      </p:sp>
      <p:sp>
        <p:nvSpPr>
          <p:cNvPr id="30" name="Text 28"/>
          <p:cNvSpPr txBox="1"/>
          <p:nvPr/>
        </p:nvSpPr>
        <p:spPr>
          <a:xfrm>
            <a:off x="450799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Reason 1</a:t>
            </a:r>
            <a:endParaRPr lang="en-US" sz="1000" dirty="0"/>
          </a:p>
        </p:txBody>
      </p:sp>
      <p:sp>
        <p:nvSpPr>
          <p:cNvPr id="31" name="Shape 29"/>
          <p:cNvSpPr/>
          <p:nvPr/>
        </p:nvSpPr>
        <p:spPr>
          <a:xfrm>
            <a:off x="6080760" y="4160520"/>
            <a:ext cx="0" cy="274320"/>
          </a:xfrm>
          <a:prstGeom prst="line">
            <a:avLst/>
          </a:prstGeom>
          <a:noFill/>
          <a:ln w="12700">
            <a:solidFill>
              <a:schemeClr val="tx2"/>
            </a:solidFill>
            <a:prstDash val="solid"/>
          </a:ln>
        </p:spPr>
      </p:sp>
      <p:sp>
        <p:nvSpPr>
          <p:cNvPr id="32" name="Box 2.2"/>
          <p:cNvSpPr/>
          <p:nvPr/>
        </p:nvSpPr>
        <p:spPr>
          <a:xfrm>
            <a:off x="5577840" y="4434840"/>
            <a:ext cx="1005840" cy="640080"/>
          </a:xfrm>
          <a:prstGeom prst="rect">
            <a:avLst/>
          </a:prstGeom>
          <a:solidFill>
            <a:schemeClr val="tx2"/>
          </a:solidFill>
          <a:ln/>
        </p:spPr>
      </p:sp>
      <p:sp>
        <p:nvSpPr>
          <p:cNvPr id="33" name="Text 31"/>
          <p:cNvSpPr txBox="1"/>
          <p:nvPr/>
        </p:nvSpPr>
        <p:spPr>
          <a:xfrm>
            <a:off x="560527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Reason 2</a:t>
            </a:r>
            <a:endParaRPr lang="en-US" sz="1000" dirty="0"/>
          </a:p>
        </p:txBody>
      </p:sp>
      <p:sp>
        <p:nvSpPr>
          <p:cNvPr id="34" name="Shape 32"/>
          <p:cNvSpPr/>
          <p:nvPr/>
        </p:nvSpPr>
        <p:spPr>
          <a:xfrm>
            <a:off x="7178040" y="4160520"/>
            <a:ext cx="0" cy="274320"/>
          </a:xfrm>
          <a:prstGeom prst="line">
            <a:avLst/>
          </a:prstGeom>
          <a:noFill/>
          <a:ln w="12700">
            <a:solidFill>
              <a:schemeClr val="tx2"/>
            </a:solidFill>
            <a:prstDash val="solid"/>
          </a:ln>
        </p:spPr>
      </p:sp>
      <p:sp>
        <p:nvSpPr>
          <p:cNvPr id="35" name="Box 2.3"/>
          <p:cNvSpPr/>
          <p:nvPr/>
        </p:nvSpPr>
        <p:spPr>
          <a:xfrm>
            <a:off x="6675120" y="4434840"/>
            <a:ext cx="1005840" cy="640080"/>
          </a:xfrm>
          <a:prstGeom prst="rect">
            <a:avLst/>
          </a:prstGeom>
          <a:solidFill>
            <a:schemeClr val="tx2"/>
          </a:solidFill>
          <a:ln/>
        </p:spPr>
      </p:sp>
      <p:sp>
        <p:nvSpPr>
          <p:cNvPr id="36" name="Text 34"/>
          <p:cNvSpPr txBox="1"/>
          <p:nvPr/>
        </p:nvSpPr>
        <p:spPr>
          <a:xfrm>
            <a:off x="670255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Reason 3</a:t>
            </a:r>
            <a:endParaRPr lang="en-US" sz="1000" dirty="0"/>
          </a:p>
        </p:txBody>
      </p:sp>
      <p:sp>
        <p:nvSpPr>
          <p:cNvPr id="37" name="Text 35"/>
          <p:cNvSpPr txBox="1"/>
          <p:nvPr/>
        </p:nvSpPr>
        <p:spPr>
          <a:xfrm>
            <a:off x="8046720" y="1600200"/>
            <a:ext cx="3566160" cy="320040"/>
          </a:xfrm>
          <a:prstGeom prst="rect">
            <a:avLst/>
          </a:prstGeom>
          <a:noFill/>
          <a:ln/>
        </p:spPr>
        <p:txBody>
          <a:bodyPr wrap="square" lIns="0" tIns="0" rIns="0" bIns="0" rtlCol="0" anchor="t"/>
          <a:lstStyle/>
          <a:p>
            <a:pPr indent="0" marL="0">
              <a:buNone/>
            </a:pPr>
            <a:r>
              <a:rPr lang="en-US" sz="1600" b="1" dirty="0">
                <a:solidFill>
                  <a:schemeClr val="accent1"/>
                </a:solidFill>
              </a:rPr>
              <a:t>Abductive logic</a:t>
            </a:r>
            <a:endParaRPr lang="en-US" sz="1600" dirty="0"/>
          </a:p>
        </p:txBody>
      </p:sp>
      <p:sp>
        <p:nvSpPr>
          <p:cNvPr id="38" name="Shape 36"/>
          <p:cNvSpPr/>
          <p:nvPr/>
        </p:nvSpPr>
        <p:spPr>
          <a:xfrm>
            <a:off x="8046720" y="2011680"/>
            <a:ext cx="3566160" cy="3291840"/>
          </a:xfrm>
          <a:prstGeom prst="rect">
            <a:avLst/>
          </a:prstGeom>
          <a:solidFill>
            <a:schemeClr val="bg1"/>
          </a:solidFill>
          <a:ln w="12700">
            <a:solidFill>
              <a:schemeClr val="accent5"/>
            </a:solidFill>
            <a:prstDash val="solid"/>
          </a:ln>
        </p:spPr>
      </p:sp>
      <p:sp>
        <p:nvSpPr>
          <p:cNvPr id="39" name="Text 37"/>
          <p:cNvSpPr txBox="1"/>
          <p:nvPr/>
        </p:nvSpPr>
        <p:spPr>
          <a:xfrm>
            <a:off x="8229600" y="2148840"/>
            <a:ext cx="3200400" cy="320040"/>
          </a:xfrm>
          <a:prstGeom prst="rect">
            <a:avLst/>
          </a:prstGeom>
          <a:noFill/>
          <a:ln/>
        </p:spPr>
        <p:txBody>
          <a:bodyPr wrap="square" lIns="0" tIns="0" rIns="0" bIns="0" rtlCol="0" anchor="t"/>
          <a:lstStyle/>
          <a:p>
            <a:pPr indent="0" marL="0">
              <a:buNone/>
            </a:pPr>
            <a:r>
              <a:rPr lang="en-US" sz="1600" b="1" dirty="0">
                <a:solidFill>
                  <a:schemeClr val="tx1"/>
                </a:solidFill>
              </a:rPr>
              <a:t>Test</a:t>
            </a:r>
            <a:endParaRPr lang="en-US" sz="1600" dirty="0"/>
          </a:p>
        </p:txBody>
      </p:sp>
      <p:sp>
        <p:nvSpPr>
          <p:cNvPr id="40" name="Text 38"/>
          <p:cNvSpPr txBox="1"/>
          <p:nvPr/>
        </p:nvSpPr>
        <p:spPr>
          <a:xfrm>
            <a:off x="8229600" y="2514600"/>
            <a:ext cx="3200400" cy="548640"/>
          </a:xfrm>
          <a:prstGeom prst="rect">
            <a:avLst/>
          </a:prstGeom>
          <a:noFill/>
          <a:ln/>
        </p:spPr>
        <p:txBody>
          <a:bodyPr wrap="square" lIns="0" tIns="0" rIns="0" bIns="0" rtlCol="0" anchor="t"/>
          <a:lstStyle/>
          <a:p>
            <a:pPr indent="0" marL="0">
              <a:buNone/>
            </a:pPr>
            <a:r>
              <a:rPr lang="en-US" sz="1300" dirty="0">
                <a:solidFill>
                  <a:schemeClr val="tx2"/>
                </a:solidFill>
              </a:rPr>
              <a:t>Effective in convincing skeptical audiences</a:t>
            </a:r>
            <a:endParaRPr lang="en-US" sz="1300" dirty="0"/>
          </a:p>
        </p:txBody>
      </p:sp>
      <p:sp>
        <p:nvSpPr>
          <p:cNvPr id="41" name="Core message 3"/>
          <p:cNvSpPr/>
          <p:nvPr/>
        </p:nvSpPr>
        <p:spPr>
          <a:xfrm>
            <a:off x="8915400" y="3337560"/>
            <a:ext cx="1828800" cy="548640"/>
          </a:xfrm>
          <a:prstGeom prst="rect">
            <a:avLst/>
          </a:prstGeom>
          <a:solidFill>
            <a:schemeClr val="accent1"/>
          </a:solidFill>
          <a:ln/>
        </p:spPr>
      </p:sp>
      <p:sp>
        <p:nvSpPr>
          <p:cNvPr id="42" name="Text 40"/>
          <p:cNvSpPr txBox="1"/>
          <p:nvPr/>
        </p:nvSpPr>
        <p:spPr>
          <a:xfrm>
            <a:off x="8915400" y="3337560"/>
            <a:ext cx="1828800" cy="548640"/>
          </a:xfrm>
          <a:prstGeom prst="rect">
            <a:avLst/>
          </a:prstGeom>
          <a:noFill/>
          <a:ln/>
        </p:spPr>
        <p:txBody>
          <a:bodyPr wrap="square" lIns="0" tIns="0" rIns="0" bIns="0" rtlCol="0" anchor="ctr"/>
          <a:lstStyle/>
          <a:p>
            <a:pPr algn="ctr" indent="0" marL="0">
              <a:buNone/>
            </a:pPr>
            <a:r>
              <a:rPr lang="en-US" sz="1200" b="1" dirty="0">
                <a:solidFill>
                  <a:schemeClr val="bg1"/>
                </a:solidFill>
              </a:rPr>
              <a:t>Core message</a:t>
            </a:r>
            <a:endParaRPr lang="en-US" sz="1200" dirty="0"/>
          </a:p>
        </p:txBody>
      </p:sp>
      <p:sp>
        <p:nvSpPr>
          <p:cNvPr id="43" name="Shape 41"/>
          <p:cNvSpPr/>
          <p:nvPr/>
        </p:nvSpPr>
        <p:spPr>
          <a:xfrm>
            <a:off x="9829800" y="3886200"/>
            <a:ext cx="0" cy="274320"/>
          </a:xfrm>
          <a:prstGeom prst="line">
            <a:avLst/>
          </a:prstGeom>
          <a:noFill/>
          <a:ln w="12700">
            <a:solidFill>
              <a:schemeClr val="tx2"/>
            </a:solidFill>
            <a:prstDash val="solid"/>
          </a:ln>
        </p:spPr>
      </p:sp>
      <p:sp>
        <p:nvSpPr>
          <p:cNvPr id="44" name="Shape 42"/>
          <p:cNvSpPr/>
          <p:nvPr/>
        </p:nvSpPr>
        <p:spPr>
          <a:xfrm>
            <a:off x="8686800" y="4160520"/>
            <a:ext cx="2286000" cy="0"/>
          </a:xfrm>
          <a:prstGeom prst="line">
            <a:avLst/>
          </a:prstGeom>
          <a:noFill/>
          <a:ln w="12700">
            <a:solidFill>
              <a:schemeClr val="tx2"/>
            </a:solidFill>
            <a:prstDash val="solid"/>
          </a:ln>
        </p:spPr>
      </p:sp>
      <p:sp>
        <p:nvSpPr>
          <p:cNvPr id="45" name="Shape 43"/>
          <p:cNvSpPr/>
          <p:nvPr/>
        </p:nvSpPr>
        <p:spPr>
          <a:xfrm>
            <a:off x="8732520" y="4160520"/>
            <a:ext cx="0" cy="274320"/>
          </a:xfrm>
          <a:prstGeom prst="line">
            <a:avLst/>
          </a:prstGeom>
          <a:noFill/>
          <a:ln w="12700">
            <a:solidFill>
              <a:schemeClr val="tx2"/>
            </a:solidFill>
            <a:prstDash val="solid"/>
          </a:ln>
        </p:spPr>
      </p:sp>
      <p:sp>
        <p:nvSpPr>
          <p:cNvPr id="46" name="Box 3.1"/>
          <p:cNvSpPr/>
          <p:nvPr/>
        </p:nvSpPr>
        <p:spPr>
          <a:xfrm>
            <a:off x="8229600" y="4434840"/>
            <a:ext cx="1005840" cy="640080"/>
          </a:xfrm>
          <a:prstGeom prst="rect">
            <a:avLst/>
          </a:prstGeom>
          <a:solidFill>
            <a:schemeClr val="tx2"/>
          </a:solidFill>
          <a:ln/>
        </p:spPr>
      </p:sp>
      <p:sp>
        <p:nvSpPr>
          <p:cNvPr id="47" name="Text 45"/>
          <p:cNvSpPr txBox="1"/>
          <p:nvPr/>
        </p:nvSpPr>
        <p:spPr>
          <a:xfrm>
            <a:off x="825703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Test 1</a:t>
            </a:r>
            <a:endParaRPr lang="en-US" sz="1000" dirty="0"/>
          </a:p>
        </p:txBody>
      </p:sp>
      <p:sp>
        <p:nvSpPr>
          <p:cNvPr id="48" name="Shape 46"/>
          <p:cNvSpPr/>
          <p:nvPr/>
        </p:nvSpPr>
        <p:spPr>
          <a:xfrm>
            <a:off x="9829800" y="4160520"/>
            <a:ext cx="0" cy="274320"/>
          </a:xfrm>
          <a:prstGeom prst="line">
            <a:avLst/>
          </a:prstGeom>
          <a:noFill/>
          <a:ln w="12700">
            <a:solidFill>
              <a:schemeClr val="tx2"/>
            </a:solidFill>
            <a:prstDash val="solid"/>
          </a:ln>
        </p:spPr>
      </p:sp>
      <p:sp>
        <p:nvSpPr>
          <p:cNvPr id="49" name="Box 3.2"/>
          <p:cNvSpPr/>
          <p:nvPr/>
        </p:nvSpPr>
        <p:spPr>
          <a:xfrm>
            <a:off x="9326880" y="4434840"/>
            <a:ext cx="1005840" cy="640080"/>
          </a:xfrm>
          <a:prstGeom prst="rect">
            <a:avLst/>
          </a:prstGeom>
          <a:solidFill>
            <a:schemeClr val="tx2"/>
          </a:solidFill>
          <a:ln/>
        </p:spPr>
      </p:sp>
      <p:sp>
        <p:nvSpPr>
          <p:cNvPr id="50" name="Text 48"/>
          <p:cNvSpPr txBox="1"/>
          <p:nvPr/>
        </p:nvSpPr>
        <p:spPr>
          <a:xfrm>
            <a:off x="935431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Test 2</a:t>
            </a:r>
            <a:endParaRPr lang="en-US" sz="1000" dirty="0"/>
          </a:p>
        </p:txBody>
      </p:sp>
      <p:sp>
        <p:nvSpPr>
          <p:cNvPr id="51" name="Shape 49"/>
          <p:cNvSpPr/>
          <p:nvPr/>
        </p:nvSpPr>
        <p:spPr>
          <a:xfrm>
            <a:off x="10927080" y="4160520"/>
            <a:ext cx="0" cy="274320"/>
          </a:xfrm>
          <a:prstGeom prst="line">
            <a:avLst/>
          </a:prstGeom>
          <a:noFill/>
          <a:ln w="12700">
            <a:solidFill>
              <a:schemeClr val="tx2"/>
            </a:solidFill>
            <a:prstDash val="solid"/>
          </a:ln>
        </p:spPr>
      </p:sp>
      <p:sp>
        <p:nvSpPr>
          <p:cNvPr id="52" name="Box 3.3"/>
          <p:cNvSpPr/>
          <p:nvPr/>
        </p:nvSpPr>
        <p:spPr>
          <a:xfrm>
            <a:off x="10424160" y="4434840"/>
            <a:ext cx="1005840" cy="640080"/>
          </a:xfrm>
          <a:prstGeom prst="rect">
            <a:avLst/>
          </a:prstGeom>
          <a:solidFill>
            <a:schemeClr val="tx2"/>
          </a:solidFill>
          <a:ln/>
        </p:spPr>
      </p:sp>
      <p:sp>
        <p:nvSpPr>
          <p:cNvPr id="53" name="Text 51"/>
          <p:cNvSpPr txBox="1"/>
          <p:nvPr/>
        </p:nvSpPr>
        <p:spPr>
          <a:xfrm>
            <a:off x="1045159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Test 3</a:t>
            </a:r>
            <a:endParaRPr lang="en-US" sz="1000" dirty="0"/>
          </a:p>
        </p:txBody>
      </p:sp>
      <p:sp>
        <p:nvSpPr>
          <p:cNvPr id="54" name="Text 52"/>
          <p:cNvSpPr txBox="1"/>
          <p:nvPr/>
        </p:nvSpPr>
        <p:spPr>
          <a:xfrm>
            <a:off x="548640" y="5577840"/>
            <a:ext cx="11064240" cy="365760"/>
          </a:xfrm>
          <a:prstGeom prst="rect">
            <a:avLst/>
          </a:prstGeom>
          <a:noFill/>
          <a:ln/>
        </p:spPr>
        <p:txBody>
          <a:bodyPr wrap="square" lIns="0" tIns="0" rIns="0" bIns="0" rtlCol="0" anchor="t"/>
          <a:lstStyle/>
          <a:p>
            <a:pPr indent="0" marL="0">
              <a:buNone/>
            </a:pPr>
            <a:r>
              <a:rPr lang="en-US" sz="1400" i="1" dirty="0">
                <a:solidFill>
                  <a:schemeClr val="tx1"/>
                </a:solidFill>
              </a:rPr>
              <a:t>Our three main ideas are the three reasons that support the core message.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000" b="1" dirty="0">
                <a:solidFill>
                  <a:schemeClr val="tx1"/>
                </a:solidFill>
              </a:rPr>
              <a:t>Appendix: sources and assumptions</a:t>
            </a:r>
            <a:endParaRPr lang="en-US" sz="3000" dirty="0"/>
          </a:p>
        </p:txBody>
      </p:sp>
      <p:sp>
        <p:nvSpPr>
          <p:cNvPr id="3" name="Appendix card 1"/>
          <p:cNvSpPr/>
          <p:nvPr/>
        </p:nvSpPr>
        <p:spPr>
          <a:xfrm>
            <a:off x="548640" y="1554480"/>
            <a:ext cx="5394960" cy="3840480"/>
          </a:xfrm>
          <a:prstGeom prst="rect">
            <a:avLst/>
          </a:prstGeom>
          <a:solidFill>
            <a:schemeClr val="bg2"/>
          </a:solidFill>
          <a:ln/>
        </p:spPr>
      </p:sp>
      <p:sp>
        <p:nvSpPr>
          <p:cNvPr id="4" name="Text 2"/>
          <p:cNvSpPr txBox="1"/>
          <p:nvPr/>
        </p:nvSpPr>
        <p:spPr>
          <a:xfrm>
            <a:off x="777240" y="1737360"/>
            <a:ext cx="4937760" cy="365760"/>
          </a:xfrm>
          <a:prstGeom prst="rect">
            <a:avLst/>
          </a:prstGeom>
          <a:noFill/>
          <a:ln/>
        </p:spPr>
        <p:txBody>
          <a:bodyPr wrap="square" lIns="0" tIns="0" rIns="0" bIns="0" rtlCol="0" anchor="t"/>
          <a:lstStyle/>
          <a:p>
            <a:pPr indent="0" marL="0">
              <a:buNone/>
            </a:pPr>
            <a:r>
              <a:rPr lang="en-US" sz="1600" b="1" dirty="0">
                <a:solidFill>
                  <a:schemeClr val="accent1"/>
                </a:solidFill>
              </a:rPr>
              <a:t>Sources</a:t>
            </a:r>
            <a:endParaRPr lang="en-US" sz="1600" dirty="0"/>
          </a:p>
        </p:txBody>
      </p:sp>
      <p:sp>
        <p:nvSpPr>
          <p:cNvPr id="5" name="Text 3"/>
          <p:cNvSpPr txBox="1"/>
          <p:nvPr/>
        </p:nvSpPr>
        <p:spPr>
          <a:xfrm>
            <a:off x="777240" y="2286000"/>
            <a:ext cx="4937760" cy="29260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V&amp;S background for teams (case notes)</a:t>
            </a:r>
            <a:endParaRPr lang="en-US" sz="1400" dirty="0"/>
          </a:p>
          <a:p>
            <a:pPr marL="342900" indent="-342900">
              <a:spcAft>
                <a:spcPts val="1000"/>
              </a:spcAft>
              <a:buSzPct val="100000"/>
              <a:buChar char="•"/>
            </a:pPr>
            <a:r>
              <a:rPr lang="en-US" sz="1400" dirty="0">
                <a:solidFill>
                  <a:schemeClr val="tx1"/>
                </a:solidFill>
              </a:rPr>
              <a:t>Clarkston Consulting, 2026 Luxury Retail Trends</a:t>
            </a:r>
            <a:endParaRPr lang="en-US" sz="1400" dirty="0"/>
          </a:p>
          <a:p>
            <a:pPr marL="342900" indent="-342900">
              <a:spcAft>
                <a:spcPts val="1000"/>
              </a:spcAft>
              <a:buSzPct val="100000"/>
              <a:buChar char="•"/>
            </a:pPr>
            <a:r>
              <a:rPr lang="en-US" sz="1400" dirty="0">
                <a:solidFill>
                  <a:schemeClr val="tx1"/>
                </a:solidFill>
              </a:rPr>
              <a:t>Cegid, luxury omnichannel strategies, citing HUB Institute 2024</a:t>
            </a:r>
            <a:endParaRPr lang="en-US" sz="1400" dirty="0"/>
          </a:p>
          <a:p>
            <a:pPr marL="342900" indent="-342900">
              <a:spcAft>
                <a:spcPts val="1000"/>
              </a:spcAft>
              <a:buSzPct val="100000"/>
              <a:buChar char="•"/>
            </a:pPr>
            <a:r>
              <a:rPr lang="en-US" sz="1400" dirty="0">
                <a:solidFill>
                  <a:schemeClr val="tx1"/>
                </a:solidFill>
              </a:rPr>
              <a:t>ContactPigeon, fashion retailers growth study</a:t>
            </a:r>
            <a:endParaRPr lang="en-US" sz="1400" dirty="0"/>
          </a:p>
          <a:p>
            <a:pPr marL="342900" indent="-342900">
              <a:spcAft>
                <a:spcPts val="1000"/>
              </a:spcAft>
              <a:buSzPct val="100000"/>
              <a:buChar char="•"/>
            </a:pPr>
            <a:r>
              <a:rPr lang="en-US" sz="1400" dirty="0">
                <a:solidFill>
                  <a:schemeClr val="tx1"/>
                </a:solidFill>
              </a:rPr>
              <a:t>Deloitte, Global Powers of Luxury 2026</a:t>
            </a:r>
            <a:endParaRPr lang="en-US" sz="1400" dirty="0"/>
          </a:p>
        </p:txBody>
      </p:sp>
      <p:sp>
        <p:nvSpPr>
          <p:cNvPr id="6" name="Appendix card 2"/>
          <p:cNvSpPr/>
          <p:nvPr/>
        </p:nvSpPr>
        <p:spPr>
          <a:xfrm>
            <a:off x="6217920" y="1554480"/>
            <a:ext cx="5394960" cy="3840480"/>
          </a:xfrm>
          <a:prstGeom prst="rect">
            <a:avLst/>
          </a:prstGeom>
          <a:solidFill>
            <a:schemeClr val="bg2"/>
          </a:solidFill>
          <a:ln/>
        </p:spPr>
      </p:sp>
      <p:sp>
        <p:nvSpPr>
          <p:cNvPr id="7" name="Text 5"/>
          <p:cNvSpPr txBox="1"/>
          <p:nvPr/>
        </p:nvSpPr>
        <p:spPr>
          <a:xfrm>
            <a:off x="6446520" y="1737360"/>
            <a:ext cx="4937760" cy="365760"/>
          </a:xfrm>
          <a:prstGeom prst="rect">
            <a:avLst/>
          </a:prstGeom>
          <a:noFill/>
          <a:ln/>
        </p:spPr>
        <p:txBody>
          <a:bodyPr wrap="square" lIns="0" tIns="0" rIns="0" bIns="0" rtlCol="0" anchor="t"/>
          <a:lstStyle/>
          <a:p>
            <a:pPr indent="0" marL="0">
              <a:buNone/>
            </a:pPr>
            <a:r>
              <a:rPr lang="en-US" sz="1600" b="1" dirty="0">
                <a:solidFill>
                  <a:schemeClr val="accent1"/>
                </a:solidFill>
              </a:rPr>
              <a:t>Assumptions to validate</a:t>
            </a:r>
            <a:endParaRPr lang="en-US" sz="1600" dirty="0"/>
          </a:p>
        </p:txBody>
      </p:sp>
      <p:sp>
        <p:nvSpPr>
          <p:cNvPr id="8" name="Text 6"/>
          <p:cNvSpPr txBox="1"/>
          <p:nvPr/>
        </p:nvSpPr>
        <p:spPr>
          <a:xfrm>
            <a:off x="6446520" y="2286000"/>
            <a:ext cx="4937760" cy="29260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Market figures are external benchmarks, not V&amp;S data</a:t>
            </a:r>
            <a:endParaRPr lang="en-US" sz="1400" dirty="0"/>
          </a:p>
          <a:p>
            <a:pPr marL="342900" indent="-342900">
              <a:spcAft>
                <a:spcPts val="1000"/>
              </a:spcAft>
              <a:buSzPct val="100000"/>
              <a:buChar char="•"/>
            </a:pPr>
            <a:r>
              <a:rPr lang="en-US" sz="1400" dirty="0">
                <a:solidFill>
                  <a:schemeClr val="tx1"/>
                </a:solidFill>
              </a:rPr>
              <a:t>Conversion figures come from fashion retail, not luxury alone</a:t>
            </a:r>
            <a:endParaRPr lang="en-US" sz="1400" dirty="0"/>
          </a:p>
          <a:p>
            <a:pPr marL="342900" indent="-342900">
              <a:spcAft>
                <a:spcPts val="1000"/>
              </a:spcAft>
              <a:buSzPct val="100000"/>
              <a:buChar char="•"/>
            </a:pPr>
            <a:r>
              <a:rPr lang="en-US" sz="1400" dirty="0">
                <a:solidFill>
                  <a:schemeClr val="tx1"/>
                </a:solidFill>
              </a:rPr>
              <a:t>Lever impacts are not yet sized against £2bn and 10%</a:t>
            </a:r>
            <a:endParaRPr lang="en-US" sz="1400" dirty="0"/>
          </a:p>
          <a:p>
            <a:pPr marL="342900" indent="-342900">
              <a:spcAft>
                <a:spcPts val="1000"/>
              </a:spcAft>
              <a:buSzPct val="100000"/>
              <a:buChar char="•"/>
            </a:pPr>
            <a:r>
              <a:rPr lang="en-US" sz="1400" dirty="0">
                <a:solidFill>
                  <a:schemeClr val="tx1"/>
                </a:solidFill>
              </a:rPr>
              <a:t>Channel roles and phasing are working hypotheses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VS Pitch">
  <a:themeElements>
    <a:clrScheme name="VS Pitch">
      <a:dk1>
        <a:srgbClr val="222222"/>
      </a:dk1>
      <a:lt1>
        <a:srgbClr val="FFFFFF"/>
      </a:lt1>
      <a:dk2>
        <a:srgbClr val="6E625E"/>
      </a:dk2>
      <a:lt2>
        <a:srgbClr val="F8E6E1"/>
      </a:lt2>
      <a:accent1>
        <a:srgbClr val="D52B1E"/>
      </a:accent1>
      <a:accent2>
        <a:srgbClr val="D04A02"/>
      </a:accent2>
      <a:accent3>
        <a:srgbClr val="EB8C00"/>
      </a:accent3>
      <a:accent4>
        <a:srgbClr val="DB536A"/>
      </a:accent4>
      <a:accent5>
        <a:srgbClr val="7D7D7D"/>
      </a:accent5>
      <a:accent6>
        <a:srgbClr val="A32020"/>
      </a:accent6>
      <a:hlink>
        <a:srgbClr val="D52B1E"/>
      </a:hlink>
      <a:folHlink>
        <a:srgbClr val="6E625E"/>
      </a:folHlink>
    </a:clrScheme>
    <a:fontScheme name="VS Pitch">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Virley &amp; Sons: One Virley experience</dc:title>
  <dc:subject>PptxGenJS Presentation</dc:subject>
  <dc:creator>Consulting team</dc:creator>
  <cp:lastModifiedBy>Consulting team</cp:lastModifiedBy>
  <cp:revision>1</cp:revision>
  <dcterms:created xsi:type="dcterms:W3CDTF">2026-10-21T06:59:15Z</dcterms:created>
  <dcterms:modified xsi:type="dcterms:W3CDTF">2026-10-21T06:59:15Z</dcterms:modified>
</cp:coreProperties>
</file>