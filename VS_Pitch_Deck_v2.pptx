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wer first" id="{56251223-71c4-d0bf-c8d8-45a62d842028}">
          <p14:sldIdLst>
            <p14:sldId id="256"/>
            <p14:sldId id="257"/>
            <p14:sldId id="258"/>
          </p14:sldIdLst>
        </p14:section>
        <p14:section name="Evidence from the data pack" id="{26776d35-f221-f58d-09dd-84f820a096ac}">
          <p14:sldIdLst>
            <p14:sldId id="259"/>
            <p14:sldId id="260"/>
            <p14:sldId id="261"/>
            <p14:sldId id="262"/>
            <p14:sldId id="263"/>
            <p14:sldId id="264"/>
            <p14:sldId id="265"/>
          </p14:sldIdLst>
        </p14:section>
        <p14:section name="Reframe and idea" id="{5493cce0-00dd-1b09-cd56-a9d2897daa15}">
          <p14:sldIdLst>
            <p14:sldId id="266"/>
            <p14:sldId id="267"/>
            <p14:sldId id="268"/>
            <p14:sldId id="269"/>
            <p14:sldId id="270"/>
            <p14:sldId id="271"/>
          </p14:sldIdLst>
        </p14:section>
        <p14:section name="Plan and ask" id="{98d54ea0-ea05-92dc-39eb-00d67cbfc232}">
          <p14:sldIdLst>
            <p14:sldId id="272"/>
            <p14:sldId id="273"/>
            <p14:sldId id="274"/>
            <p14:sldId id="275"/>
            <p14:sldId id="276"/>
          </p14:sldIdLst>
        </p14:section>
        <p14:section name="Appendix" id="{41ba67c2-0ffc-81be-3df7-72ceca9d0170}">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Store sales (£ million)</a:t>
            </a:r>
          </a:p>
        </c:rich>
      </c:tx>
      <c:layout/>
      <c:overlay val="0"/>
    </c:title>
    <c:autoTitleDeleted val="0"/>
    <c:plotArea>
      <c:layout/>
      <c:barChart>
        <c:barDir val="col"/>
        <c:grouping val="clustered"/>
        <c:varyColors val="0"/>
        <c:ser>
          <c:idx val="0"/>
          <c:order val="0"/>
          <c:tx>
            <c:strRef>
              <c:f>Sheet1!$B$1</c:f>
              <c:strCache>
                <c:ptCount val="1"/>
                <c:pt idx="0">
                  <c:v>FY-4</c:v>
                </c:pt>
              </c:strCache>
            </c:strRef>
          </c:tx>
          <c:spPr>
            <a:solidFill>
              <a:srgbClr val="D9D4C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Sheet1!$B$2:$B$5</c:f>
              <c:numCache>
                <c:formatCode>General</c:formatCode>
                <c:ptCount val="4"/>
                <c:pt idx="0">
                  <c:v>367.2</c:v>
                </c:pt>
                <c:pt idx="1">
                  <c:v>305.1</c:v>
                </c:pt>
                <c:pt idx="2">
                  <c:v>92.4</c:v>
                </c:pt>
                <c:pt idx="3">
                  <c:v>0</c:v>
                </c:pt>
              </c:numCache>
            </c:numRef>
          </c:val>
        </c:ser>
        <c:ser>
          <c:idx val="1"/>
          <c:order val="1"/>
          <c:tx>
            <c:strRef>
              <c:f>Sheet1!$C$1</c:f>
              <c:strCache>
                <c:ptCount val="1"/>
                <c:pt idx="0">
                  <c:v>FY-3</c:v>
                </c:pt>
              </c:strCache>
            </c:strRef>
          </c:tx>
          <c:spPr>
            <a:solidFill>
              <a:srgbClr val="A8A2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Sheet1!$C$2:$C$5</c:f>
              <c:numCache>
                <c:formatCode>General</c:formatCode>
                <c:ptCount val="4"/>
                <c:pt idx="0">
                  <c:v>389.2</c:v>
                </c:pt>
                <c:pt idx="1">
                  <c:v>320.5</c:v>
                </c:pt>
                <c:pt idx="2">
                  <c:v>120.3</c:v>
                </c:pt>
                <c:pt idx="3">
                  <c:v>0</c:v>
                </c:pt>
              </c:numCache>
            </c:numRef>
          </c:val>
        </c:ser>
        <c:ser>
          <c:idx val="2"/>
          <c:order val="2"/>
          <c:tx>
            <c:strRef>
              <c:f>Sheet1!$D$1</c:f>
              <c:strCache>
                <c:ptCount val="1"/>
                <c:pt idx="0">
                  <c:v>FY-2</c:v>
                </c:pt>
              </c:strCache>
            </c:strRef>
          </c:tx>
          <c:spPr>
            <a:solidFill>
              <a:srgbClr val="6E62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Sheet1!$D$2:$D$5</c:f>
              <c:numCache>
                <c:formatCode>General</c:formatCode>
                <c:ptCount val="4"/>
                <c:pt idx="0">
                  <c:v>602.7</c:v>
                </c:pt>
                <c:pt idx="1">
                  <c:v>433.8</c:v>
                </c:pt>
                <c:pt idx="2">
                  <c:v>134.2</c:v>
                </c:pt>
                <c:pt idx="3">
                  <c:v>100</c:v>
                </c:pt>
              </c:numCache>
            </c:numRef>
          </c:val>
        </c:ser>
        <c:ser>
          <c:idx val="3"/>
          <c:order val="3"/>
          <c:tx>
            <c:strRef>
              <c:f>Sheet1!$E$1</c:f>
              <c:strCache>
                <c:ptCount val="1"/>
                <c:pt idx="0">
                  <c:v>FY-1</c:v>
                </c:pt>
              </c:strCache>
            </c:strRef>
          </c:tx>
          <c:spPr>
            <a:solidFill>
              <a:srgbClr val="D52B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Sheet1!$E$2:$E$5</c:f>
              <c:numCache>
                <c:formatCode>General</c:formatCode>
                <c:ptCount val="4"/>
                <c:pt idx="0">
                  <c:v>563.8</c:v>
                </c:pt>
                <c:pt idx="1">
                  <c:v>470.3</c:v>
                </c:pt>
                <c:pt idx="2">
                  <c:v>131.8</c:v>
                </c:pt>
                <c:pt idx="3">
                  <c:v>91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0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2222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Value per sale (£)</a:t>
            </a:r>
          </a:p>
        </c:rich>
      </c:tx>
      <c:layout/>
      <c:overlay val="0"/>
    </c:title>
    <c:autoTitleDeleted val="0"/>
    <c:plotArea>
      <c:layout/>
      <c:barChart>
        <c:barDir val="col"/>
        <c:grouping val="clustered"/>
        <c:varyColors val="0"/>
        <c:ser>
          <c:idx val="0"/>
          <c:order val="0"/>
          <c:tx>
            <c:strRef>
              <c:f>Sheet1!$B$1</c:f>
              <c:strCache>
                <c:ptCount val="1"/>
                <c:pt idx="0">
                  <c:v>FY-2</c:v>
                </c:pt>
              </c:strCache>
            </c:strRef>
          </c:tx>
          <c:spPr>
            <a:solidFill>
              <a:srgbClr val="A8A29E"/>
            </a:solidFill>
            <a:effectLst/>
          </c:spPr>
          <c:invertIfNegative val="0"/>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Sheet1!$B$2:$B$5</c:f>
              <c:numCache>
                <c:formatCode>General</c:formatCode>
                <c:ptCount val="4"/>
                <c:pt idx="0">
                  <c:v>71.8</c:v>
                </c:pt>
                <c:pt idx="1">
                  <c:v>114.2</c:v>
                </c:pt>
                <c:pt idx="2">
                  <c:v>67.1</c:v>
                </c:pt>
                <c:pt idx="3">
                  <c:v>35.7</c:v>
                </c:pt>
              </c:numCache>
            </c:numRef>
          </c:val>
        </c:ser>
        <c:ser>
          <c:idx val="1"/>
          <c:order val="1"/>
          <c:tx>
            <c:strRef>
              <c:f>Sheet1!$C$1</c:f>
              <c:strCache>
                <c:ptCount val="1"/>
                <c:pt idx="0">
                  <c:v>FY-1</c:v>
                </c:pt>
              </c:strCache>
            </c:strRef>
          </c:tx>
          <c:spPr>
            <a:solidFill>
              <a:srgbClr val="D52B1E"/>
            </a:solidFill>
            <a:effectLst/>
          </c:spPr>
          <c:invertIfNegative val="0"/>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Sheet1!$C$2:$C$5</c:f>
              <c:numCache>
                <c:formatCode>General</c:formatCode>
                <c:ptCount val="4"/>
                <c:pt idx="0">
                  <c:v>62.6</c:v>
                </c:pt>
                <c:pt idx="1">
                  <c:v>114.7</c:v>
                </c:pt>
                <c:pt idx="2">
                  <c:v>59.9</c:v>
                </c:pt>
                <c:pt idx="3">
                  <c:v>30.3</c:v>
                </c:pt>
              </c:numCache>
            </c:numRef>
          </c:val>
        </c:ser>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Operating margin, FY-1 (% of revenue)</a:t>
            </a:r>
          </a:p>
        </c:rich>
      </c:tx>
      <c:layout/>
      <c:overlay val="0"/>
    </c:title>
    <c:autoTitleDeleted val="0"/>
    <c:plotArea>
      <c:layout/>
      <c:barChart>
        <c:barDir val="col"/>
        <c:grouping val="clustered"/>
        <c:varyColors val="0"/>
        <c:ser>
          <c:idx val="0"/>
          <c:order val="0"/>
          <c:tx>
            <c:strRef>
              <c:f>Sheet1!$B$1</c:f>
              <c:strCache>
                <c:ptCount val="1"/>
                <c:pt idx="0">
                  <c:v>Operating margin, FY-1 (% of revenue)</c:v>
                </c:pt>
              </c:strCache>
            </c:strRef>
          </c:tx>
          <c:spPr>
            <a:solidFill>
              <a:srgbClr val="A8A29E"/>
            </a:solidFill>
            <a:effectLst/>
          </c:spPr>
          <c:invertIfNegative val="0"/>
          <c:dLbls>
            <c:numFmt formatCode="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A8A29E"/>
              </a:solidFill>
              <a:effectLst/>
            </c:spPr>
          </c:dPt>
          <c:dPt>
            <c:idx val="1"/>
            <c:invertIfNegative val="0"/>
            <c:bubble3D val="0"/>
            <c:spPr>
              <a:solidFill>
                <a:srgbClr val="A8A29E"/>
              </a:solidFill>
              <a:effectLst/>
            </c:spPr>
          </c:dPt>
          <c:dPt>
            <c:idx val="2"/>
            <c:invertIfNegative val="0"/>
            <c:bubble3D val="0"/>
            <c:spPr>
              <a:solidFill>
                <a:srgbClr val="D52B1E"/>
              </a:solidFill>
              <a:effectLst/>
            </c:spPr>
          </c:dPt>
          <c:dPt>
            <c:idx val="3"/>
            <c:invertIfNegative val="0"/>
            <c:bubble3D val="0"/>
            <c:spPr>
              <a:solidFill>
                <a:srgbClr val="EB8C00"/>
              </a:solidFill>
              <a:effectLst/>
            </c:spPr>
          </c:dPt>
          <c:dPt>
            <c:idx val="4"/>
            <c:invertIfNegative val="0"/>
            <c:bubble3D val="0"/>
            <c:spPr>
              <a:solidFill>
                <a:srgbClr val="A8A29E"/>
              </a:solidFill>
              <a:effectLst/>
            </c:spPr>
          </c:dPt>
          <c:dPt>
            <c:idx val="5"/>
            <c:invertIfNegative val="0"/>
            <c:bubble3D val="0"/>
            <c:spPr>
              <a:solidFill>
                <a:srgbClr val="222222"/>
              </a:solidFill>
              <a:effectLst/>
            </c:spPr>
          </c:dPt>
          <c:cat>
            <c:multiLvlStrRef>
              <c:f>Sheet1!$A$2:$A$7</c:f>
              <c:multiLvlStrCache>
                <c:ptCount val="6"/>
                <c:lvl>
                  <c:pt idx="0">
                    <c:v>London</c:v>
                  </c:pt>
                  <c:pt idx="1">
                    <c:v>Birmingham</c:v>
                  </c:pt>
                  <c:pt idx="2">
                    <c:v>Edinburgh</c:v>
                  </c:pt>
                  <c:pt idx="3">
                    <c:v>Orlando</c:v>
                  </c:pt>
                  <c:pt idx="4">
                    <c:v>Online</c:v>
                  </c:pt>
                  <c:pt idx="5">
                    <c:v>Group</c:v>
                  </c:pt>
                </c:lvl>
              </c:multiLvlStrCache>
            </c:multiLvlStrRef>
          </c:cat>
          <c:val>
            <c:numRef>
              <c:f>Sheet1!$B$2:$B$7</c:f>
              <c:numCache>
                <c:formatCode>General</c:formatCode>
                <c:ptCount val="6"/>
                <c:pt idx="0">
                  <c:v>7.8</c:v>
                </c:pt>
                <c:pt idx="1">
                  <c:v>8.2</c:v>
                </c:pt>
                <c:pt idx="2">
                  <c:v>3.4</c:v>
                </c:pt>
                <c:pt idx="3">
                  <c:v>15.5</c:v>
                </c:pt>
                <c:pt idx="4">
                  <c:v>6.2</c:v>
                </c:pt>
                <c:pt idx="5">
                  <c:v>8</c:v>
                </c:pt>
              </c:numCache>
            </c:numRef>
          </c:val>
        </c:ser>
        <c:dLbls>
          <c:numFmt formatCode="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Logistics costs, FY-1 (% of revenue)</a:t>
            </a:r>
          </a:p>
        </c:rich>
      </c:tx>
      <c:layout/>
      <c:overlay val="0"/>
    </c:title>
    <c:autoTitleDeleted val="0"/>
    <c:plotArea>
      <c:layout/>
      <c:barChart>
        <c:barDir val="col"/>
        <c:grouping val="clustered"/>
        <c:varyColors val="0"/>
        <c:ser>
          <c:idx val="0"/>
          <c:order val="0"/>
          <c:tx>
            <c:strRef>
              <c:f>Sheet1!$B$1</c:f>
              <c:strCache>
                <c:ptCount val="1"/>
                <c:pt idx="0">
                  <c:v>Logistics costs, FY-1 (% of revenue)</c:v>
                </c:pt>
              </c:strCache>
            </c:strRef>
          </c:tx>
          <c:spPr>
            <a:solidFill>
              <a:srgbClr val="A8A29E"/>
            </a:solidFill>
            <a:effectLst/>
          </c:spPr>
          <c:invertIfNegative val="0"/>
          <c:dLbls>
            <c:numFmt formatCode="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A8A29E"/>
              </a:solidFill>
              <a:effectLst/>
            </c:spPr>
          </c:dPt>
          <c:dPt>
            <c:idx val="1"/>
            <c:invertIfNegative val="0"/>
            <c:bubble3D val="0"/>
            <c:spPr>
              <a:solidFill>
                <a:srgbClr val="A8A29E"/>
              </a:solidFill>
              <a:effectLst/>
            </c:spPr>
          </c:dPt>
          <c:dPt>
            <c:idx val="2"/>
            <c:invertIfNegative val="0"/>
            <c:bubble3D val="0"/>
            <c:spPr>
              <a:solidFill>
                <a:srgbClr val="D52B1E"/>
              </a:solidFill>
              <a:effectLst/>
            </c:spPr>
          </c:dPt>
          <c:dPt>
            <c:idx val="3"/>
            <c:invertIfNegative val="0"/>
            <c:bubble3D val="0"/>
            <c:spPr>
              <a:solidFill>
                <a:srgbClr val="EB8C00"/>
              </a:solidFill>
              <a:effectLst/>
            </c:spPr>
          </c:dPt>
          <c:dPt>
            <c:idx val="4"/>
            <c:invertIfNegative val="0"/>
            <c:bubble3D val="0"/>
            <c:spPr>
              <a:solidFill>
                <a:srgbClr val="A8A29E"/>
              </a:solidFill>
              <a:effectLst/>
            </c:spPr>
          </c:dPt>
          <c:dPt>
            <c:idx val="5"/>
            <c:invertIfNegative val="0"/>
            <c:bubble3D val="0"/>
            <c:spPr>
              <a:solidFill>
                <a:srgbClr val="222222"/>
              </a:solidFill>
              <a:effectLst/>
            </c:spPr>
          </c:dPt>
          <c:cat>
            <c:multiLvlStrRef>
              <c:f>Sheet1!$A$2:$A$7</c:f>
              <c:multiLvlStrCache>
                <c:ptCount val="6"/>
                <c:lvl>
                  <c:pt idx="0">
                    <c:v>London</c:v>
                  </c:pt>
                  <c:pt idx="1">
                    <c:v>Birmingham</c:v>
                  </c:pt>
                  <c:pt idx="2">
                    <c:v>Edinburgh</c:v>
                  </c:pt>
                  <c:pt idx="3">
                    <c:v>Orlando</c:v>
                  </c:pt>
                  <c:pt idx="4">
                    <c:v>Online</c:v>
                  </c:pt>
                  <c:pt idx="5">
                    <c:v>Group</c:v>
                  </c:pt>
                </c:lvl>
              </c:multiLvlStrCache>
            </c:multiLvlStrRef>
          </c:cat>
          <c:val>
            <c:numRef>
              <c:f>Sheet1!$B$2:$B$7</c:f>
              <c:numCache>
                <c:formatCode>General</c:formatCode>
                <c:ptCount val="6"/>
                <c:pt idx="0">
                  <c:v>17.9</c:v>
                </c:pt>
                <c:pt idx="1">
                  <c:v>17.1</c:v>
                </c:pt>
                <c:pt idx="2">
                  <c:v>20.6</c:v>
                </c:pt>
                <c:pt idx="3">
                  <c:v>13.3</c:v>
                </c:pt>
                <c:pt idx="4">
                  <c:v>16.8</c:v>
                </c:pt>
                <c:pt idx="5">
                  <c:v>17.5</c:v>
                </c:pt>
              </c:numCache>
            </c:numRef>
          </c:val>
        </c:ser>
        <c:dLbls>
          <c:numFmt formatCode="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Website visits by country (thousand)</a:t>
            </a:r>
          </a:p>
        </c:rich>
      </c:tx>
      <c:layout/>
      <c:overlay val="0"/>
    </c:title>
    <c:autoTitleDeleted val="0"/>
    <c:plotArea>
      <c:layout/>
      <c:barChart>
        <c:barDir val="bar"/>
        <c:grouping val="clustered"/>
        <c:varyColors val="0"/>
        <c:ser>
          <c:idx val="0"/>
          <c:order val="0"/>
          <c:tx>
            <c:strRef>
              <c:f>Sheet1!$B$1</c:f>
              <c:strCache>
                <c:ptCount val="1"/>
                <c:pt idx="0">
                  <c:v>Visits (thousand)</c:v>
                </c:pt>
              </c:strCache>
            </c:strRef>
          </c:tx>
          <c:spPr>
            <a:solidFill>
              <a:srgbClr val="6E625E"/>
            </a:solidFill>
            <a:effectLst/>
          </c:spPr>
          <c:invertIfNegative val="0"/>
          <c:dLbls>
            <c:numFmt formatCode="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6E625E"/>
              </a:solidFill>
              <a:effectLst/>
            </c:spPr>
          </c:dPt>
          <c:dPt>
            <c:idx val="1"/>
            <c:invertIfNegative val="0"/>
            <c:bubble3D val="0"/>
            <c:spPr>
              <a:solidFill>
                <a:srgbClr val="D52B1E"/>
              </a:solidFill>
              <a:effectLst/>
            </c:spPr>
          </c:dPt>
          <c:dPt>
            <c:idx val="2"/>
            <c:invertIfNegative val="0"/>
            <c:bubble3D val="0"/>
            <c:spPr>
              <a:solidFill>
                <a:srgbClr val="D52B1E"/>
              </a:solidFill>
              <a:effectLst/>
            </c:spPr>
          </c:dPt>
          <c:dPt>
            <c:idx val="3"/>
            <c:invertIfNegative val="0"/>
            <c:bubble3D val="0"/>
            <c:spPr>
              <a:solidFill>
                <a:srgbClr val="D52B1E"/>
              </a:solidFill>
              <a:effectLst/>
            </c:spPr>
          </c:dPt>
          <c:dPt>
            <c:idx val="4"/>
            <c:invertIfNegative val="0"/>
            <c:bubble3D val="0"/>
            <c:spPr>
              <a:solidFill>
                <a:srgbClr val="D52B1E"/>
              </a:solidFill>
              <a:effectLst/>
            </c:spPr>
          </c:dPt>
          <c:dPt>
            <c:idx val="5"/>
            <c:invertIfNegative val="0"/>
            <c:bubble3D val="0"/>
            <c:spPr>
              <a:solidFill>
                <a:srgbClr val="D52B1E"/>
              </a:solidFill>
              <a:effectLst/>
            </c:spPr>
          </c:dPt>
          <c:dPt>
            <c:idx val="6"/>
            <c:invertIfNegative val="0"/>
            <c:bubble3D val="0"/>
            <c:spPr>
              <a:solidFill>
                <a:srgbClr val="D52B1E"/>
              </a:solidFill>
              <a:effectLst/>
            </c:spPr>
          </c:dPt>
          <c:dPt>
            <c:idx val="7"/>
            <c:invertIfNegative val="0"/>
            <c:bubble3D val="0"/>
            <c:spPr>
              <a:solidFill>
                <a:srgbClr val="A8A29E"/>
              </a:solidFill>
              <a:effectLst/>
            </c:spPr>
          </c:dPt>
          <c:cat>
            <c:multiLvlStrRef>
              <c:f>Sheet1!$A$2:$A$9</c:f>
              <c:multiLvlStrCache>
                <c:ptCount val="8"/>
                <c:lvl>
                  <c:pt idx="0">
                    <c:v>United Kingdom</c:v>
                  </c:pt>
                  <c:pt idx="1">
                    <c:v>United States</c:v>
                  </c:pt>
                  <c:pt idx="2">
                    <c:v>China</c:v>
                  </c:pt>
                  <c:pt idx="3">
                    <c:v>Japan</c:v>
                  </c:pt>
                  <c:pt idx="4">
                    <c:v>India</c:v>
                  </c:pt>
                  <c:pt idx="5">
                    <c:v>Nigeria</c:v>
                  </c:pt>
                  <c:pt idx="6">
                    <c:v>Mexico</c:v>
                  </c:pt>
                  <c:pt idx="7">
                    <c:v>Other</c:v>
                  </c:pt>
                </c:lvl>
              </c:multiLvlStrCache>
            </c:multiLvlStrRef>
          </c:cat>
          <c:val>
            <c:numRef>
              <c:f>Sheet1!$B$2:$B$9</c:f>
              <c:numCache>
                <c:formatCode>General</c:formatCode>
                <c:ptCount val="8"/>
                <c:pt idx="0">
                  <c:v>412.5</c:v>
                </c:pt>
                <c:pt idx="1">
                  <c:v>284.8</c:v>
                </c:pt>
                <c:pt idx="2">
                  <c:v>127.7</c:v>
                </c:pt>
                <c:pt idx="3">
                  <c:v>58.9</c:v>
                </c:pt>
                <c:pt idx="4">
                  <c:v>39.3</c:v>
                </c:pt>
                <c:pt idx="5">
                  <c:v>35.4</c:v>
                </c:pt>
                <c:pt idx="6">
                  <c:v>19.6</c:v>
                </c:pt>
                <c:pt idx="7">
                  <c:v>3.9</c:v>
                </c:pt>
              </c:numCache>
            </c:numRef>
          </c:val>
        </c:ser>
        <c:dLbls>
          <c:numFmt formatCode="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Visits by source</a:t>
            </a:r>
          </a:p>
        </c:rich>
      </c:tx>
      <c:layout/>
      <c:overlay val="0"/>
    </c:title>
    <c:autoTitleDeleted val="0"/>
    <c:plotArea>
      <c:layout/>
      <c:doughnutChart>
        <c:varyColors val="1"/>
        <c:ser>
          <c:idx val="0"/>
          <c:order val="0"/>
          <c:tx>
            <c:strRef>
              <c:f>Sheet1!$B$1</c:f>
              <c:strCache>
                <c:ptCount val="1"/>
                <c:pt idx="0">
                  <c:v>Traffic source</c:v>
                </c:pt>
              </c:strCache>
            </c:strRef>
          </c:tx>
          <c:spPr>
            <a:solidFill>
              <a:schemeClr val="accent1"/>
            </a:solidFill>
            <a:ln w="9525" cap="flat">
              <a:solidFill>
                <a:srgbClr val="F9F9F9"/>
              </a:solidFill>
              <a:prstDash val="solid"/>
              <a:round/>
            </a:ln>
            <a:effectLst/>
          </c:spPr>
          <c:dPt>
            <c:idx val="0"/>
            <c:bubble3D val="0"/>
            <c:spPr>
              <a:solidFill>
                <a:srgbClr val="D52B1E"/>
              </a:solidFill>
              <a:ln w="12700" cap="flat">
                <a:solidFill>
                  <a:srgbClr val="FFFFFF"/>
                </a:solidFill>
                <a:prstDash val="solid"/>
                <a:round/>
              </a:ln>
              <a:effectLst/>
            </c:spPr>
          </c:dPt>
          <c:dPt>
            <c:idx val="1"/>
            <c:bubble3D val="0"/>
            <c:spPr>
              <a:solidFill>
                <a:srgbClr val="A32020"/>
              </a:solidFill>
              <a:ln w="12700" cap="flat">
                <a:solidFill>
                  <a:srgbClr val="FFFFFF"/>
                </a:solidFill>
                <a:prstDash val="solid"/>
                <a:round/>
              </a:ln>
              <a:effectLst/>
            </c:spPr>
          </c:dPt>
          <c:dPt>
            <c:idx val="2"/>
            <c:bubble3D val="0"/>
            <c:spPr>
              <a:solidFill>
                <a:srgbClr val="6E625E"/>
              </a:solidFill>
              <a:ln w="12700" cap="flat">
                <a:solidFill>
                  <a:srgbClr val="FFFFFF"/>
                </a:solidFill>
                <a:prstDash val="solid"/>
                <a:round/>
              </a:ln>
              <a:effectLst/>
            </c:spPr>
          </c:dPt>
          <c:dPt>
            <c:idx val="3"/>
            <c:bubble3D val="0"/>
            <c:spPr>
              <a:solidFill>
                <a:srgbClr val="7D7D7D"/>
              </a:solidFill>
              <a:ln w="12700" cap="flat">
                <a:solidFill>
                  <a:srgbClr val="FFFFFF"/>
                </a:solidFill>
                <a:prstDash val="solid"/>
                <a:round/>
              </a:ln>
              <a:effectLst/>
            </c:spPr>
          </c:dPt>
          <c:dLbls>
            <c:dLbl>
              <c:idx val="0"/>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Google paid search</c:v>
                </c:pt>
                <c:pt idx="1">
                  <c:v>Google organic search</c:v>
                </c:pt>
                <c:pt idx="2">
                  <c:v>Email</c:v>
                </c:pt>
                <c:pt idx="3">
                  <c:v>Direct to site</c:v>
                </c:pt>
              </c:strCache>
            </c:strRef>
          </c:cat>
          <c:val>
            <c:numRef>
              <c:f>Sheet1!$B$2:$B$5</c:f>
              <c:numCache>
                <c:ptCount val="4"/>
                <c:pt idx="0">
                  <c:v>455796</c:v>
                </c:pt>
                <c:pt idx="1">
                  <c:v>214688</c:v>
                </c:pt>
                <c:pt idx="2">
                  <c:v>169087</c:v>
                </c:pt>
                <c:pt idx="3">
                  <c:v>142574</c:v>
                </c:pt>
              </c:numCache>
            </c:numRef>
          </c:val>
        </c:ser>
        <c:firstSliceAng val="0"/>
        <c:holeSize val="52"/>
      </c:doughnutChart>
      <c:spPr>
        <a:noFill/>
        <a:ln>
          <a:noFill/>
        </a:ln>
        <a:effectLst/>
      </c:spPr>
    </c:plotArea>
    <c:legend>
      <c:legendPos val="b"/>
      <c:overlay val="0"/>
      <c:txPr>
        <a:bodyPr/>
        <a:lstStyle/>
        <a:p>
          <a:pPr>
            <a:defRPr sz="12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Top search keywords (visits, thousand)</a:t>
            </a:r>
          </a:p>
        </c:rich>
      </c:tx>
      <c:layout/>
      <c:overlay val="0"/>
    </c:title>
    <c:autoTitleDeleted val="0"/>
    <c:plotArea>
      <c:layout/>
      <c:barChart>
        <c:barDir val="bar"/>
        <c:grouping val="clustered"/>
        <c:varyColors val="0"/>
        <c:ser>
          <c:idx val="0"/>
          <c:order val="0"/>
          <c:tx>
            <c:strRef>
              <c:f>Sheet1!$B$1</c:f>
              <c:strCache>
                <c:ptCount val="1"/>
                <c:pt idx="0">
                  <c:v>Visits (thousand)</c:v>
                </c:pt>
              </c:strCache>
            </c:strRef>
          </c:tx>
          <c:spPr>
            <a:solidFill>
              <a:srgbClr val="6E625E"/>
            </a:solidFill>
            <a:effectLst/>
          </c:spPr>
          <c:invertIfNegative val="0"/>
          <c:dLbls>
            <c:numFmt formatCode="0.0" sourceLinked="0"/>
            <c:txPr>
              <a:bodyPr/>
              <a:lstStyle/>
              <a:p>
                <a:pPr>
                  <a:defRPr b="0" i="0" strike="noStrike" sz="11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6E625E"/>
              </a:solidFill>
              <a:effectLst/>
            </c:spPr>
          </c:dPt>
          <c:dPt>
            <c:idx val="1"/>
            <c:invertIfNegative val="0"/>
            <c:bubble3D val="0"/>
            <c:spPr>
              <a:solidFill>
                <a:srgbClr val="A8A29E"/>
              </a:solidFill>
              <a:effectLst/>
            </c:spPr>
          </c:dPt>
          <c:dPt>
            <c:idx val="2"/>
            <c:invertIfNegative val="0"/>
            <c:bubble3D val="0"/>
            <c:spPr>
              <a:solidFill>
                <a:srgbClr val="A8A29E"/>
              </a:solidFill>
              <a:effectLst/>
            </c:spPr>
          </c:dPt>
          <c:dPt>
            <c:idx val="3"/>
            <c:invertIfNegative val="0"/>
            <c:bubble3D val="0"/>
            <c:spPr>
              <a:solidFill>
                <a:srgbClr val="D52B1E"/>
              </a:solidFill>
              <a:effectLst/>
            </c:spPr>
          </c:dPt>
          <c:dPt>
            <c:idx val="4"/>
            <c:invertIfNegative val="0"/>
            <c:bubble3D val="0"/>
            <c:spPr>
              <a:solidFill>
                <a:srgbClr val="A8A29E"/>
              </a:solidFill>
              <a:effectLst/>
            </c:spPr>
          </c:dPt>
          <c:dPt>
            <c:idx val="5"/>
            <c:invertIfNegative val="0"/>
            <c:bubble3D val="0"/>
            <c:spPr>
              <a:solidFill>
                <a:srgbClr val="A8A29E"/>
              </a:solidFill>
              <a:effectLst/>
            </c:spPr>
          </c:dPt>
          <c:dPt>
            <c:idx val="6"/>
            <c:invertIfNegative val="0"/>
            <c:bubble3D val="0"/>
            <c:spPr>
              <a:solidFill>
                <a:srgbClr val="A8A29E"/>
              </a:solidFill>
              <a:effectLst/>
            </c:spPr>
          </c:dPt>
          <c:dPt>
            <c:idx val="7"/>
            <c:invertIfNegative val="0"/>
            <c:bubble3D val="0"/>
            <c:spPr>
              <a:solidFill>
                <a:srgbClr val="A8A29E"/>
              </a:solidFill>
              <a:effectLst/>
            </c:spPr>
          </c:dPt>
          <c:cat>
            <c:multiLvlStrRef>
              <c:f>Sheet1!$A$2:$A$9</c:f>
              <c:multiLvlStrCache>
                <c:ptCount val="8"/>
                <c:lvl>
                  <c:pt idx="0">
                    <c:v>Virley and Sons</c:v>
                  </c:pt>
                  <c:pt idx="1">
                    <c:v>British departmental store</c:v>
                  </c:pt>
                  <c:pt idx="2">
                    <c:v>British fashion</c:v>
                  </c:pt>
                  <c:pt idx="3">
                    <c:v>High end golf apparel</c:v>
                  </c:pt>
                  <c:pt idx="4">
                    <c:v>UK luxury brand</c:v>
                  </c:pt>
                  <c:pt idx="5">
                    <c:v>Luxury departmental store</c:v>
                  </c:pt>
                  <c:pt idx="6">
                    <c:v>Luxury department store online</c:v>
                  </c:pt>
                  <c:pt idx="7">
                    <c:v>Department store with customer service</c:v>
                  </c:pt>
                </c:lvl>
              </c:multiLvlStrCache>
            </c:multiLvlStrRef>
          </c:cat>
          <c:val>
            <c:numRef>
              <c:f>Sheet1!$B$2:$B$9</c:f>
              <c:numCache>
                <c:formatCode>General</c:formatCode>
                <c:ptCount val="8"/>
                <c:pt idx="0">
                  <c:v>324.1</c:v>
                </c:pt>
                <c:pt idx="1">
                  <c:v>186.6</c:v>
                </c:pt>
                <c:pt idx="2">
                  <c:v>117.9</c:v>
                </c:pt>
                <c:pt idx="3">
                  <c:v>105.4</c:v>
                </c:pt>
                <c:pt idx="4">
                  <c:v>102.6</c:v>
                </c:pt>
                <c:pt idx="5">
                  <c:v>92.5</c:v>
                </c:pt>
                <c:pt idx="6">
                  <c:v>26.5</c:v>
                </c:pt>
                <c:pt idx="7">
                  <c:v>26.4</c:v>
                </c:pt>
              </c:numCache>
            </c:numRef>
          </c:val>
        </c:ser>
        <c:dLbls>
          <c:numFmt formatCode="0.0" sourceLinked="0"/>
          <c:txPr>
            <a:bodyPr/>
            <a:lstStyle/>
            <a:p>
              <a:pPr>
                <a:defRPr b="0" i="0" strike="noStrike" sz="11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Operating profit (EBIT, £ million)</a:t>
            </a:r>
          </a:p>
        </c:rich>
      </c:tx>
      <c:layout/>
      <c:overlay val="0"/>
    </c:title>
    <c:autoTitleDeleted val="0"/>
    <c:plotArea>
      <c:layout/>
      <c:barChart>
        <c:barDir val="col"/>
        <c:grouping val="clustered"/>
        <c:varyColors val="0"/>
        <c:ser>
          <c:idx val="0"/>
          <c:order val="0"/>
          <c:tx>
            <c:strRef>
              <c:f>Sheet1!$B$1</c:f>
              <c:strCache>
                <c:ptCount val="1"/>
                <c:pt idx="0">
                  <c:v>EBIT (£ million)</c:v>
                </c:pt>
              </c:strCache>
            </c:strRef>
          </c:tx>
          <c:spPr>
            <a:solidFill>
              <a:srgbClr val="6E625E"/>
            </a:solidFill>
            <a:effectLst/>
          </c:spPr>
          <c:invertIfNegative val="0"/>
          <c:dLbls>
            <c:numFmt formatCode="0.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6E625E"/>
              </a:solidFill>
              <a:effectLst/>
            </c:spPr>
          </c:dPt>
          <c:dPt>
            <c:idx val="1"/>
            <c:invertIfNegative val="0"/>
            <c:bubble3D val="0"/>
            <c:spPr>
              <a:solidFill>
                <a:srgbClr val="D52B1E"/>
              </a:solidFill>
              <a:effectLst/>
            </c:spPr>
          </c:dPt>
          <c:cat>
            <c:multiLvlStrRef>
              <c:f>Sheet1!$A$2:$A$3</c:f>
              <c:multiLvlStrCache>
                <c:ptCount val="2"/>
                <c:lvl>
                  <c:pt idx="0">
                    <c:v>FY-1 actual (8.0%)</c:v>
                  </c:pt>
                  <c:pt idx="1">
                    <c:v>10% target at FY-1 revenue</c:v>
                  </c:pt>
                </c:lvl>
              </c:multiLvlStrCache>
            </c:multiLvlStrRef>
          </c:cat>
          <c:val>
            <c:numRef>
              <c:f>Sheet1!$B$2:$B$3</c:f>
              <c:numCache>
                <c:formatCode>General</c:formatCode>
                <c:ptCount val="2"/>
                <c:pt idx="0">
                  <c:v>101.5</c:v>
                </c:pt>
                <c:pt idx="1">
                  <c:v>126.2</c:v>
                </c:pt>
              </c:numCache>
            </c:numRef>
          </c:val>
        </c:ser>
        <c:dLbls>
          <c:numFmt formatCode="0.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1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Revenue (£ million)</a:t>
            </a:r>
          </a:p>
        </c:rich>
      </c:tx>
      <c:layout/>
      <c:overlay val="0"/>
    </c:title>
    <c:autoTitleDeleted val="0"/>
    <c:plotArea>
      <c:layout/>
      <c:barChart>
        <c:barDir val="col"/>
        <c:grouping val="clustered"/>
        <c:varyColors val="0"/>
        <c:ser>
          <c:idx val="0"/>
          <c:order val="0"/>
          <c:tx>
            <c:strRef>
              <c:f>Sheet1!$B$1</c:f>
              <c:strCache>
                <c:ptCount val="1"/>
                <c:pt idx="0">
                  <c:v>Revenue (£ million)</c:v>
                </c:pt>
              </c:strCache>
            </c:strRef>
          </c:tx>
          <c:spPr>
            <a:solidFill>
              <a:srgbClr val="6E625E"/>
            </a:solidFill>
            <a:effectLst/>
          </c:spPr>
          <c:invertIfNegative val="0"/>
          <c:dLbls>
            <c:numFmt formatCode="#,##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6E625E"/>
              </a:solidFill>
              <a:effectLst/>
            </c:spPr>
          </c:dPt>
          <c:dPt>
            <c:idx val="1"/>
            <c:invertIfNegative val="0"/>
            <c:bubble3D val="0"/>
            <c:spPr>
              <a:solidFill>
                <a:srgbClr val="D52B1E"/>
              </a:solidFill>
              <a:effectLst/>
            </c:spPr>
          </c:dPt>
          <c:cat>
            <c:multiLvlStrRef>
              <c:f>Sheet1!$A$2:$A$3</c:f>
              <c:multiLvlStrCache>
                <c:ptCount val="2"/>
                <c:lvl>
                  <c:pt idx="0">
                    <c:v>FY-1 actual</c:v>
                  </c:pt>
                  <c:pt idx="1">
                    <c:v>Owners’ goal in five years</c:v>
                  </c:pt>
                </c:lvl>
              </c:multiLvlStrCache>
            </c:multiLvlStrRef>
          </c:cat>
          <c:val>
            <c:numRef>
              <c:f>Sheet1!$B$2:$B$3</c:f>
              <c:numCache>
                <c:formatCode>General</c:formatCode>
                <c:ptCount val="2"/>
                <c:pt idx="0">
                  <c:v>1262.5</c:v>
                </c:pt>
                <c:pt idx="1">
                  <c:v>2000</c:v>
                </c:pt>
              </c:numCache>
            </c:numRef>
          </c:val>
        </c:ser>
        <c:dLbls>
          <c:numFmt formatCode="#,##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24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V&amp;S does not have to choose between stores and online. The data pack shows customers are coming; each visit is worth less. The opportunity is to deliver George Virley's original promise, an exciting shopping experience open to everyone, in every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conclusion. Four points: the challenge, the reframe, the idea and the path. All figures come from the data pack: store sales, the FY-1 P&amp;L, and the website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storyboard on a page. The core message sits at the top, three main ideas support it, and each is backed by supporting ideas and facts from the data pack. The rest of the deck follows this order: evidence, reframe and idea, then plan and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back what Jack and Ashley told us, then anchor it in the FY-1 P&amp;L and the sales sheet. 10% of FY-1 revenue is £126.2m against £101.5m EBIT today. Profit figures in the sales sheet are as labelled there and do not reconcile to the P&amp;L (see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sales fell from £1,270.7m to £1,256.9m. London dropped £38.9m, Orlando £9.0m, Edinburgh £2.4m. Birmingham grew £36.5m. Ask Ashley and Jesse what changed in London between FY-2 and FY-1.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of sales is assumed to mean transactions; confirm with the client. Orlando values are presumably converted to the reporting currency. Birmingham is out of town with a large stock room and the highest value per sale. Ask Jesse and Ashley what drives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EBIT £101.5m on revenue £1,262.5m is 8.0%; gross margin is about 34% in every channel, so the spread comes from logistics and admin. Orlando’s 15.5% needs checking: cost allocation may differ, and its sales fell 9%. Edinburgh logistics at the group average would save about £4m.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by source and by country each sum to 982,145. Referral-site visits are blank in the sheet. Online revenue is the FY-1 P&amp;L figure. Paid search is 46% of visits, so ask Anshu how much of it is brand terms. Conversion data is not in the pack; request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Contact-us and Online delivery FAQ together draw nearly twice the views of the womenswear page, a friction signal. Golf is a niche worth testing, not yet a strategy. Ask Anshu about paid search spend on brand terms and what the golf traffic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store stock order process map and the stock management memo from the distribution centre manager. Type A products are stocked all year and reorder automatically; Type B are seasonal and buyers decide. London, Birmingham, Orlando and the Reading distribution centre use SAP; Edinburgh uses Oracle. Birmingham’s FY-4 plan to hold online stock was cut back. Ask Ashley and John Pope what this costs in markdowns and stock-outs.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this with Jack and Ashley as initial thoughts on reframing, as the email asks, and invite them to challenge it. The test is whether both see their own view in it: Jack’s online growth and Ashley’s in-store experience are two halves of the same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hypothesis has data we already hold and a person who can confirm or disprove it. Day 1 is the CEO and COO interviews; Day 2 is Jesse Stanway (Buying Director) and Anshu Sharma (Marketing Director). Use the interview questions in the prep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a bold idea that brings experience to life, integrates technology and is underpinned by business strategy: the B, the X and the T. Virley Everywhere sits where the three overlap. If any one circle is missing it fails: experience without technology is a promise, technology without business is 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how the experience translates to employees and customers. Top row is the client; bottom row is the colleague. Ashley reported frustration from staff reconciling data and moving information between systems, and this is the same fix. Tell it as a story with a named client, and scribe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email asks us to look beyond what the client outlined and add more value than they asked for. These four come straight from the data pack. All are hypotheses: test with Jesse Stanway and Anshu Sharma. Orlando’s margin may reflect cost allocation, so check before holding it up as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capability answers something in the data pack: the nightly Oracle-to-SAP upload, online stock held outside the central system, three HR processes, and delivery friction. Technology is the T in BXT. The org chart shows the IT Director role vacant and reporting to the Finance Director.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arithmetic on FY-1 figures, not a forecast: 10% of £1,262.5m is £126.2m against £101.5m EBIT, a £24.8m gap. £2bn over five years needs a 9.6% compound growth rate. Jack wants PwC to validate whether the owners’ targets are achievable; sizing each lever is the first benchmarking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experience during the pitch the email asks for: the room does the work, not the slides. Bring a wall or flipchart, sticky notes and dots, and four printed data cards. Keep to 15 minutes. The same method can be run with store teams to build employee experience and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Jack wants changes implemented within the next year, so the first two phases show visible results inside twelve months. The web-only acquisition is sequenced after foundations because Jack asked us to advise on timing and on whether V&amp;S can absorb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to each leader directly. Jack hopes an objective external view will build consensus, and Ashley wants in-store investment and the London flagship kept. Jesse Stanway and Anshu Sharma are met on Day 2; their cards are what we hope to confirm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decisions. Everything in the next 30 days produces the facts Jack wants: benchmarking, store-level performance and a view of the client journey. Missing data to request: online conversion, store-level costs beyond FY-1 and the definition of profit in the sales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methodology slide. Deductive logic suits a resistive audience, inductive logic suits an action-oriented one, and abductive logic suits skeptics. Jack and Ashley want action, so we group reasons under the core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which numbers come from the data pack and which from outside research. The external benchmarks (about 45% of luxury from Millennials and Gen Z; omnichannel brands growing 9.5% against 3.4%) are not used on the main slides now that V&amp;S’s own data is available; keep them as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S_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10515600" cy="21945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4114800"/>
            <a:ext cx="10515600" cy="118872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S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Virley &amp; Sons | Draft for discussion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S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Virley &amp; Sons | Draft for discussion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10515600" cy="2194560"/>
          </a:xfrm>
          <a:prstGeom prst="rect">
            <a:avLst/>
          </a:prstGeom>
          <a:noFill/>
          <a:ln/>
        </p:spPr>
        <p:txBody>
          <a:bodyPr wrap="square" lIns="0" tIns="0" rIns="0" bIns="0" rtlCol="0" anchor="b"/>
          <a:lstStyle/>
          <a:p>
            <a:pPr algn="l" indent="0" marL="0">
              <a:buNone/>
            </a:pPr>
            <a:r>
              <a:rPr lang="en-US" sz="4800" b="1" dirty="0">
                <a:solidFill>
                  <a:schemeClr val="bg1"/>
                </a:solidFill>
              </a:rPr>
              <a:t>One Virley experience, in every channel</a:t>
            </a:r>
            <a:endParaRPr lang="en-US" sz="4800" dirty="0"/>
          </a:p>
        </p:txBody>
      </p:sp>
      <p:sp>
        <p:nvSpPr>
          <p:cNvPr id="3" name="Text 0"/>
          <p:cNvSpPr/>
          <p:nvPr>
            <p:ph idx="101" type="body" hasCustomPrompt="1"/>
          </p:nvPr>
        </p:nvSpPr>
        <p:spPr>
          <a:xfrm>
            <a:off x="731520" y="4114800"/>
            <a:ext cx="10515600" cy="1188720"/>
          </a:xfrm>
          <a:prstGeom prst="rect">
            <a:avLst/>
          </a:prstGeom>
          <a:noFill/>
          <a:ln/>
        </p:spPr>
        <p:txBody>
          <a:bodyPr wrap="square" lIns="0" tIns="0" rIns="0" bIns="0" rtlCol="0" anchor="t"/>
          <a:lstStyle/>
          <a:p>
            <a:pPr algn="l" indent="0" marL="0">
              <a:buNone/>
            </a:pPr>
            <a:r>
              <a:rPr lang="en-US" sz="2000" dirty="0">
                <a:solidFill>
                  <a:schemeClr val="bg1"/>
                </a:solidFill>
              </a:rPr>
              <a:t>Draft solution for Jack Claybourne, CEO, and Ashley Palmer, COO</a:t>
            </a:r>
            <a:endParaRPr lang="en-US" sz="2000" dirty="0"/>
          </a:p>
          <a:p>
            <a:pPr algn="l" indent="0" marL="0">
              <a:buNone/>
            </a:pPr>
            <a:r>
              <a:rPr lang="en-US" sz="2000" dirty="0">
                <a:solidFill>
                  <a:schemeClr val="bg1"/>
                </a:solidFill>
              </a:rPr>
              <a:t>Draft for discussion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Executive summary: one Virley experience in every channel makes each visit worth more</a:t>
            </a:r>
            <a:endParaRPr lang="en-US" sz="2800" dirty="0"/>
          </a:p>
        </p:txBody>
      </p:sp>
      <p:sp>
        <p:nvSpPr>
          <p:cNvPr id="3" name="Shape 1"/>
          <p:cNvSpPr/>
          <p:nvPr/>
        </p:nvSpPr>
        <p:spPr>
          <a:xfrm>
            <a:off x="548640" y="1600200"/>
            <a:ext cx="548640" cy="548640"/>
          </a:xfrm>
          <a:prstGeom prst="ellipse">
            <a:avLst/>
          </a:prstGeom>
          <a:solidFill>
            <a:schemeClr val="accent1"/>
          </a:solidFill>
          <a:ln/>
        </p:spPr>
      </p:sp>
      <p:sp>
        <p:nvSpPr>
          <p:cNvPr id="4" name="Text 2"/>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5" name="Text 3"/>
          <p:cNvSpPr txBox="1"/>
          <p:nvPr/>
        </p:nvSpPr>
        <p:spPr>
          <a:xfrm>
            <a:off x="1325880" y="1581912"/>
            <a:ext cx="6217920" cy="320040"/>
          </a:xfrm>
          <a:prstGeom prst="rect">
            <a:avLst/>
          </a:prstGeom>
          <a:noFill/>
          <a:ln/>
        </p:spPr>
        <p:txBody>
          <a:bodyPr wrap="square" lIns="0" tIns="0" rIns="0" bIns="0" rtlCol="0" anchor="t"/>
          <a:lstStyle/>
          <a:p>
            <a:pPr indent="0" marL="0">
              <a:buNone/>
            </a:pPr>
            <a:r>
              <a:rPr lang="en-US" sz="1600" b="1" dirty="0">
                <a:solidFill>
                  <a:schemeClr val="tx1"/>
                </a:solidFill>
              </a:rPr>
              <a:t>The challenge</a:t>
            </a:r>
            <a:endParaRPr lang="en-US" sz="1600" dirty="0"/>
          </a:p>
        </p:txBody>
      </p:sp>
      <p:sp>
        <p:nvSpPr>
          <p:cNvPr id="6" name="Text 4"/>
          <p:cNvSpPr txBox="1"/>
          <p:nvPr/>
        </p:nvSpPr>
        <p:spPr>
          <a:xfrm>
            <a:off x="1325880" y="1929384"/>
            <a:ext cx="6217920" cy="777240"/>
          </a:xfrm>
          <a:prstGeom prst="rect">
            <a:avLst/>
          </a:prstGeom>
          <a:noFill/>
          <a:ln/>
        </p:spPr>
        <p:txBody>
          <a:bodyPr wrap="square" lIns="0" tIns="0" rIns="0" bIns="0" rtlCol="0" anchor="t"/>
          <a:lstStyle/>
          <a:p>
            <a:pPr indent="0" marL="0">
              <a:buNone/>
            </a:pPr>
            <a:r>
              <a:rPr lang="en-US" sz="1400" dirty="0">
                <a:solidFill>
                  <a:schemeClr val="tx2"/>
                </a:solidFill>
              </a:rPr>
              <a:t>Store sales slipped 1.1% in FY-1 and operating margin is 8.0% against the owners’ 10% goal, even though the number of sales rose in every store.</a:t>
            </a:r>
            <a:endParaRPr lang="en-US" sz="1400" dirty="0"/>
          </a:p>
        </p:txBody>
      </p:sp>
      <p:sp>
        <p:nvSpPr>
          <p:cNvPr id="7" name="Shape 5"/>
          <p:cNvSpPr/>
          <p:nvPr/>
        </p:nvSpPr>
        <p:spPr>
          <a:xfrm>
            <a:off x="548640" y="2743200"/>
            <a:ext cx="548640" cy="548640"/>
          </a:xfrm>
          <a:prstGeom prst="ellipse">
            <a:avLst/>
          </a:prstGeom>
          <a:solidFill>
            <a:schemeClr val="accent1"/>
          </a:solidFill>
          <a:ln/>
        </p:spPr>
      </p:sp>
      <p:sp>
        <p:nvSpPr>
          <p:cNvPr id="8" name="Text 6"/>
          <p:cNvSpPr txBox="1"/>
          <p:nvPr/>
        </p:nvSpPr>
        <p:spPr>
          <a:xfrm>
            <a:off x="548640" y="2743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9" name="Text 7"/>
          <p:cNvSpPr txBox="1"/>
          <p:nvPr/>
        </p:nvSpPr>
        <p:spPr>
          <a:xfrm>
            <a:off x="1325880" y="2724912"/>
            <a:ext cx="6217920" cy="320040"/>
          </a:xfrm>
          <a:prstGeom prst="rect">
            <a:avLst/>
          </a:prstGeom>
          <a:noFill/>
          <a:ln/>
        </p:spPr>
        <p:txBody>
          <a:bodyPr wrap="square" lIns="0" tIns="0" rIns="0" bIns="0" rtlCol="0" anchor="t"/>
          <a:lstStyle/>
          <a:p>
            <a:pPr indent="0" marL="0">
              <a:buNone/>
            </a:pPr>
            <a:r>
              <a:rPr lang="en-US" sz="1600" b="1" dirty="0">
                <a:solidFill>
                  <a:schemeClr val="tx1"/>
                </a:solidFill>
              </a:rPr>
              <a:t>The reframe</a:t>
            </a:r>
            <a:endParaRPr lang="en-US" sz="1600" dirty="0"/>
          </a:p>
        </p:txBody>
      </p:sp>
      <p:sp>
        <p:nvSpPr>
          <p:cNvPr id="10" name="Text 8"/>
          <p:cNvSpPr txBox="1"/>
          <p:nvPr/>
        </p:nvSpPr>
        <p:spPr>
          <a:xfrm>
            <a:off x="1325880" y="3072384"/>
            <a:ext cx="6217920" cy="777240"/>
          </a:xfrm>
          <a:prstGeom prst="rect">
            <a:avLst/>
          </a:prstGeom>
          <a:noFill/>
          <a:ln/>
        </p:spPr>
        <p:txBody>
          <a:bodyPr wrap="square" lIns="0" tIns="0" rIns="0" bIns="0" rtlCol="0" anchor="t"/>
          <a:lstStyle/>
          <a:p>
            <a:pPr indent="0" marL="0">
              <a:buNone/>
            </a:pPr>
            <a:r>
              <a:rPr lang="en-US" sz="1400" dirty="0">
                <a:solidFill>
                  <a:schemeClr val="tx2"/>
                </a:solidFill>
              </a:rPr>
              <a:t>The issue is value per visit, not traffic. Serve each client as one person in every channel, and run one joined-up operation behind it.</a:t>
            </a:r>
            <a:endParaRPr lang="en-US" sz="1400" dirty="0"/>
          </a:p>
        </p:txBody>
      </p:sp>
      <p:sp>
        <p:nvSpPr>
          <p:cNvPr id="11" name="Shape 9"/>
          <p:cNvSpPr/>
          <p:nvPr/>
        </p:nvSpPr>
        <p:spPr>
          <a:xfrm>
            <a:off x="548640" y="3886200"/>
            <a:ext cx="548640" cy="548640"/>
          </a:xfrm>
          <a:prstGeom prst="ellipse">
            <a:avLst/>
          </a:prstGeom>
          <a:solidFill>
            <a:schemeClr val="accent1"/>
          </a:solidFill>
          <a:ln/>
        </p:spPr>
      </p:sp>
      <p:sp>
        <p:nvSpPr>
          <p:cNvPr id="12" name="Text 10"/>
          <p:cNvSpPr txBox="1"/>
          <p:nvPr/>
        </p:nvSpPr>
        <p:spPr>
          <a:xfrm>
            <a:off x="548640" y="3886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3" name="Text 11"/>
          <p:cNvSpPr txBox="1"/>
          <p:nvPr/>
        </p:nvSpPr>
        <p:spPr>
          <a:xfrm>
            <a:off x="1325880" y="3867912"/>
            <a:ext cx="6217920" cy="320040"/>
          </a:xfrm>
          <a:prstGeom prst="rect">
            <a:avLst/>
          </a:prstGeom>
          <a:noFill/>
          <a:ln/>
        </p:spPr>
        <p:txBody>
          <a:bodyPr wrap="square" lIns="0" tIns="0" rIns="0" bIns="0" rtlCol="0" anchor="t"/>
          <a:lstStyle/>
          <a:p>
            <a:pPr indent="0" marL="0">
              <a:buNone/>
            </a:pPr>
            <a:r>
              <a:rPr lang="en-US" sz="1600" b="1" dirty="0">
                <a:solidFill>
                  <a:schemeClr val="tx1"/>
                </a:solidFill>
              </a:rPr>
              <a:t>The bold idea</a:t>
            </a:r>
            <a:endParaRPr lang="en-US" sz="1600" dirty="0"/>
          </a:p>
        </p:txBody>
      </p:sp>
      <p:sp>
        <p:nvSpPr>
          <p:cNvPr id="14" name="Text 12"/>
          <p:cNvSpPr txBox="1"/>
          <p:nvPr/>
        </p:nvSpPr>
        <p:spPr>
          <a:xfrm>
            <a:off x="1325880" y="4215384"/>
            <a:ext cx="6217920" cy="777240"/>
          </a:xfrm>
          <a:prstGeom prst="rect">
            <a:avLst/>
          </a:prstGeom>
          <a:noFill/>
          <a:ln/>
        </p:spPr>
        <p:txBody>
          <a:bodyPr wrap="square" lIns="0" tIns="0" rIns="0" bIns="0" rtlCol="0" anchor="t"/>
          <a:lstStyle/>
          <a:p>
            <a:pPr indent="0" marL="0">
              <a:buNone/>
            </a:pPr>
            <a:r>
              <a:rPr lang="en-US" sz="1400" dirty="0">
                <a:solidFill>
                  <a:schemeClr val="tx2"/>
                </a:solidFill>
              </a:rPr>
              <a:t>Virley Everywhere joins business, experience and technology (BXT): one client profile, one stock view and one team across stores and online.</a:t>
            </a:r>
            <a:endParaRPr lang="en-US" sz="1400" dirty="0"/>
          </a:p>
        </p:txBody>
      </p:sp>
      <p:sp>
        <p:nvSpPr>
          <p:cNvPr id="15" name="Shape 13"/>
          <p:cNvSpPr/>
          <p:nvPr/>
        </p:nvSpPr>
        <p:spPr>
          <a:xfrm>
            <a:off x="548640" y="5029200"/>
            <a:ext cx="548640" cy="548640"/>
          </a:xfrm>
          <a:prstGeom prst="ellipse">
            <a:avLst/>
          </a:prstGeom>
          <a:solidFill>
            <a:schemeClr val="accent1"/>
          </a:solidFill>
          <a:ln/>
        </p:spPr>
      </p:sp>
      <p:sp>
        <p:nvSpPr>
          <p:cNvPr id="16" name="Text 14"/>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17" name="Text 15"/>
          <p:cNvSpPr txBox="1"/>
          <p:nvPr/>
        </p:nvSpPr>
        <p:spPr>
          <a:xfrm>
            <a:off x="1325880" y="5010912"/>
            <a:ext cx="6217920" cy="320040"/>
          </a:xfrm>
          <a:prstGeom prst="rect">
            <a:avLst/>
          </a:prstGeom>
          <a:noFill/>
          <a:ln/>
        </p:spPr>
        <p:txBody>
          <a:bodyPr wrap="square" lIns="0" tIns="0" rIns="0" bIns="0" rtlCol="0" anchor="t"/>
          <a:lstStyle/>
          <a:p>
            <a:pPr indent="0" marL="0">
              <a:buNone/>
            </a:pPr>
            <a:r>
              <a:rPr lang="en-US" sz="1600" b="1" dirty="0">
                <a:solidFill>
                  <a:schemeClr val="tx1"/>
                </a:solidFill>
              </a:rPr>
              <a:t>The path</a:t>
            </a:r>
            <a:endParaRPr lang="en-US" sz="1600" dirty="0"/>
          </a:p>
        </p:txBody>
      </p:sp>
      <p:sp>
        <p:nvSpPr>
          <p:cNvPr id="18" name="Text 16"/>
          <p:cNvSpPr txBox="1"/>
          <p:nvPr/>
        </p:nvSpPr>
        <p:spPr>
          <a:xfrm>
            <a:off x="1325880" y="5358384"/>
            <a:ext cx="6217920" cy="777240"/>
          </a:xfrm>
          <a:prstGeom prst="rect">
            <a:avLst/>
          </a:prstGeom>
          <a:noFill/>
          <a:ln/>
        </p:spPr>
        <p:txBody>
          <a:bodyPr wrap="square" lIns="0" tIns="0" rIns="0" bIns="0" rtlCol="0" anchor="t"/>
          <a:lstStyle/>
          <a:p>
            <a:pPr indent="0" marL="0">
              <a:buNone/>
            </a:pPr>
            <a:r>
              <a:rPr lang="en-US" sz="1400" dirty="0">
                <a:solidFill>
                  <a:schemeClr val="tx2"/>
                </a:solidFill>
              </a:rPr>
              <a:t>Fix foundations, prove the model in London and Birmingham, then scale. About two points of cost closes the margin gap.</a:t>
            </a:r>
            <a:endParaRPr lang="en-US" sz="1400" dirty="0"/>
          </a:p>
        </p:txBody>
      </p:sp>
      <p:sp>
        <p:nvSpPr>
          <p:cNvPr id="19" name="Core message card"/>
          <p:cNvSpPr/>
          <p:nvPr/>
        </p:nvSpPr>
        <p:spPr>
          <a:xfrm>
            <a:off x="7955280" y="1600200"/>
            <a:ext cx="3657600" cy="4434840"/>
          </a:xfrm>
          <a:prstGeom prst="rect">
            <a:avLst/>
          </a:prstGeom>
          <a:solidFill>
            <a:schemeClr val="accent1"/>
          </a:solidFill>
          <a:ln/>
        </p:spPr>
      </p:sp>
      <p:sp>
        <p:nvSpPr>
          <p:cNvPr id="20" name="Text 18"/>
          <p:cNvSpPr txBox="1"/>
          <p:nvPr/>
        </p:nvSpPr>
        <p:spPr>
          <a:xfrm>
            <a:off x="8229600" y="1874520"/>
            <a:ext cx="3108960" cy="274320"/>
          </a:xfrm>
          <a:prstGeom prst="rect">
            <a:avLst/>
          </a:prstGeom>
          <a:noFill/>
          <a:ln/>
        </p:spPr>
        <p:txBody>
          <a:bodyPr wrap="square" lIns="0" tIns="0" rIns="0" bIns="0" rtlCol="0" anchor="t"/>
          <a:lstStyle/>
          <a:p>
            <a:pPr indent="0" marL="0">
              <a:buNone/>
            </a:pPr>
            <a:r>
              <a:rPr lang="en-US" sz="1200" b="1" spc="200" kern="0" dirty="0">
                <a:solidFill>
                  <a:schemeClr val="bg1"/>
                </a:solidFill>
              </a:rPr>
              <a:t>CORE MESSAGE</a:t>
            </a:r>
            <a:endParaRPr lang="en-US" sz="1200" dirty="0"/>
          </a:p>
        </p:txBody>
      </p:sp>
      <p:sp>
        <p:nvSpPr>
          <p:cNvPr id="21" name="Text 19"/>
          <p:cNvSpPr txBox="1"/>
          <p:nvPr/>
        </p:nvSpPr>
        <p:spPr>
          <a:xfrm>
            <a:off x="8229600" y="2331720"/>
            <a:ext cx="3108960" cy="347472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V&amp;S can grow toward £2bn at a 10% margin by delivering one Virley experience in every channel</a:t>
            </a:r>
            <a:endParaRPr lang="en-US" sz="2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The storyline: one core message, three main ideas and the facts behind them</a:t>
            </a:r>
            <a:endParaRPr lang="en-US" sz="2800" dirty="0"/>
          </a:p>
        </p:txBody>
      </p:sp>
      <p:sp>
        <p:nvSpPr>
          <p:cNvPr id="3" name="Text 1"/>
          <p:cNvSpPr txBox="1"/>
          <p:nvPr/>
        </p:nvSpPr>
        <p:spPr>
          <a:xfrm>
            <a:off x="548640" y="1810512"/>
            <a:ext cx="1371600" cy="274320"/>
          </a:xfrm>
          <a:prstGeom prst="rect">
            <a:avLst/>
          </a:prstGeom>
          <a:noFill/>
          <a:ln/>
        </p:spPr>
        <p:txBody>
          <a:bodyPr wrap="square" lIns="0" tIns="0" rIns="0" bIns="0" rtlCol="0" anchor="t"/>
          <a:lstStyle/>
          <a:p>
            <a:pPr indent="0" marL="0">
              <a:buNone/>
            </a:pPr>
            <a:r>
              <a:rPr lang="en-US" sz="1200" b="1" dirty="0">
                <a:solidFill>
                  <a:srgbClr val="000000"/>
                </a:solidFill>
              </a:rPr>
              <a:t>Core message</a:t>
            </a:r>
            <a:endParaRPr lang="en-US" sz="1200" dirty="0"/>
          </a:p>
        </p:txBody>
      </p:sp>
      <p:sp>
        <p:nvSpPr>
          <p:cNvPr id="4" name="Text 2"/>
          <p:cNvSpPr txBox="1"/>
          <p:nvPr/>
        </p:nvSpPr>
        <p:spPr>
          <a:xfrm>
            <a:off x="548640" y="2999232"/>
            <a:ext cx="1371600" cy="274320"/>
          </a:xfrm>
          <a:prstGeom prst="rect">
            <a:avLst/>
          </a:prstGeom>
          <a:noFill/>
          <a:ln/>
        </p:spPr>
        <p:txBody>
          <a:bodyPr wrap="square" lIns="0" tIns="0" rIns="0" bIns="0" rtlCol="0" anchor="t"/>
          <a:lstStyle/>
          <a:p>
            <a:pPr indent="0" marL="0">
              <a:buNone/>
            </a:pPr>
            <a:r>
              <a:rPr lang="en-US" sz="1200" b="1" dirty="0">
                <a:solidFill>
                  <a:srgbClr val="000000"/>
                </a:solidFill>
              </a:rPr>
              <a:t>Main ideas</a:t>
            </a:r>
            <a:endParaRPr lang="en-US" sz="1200" dirty="0"/>
          </a:p>
        </p:txBody>
      </p:sp>
      <p:sp>
        <p:nvSpPr>
          <p:cNvPr id="5" name="Text 3"/>
          <p:cNvSpPr txBox="1"/>
          <p:nvPr/>
        </p:nvSpPr>
        <p:spPr>
          <a:xfrm>
            <a:off x="548640" y="4160520"/>
            <a:ext cx="1371600" cy="457200"/>
          </a:xfrm>
          <a:prstGeom prst="rect">
            <a:avLst/>
          </a:prstGeom>
          <a:noFill/>
          <a:ln/>
        </p:spPr>
        <p:txBody>
          <a:bodyPr wrap="square" lIns="0" tIns="0" rIns="0" bIns="0" rtlCol="0" anchor="t"/>
          <a:lstStyle/>
          <a:p>
            <a:pPr indent="0" marL="0">
              <a:buNone/>
            </a:pPr>
            <a:r>
              <a:rPr lang="en-US" sz="1200" b="1" dirty="0">
                <a:solidFill>
                  <a:srgbClr val="000000"/>
                </a:solidFill>
              </a:rPr>
              <a:t>Supporting ideas</a:t>
            </a:r>
            <a:endParaRPr lang="en-US" sz="1200" dirty="0"/>
          </a:p>
        </p:txBody>
      </p:sp>
      <p:sp>
        <p:nvSpPr>
          <p:cNvPr id="6" name="Text 4"/>
          <p:cNvSpPr txBox="1"/>
          <p:nvPr/>
        </p:nvSpPr>
        <p:spPr>
          <a:xfrm>
            <a:off x="548640" y="5330952"/>
            <a:ext cx="1371600" cy="274320"/>
          </a:xfrm>
          <a:prstGeom prst="rect">
            <a:avLst/>
          </a:prstGeom>
          <a:noFill/>
          <a:ln/>
        </p:spPr>
        <p:txBody>
          <a:bodyPr wrap="square" lIns="0" tIns="0" rIns="0" bIns="0" rtlCol="0" anchor="t"/>
          <a:lstStyle/>
          <a:p>
            <a:pPr indent="0" marL="0">
              <a:buNone/>
            </a:pPr>
            <a:r>
              <a:rPr lang="en-US" sz="1200" b="1" dirty="0">
                <a:solidFill>
                  <a:srgbClr val="000000"/>
                </a:solidFill>
              </a:rPr>
              <a:t>Facts</a:t>
            </a:r>
            <a:endParaRPr lang="en-US" sz="1200" dirty="0"/>
          </a:p>
        </p:txBody>
      </p:sp>
      <p:sp>
        <p:nvSpPr>
          <p:cNvPr id="7" name="Storyline panel"/>
          <p:cNvSpPr/>
          <p:nvPr/>
        </p:nvSpPr>
        <p:spPr>
          <a:xfrm>
            <a:off x="1965960" y="2606040"/>
            <a:ext cx="7818120" cy="3429000"/>
          </a:xfrm>
          <a:prstGeom prst="rect">
            <a:avLst/>
          </a:prstGeom>
          <a:solidFill>
            <a:schemeClr val="bg2"/>
          </a:solidFill>
          <a:ln/>
        </p:spPr>
      </p:sp>
      <p:sp>
        <p:nvSpPr>
          <p:cNvPr id="8" name="Shape 6"/>
          <p:cNvSpPr/>
          <p:nvPr/>
        </p:nvSpPr>
        <p:spPr>
          <a:xfrm>
            <a:off x="5897880" y="2331720"/>
            <a:ext cx="0" cy="182880"/>
          </a:xfrm>
          <a:prstGeom prst="line">
            <a:avLst/>
          </a:prstGeom>
          <a:noFill/>
          <a:ln w="12700">
            <a:solidFill>
              <a:schemeClr val="tx2"/>
            </a:solidFill>
            <a:prstDash val="solid"/>
          </a:ln>
        </p:spPr>
      </p:sp>
      <p:sp>
        <p:nvSpPr>
          <p:cNvPr id="9" name="Shape 7"/>
          <p:cNvSpPr/>
          <p:nvPr/>
        </p:nvSpPr>
        <p:spPr>
          <a:xfrm>
            <a:off x="3291840" y="2514600"/>
            <a:ext cx="5212080" cy="0"/>
          </a:xfrm>
          <a:prstGeom prst="line">
            <a:avLst/>
          </a:prstGeom>
          <a:noFill/>
          <a:ln w="12700">
            <a:solidFill>
              <a:schemeClr val="tx2"/>
            </a:solidFill>
            <a:prstDash val="solid"/>
          </a:ln>
        </p:spPr>
      </p:sp>
      <p:sp>
        <p:nvSpPr>
          <p:cNvPr id="10" name="Shape 8"/>
          <p:cNvSpPr/>
          <p:nvPr/>
        </p:nvSpPr>
        <p:spPr>
          <a:xfrm>
            <a:off x="3291840" y="2514600"/>
            <a:ext cx="0" cy="182880"/>
          </a:xfrm>
          <a:prstGeom prst="line">
            <a:avLst/>
          </a:prstGeom>
          <a:noFill/>
          <a:ln w="12700">
            <a:solidFill>
              <a:schemeClr val="tx2"/>
            </a:solidFill>
            <a:prstDash val="solid"/>
          </a:ln>
        </p:spPr>
      </p:sp>
      <p:sp>
        <p:nvSpPr>
          <p:cNvPr id="11" name="Shape 9"/>
          <p:cNvSpPr/>
          <p:nvPr/>
        </p:nvSpPr>
        <p:spPr>
          <a:xfrm>
            <a:off x="3291840" y="3566160"/>
            <a:ext cx="0" cy="137160"/>
          </a:xfrm>
          <a:prstGeom prst="line">
            <a:avLst/>
          </a:prstGeom>
          <a:noFill/>
          <a:ln w="12700">
            <a:solidFill>
              <a:schemeClr val="tx2"/>
            </a:solidFill>
            <a:prstDash val="solid"/>
          </a:ln>
        </p:spPr>
      </p:sp>
      <p:sp>
        <p:nvSpPr>
          <p:cNvPr id="12" name="Shape 10"/>
          <p:cNvSpPr/>
          <p:nvPr/>
        </p:nvSpPr>
        <p:spPr>
          <a:xfrm>
            <a:off x="2651760" y="3703320"/>
            <a:ext cx="1280160" cy="0"/>
          </a:xfrm>
          <a:prstGeom prst="line">
            <a:avLst/>
          </a:prstGeom>
          <a:noFill/>
          <a:ln w="12700">
            <a:solidFill>
              <a:schemeClr val="tx2"/>
            </a:solidFill>
            <a:prstDash val="solid"/>
          </a:ln>
        </p:spPr>
      </p:sp>
      <p:sp>
        <p:nvSpPr>
          <p:cNvPr id="13" name="Shape 11"/>
          <p:cNvSpPr/>
          <p:nvPr/>
        </p:nvSpPr>
        <p:spPr>
          <a:xfrm>
            <a:off x="2651760" y="3703320"/>
            <a:ext cx="0" cy="137160"/>
          </a:xfrm>
          <a:prstGeom prst="line">
            <a:avLst/>
          </a:prstGeom>
          <a:noFill/>
          <a:ln w="12700">
            <a:solidFill>
              <a:schemeClr val="tx2"/>
            </a:solidFill>
            <a:prstDash val="solid"/>
          </a:ln>
        </p:spPr>
      </p:sp>
      <p:sp>
        <p:nvSpPr>
          <p:cNvPr id="14" name="Shape 12"/>
          <p:cNvSpPr/>
          <p:nvPr/>
        </p:nvSpPr>
        <p:spPr>
          <a:xfrm>
            <a:off x="3931920" y="3703320"/>
            <a:ext cx="0" cy="137160"/>
          </a:xfrm>
          <a:prstGeom prst="line">
            <a:avLst/>
          </a:prstGeom>
          <a:noFill/>
          <a:ln w="12700">
            <a:solidFill>
              <a:schemeClr val="tx2"/>
            </a:solidFill>
            <a:prstDash val="solid"/>
          </a:ln>
        </p:spPr>
      </p:sp>
      <p:sp>
        <p:nvSpPr>
          <p:cNvPr id="15" name="Shape 13"/>
          <p:cNvSpPr/>
          <p:nvPr/>
        </p:nvSpPr>
        <p:spPr>
          <a:xfrm>
            <a:off x="2651760" y="4754880"/>
            <a:ext cx="0" cy="137160"/>
          </a:xfrm>
          <a:prstGeom prst="line">
            <a:avLst/>
          </a:prstGeom>
          <a:noFill/>
          <a:ln w="12700">
            <a:solidFill>
              <a:schemeClr val="tx2"/>
            </a:solidFill>
            <a:prstDash val="solid"/>
          </a:ln>
        </p:spPr>
      </p:sp>
      <p:sp>
        <p:nvSpPr>
          <p:cNvPr id="16" name="Shape 14"/>
          <p:cNvSpPr/>
          <p:nvPr/>
        </p:nvSpPr>
        <p:spPr>
          <a:xfrm>
            <a:off x="3931920" y="4754880"/>
            <a:ext cx="0" cy="137160"/>
          </a:xfrm>
          <a:prstGeom prst="line">
            <a:avLst/>
          </a:prstGeom>
          <a:noFill/>
          <a:ln w="12700">
            <a:solidFill>
              <a:schemeClr val="tx2"/>
            </a:solidFill>
            <a:prstDash val="solid"/>
          </a:ln>
        </p:spPr>
      </p:sp>
      <p:sp>
        <p:nvSpPr>
          <p:cNvPr id="17" name="Shape 15"/>
          <p:cNvSpPr/>
          <p:nvPr/>
        </p:nvSpPr>
        <p:spPr>
          <a:xfrm>
            <a:off x="2651760" y="4892040"/>
            <a:ext cx="1280160" cy="0"/>
          </a:xfrm>
          <a:prstGeom prst="line">
            <a:avLst/>
          </a:prstGeom>
          <a:noFill/>
          <a:ln w="12700">
            <a:solidFill>
              <a:schemeClr val="tx2"/>
            </a:solidFill>
            <a:prstDash val="solid"/>
          </a:ln>
        </p:spPr>
      </p:sp>
      <p:sp>
        <p:nvSpPr>
          <p:cNvPr id="18" name="Shape 16"/>
          <p:cNvSpPr/>
          <p:nvPr/>
        </p:nvSpPr>
        <p:spPr>
          <a:xfrm>
            <a:off x="3291840" y="4892040"/>
            <a:ext cx="0" cy="137160"/>
          </a:xfrm>
          <a:prstGeom prst="line">
            <a:avLst/>
          </a:prstGeom>
          <a:noFill/>
          <a:ln w="12700">
            <a:solidFill>
              <a:schemeClr val="tx2"/>
            </a:solidFill>
            <a:prstDash val="solid"/>
          </a:ln>
        </p:spPr>
      </p:sp>
      <p:sp>
        <p:nvSpPr>
          <p:cNvPr id="19" name="Shape 17"/>
          <p:cNvSpPr/>
          <p:nvPr/>
        </p:nvSpPr>
        <p:spPr>
          <a:xfrm>
            <a:off x="5897880" y="2514600"/>
            <a:ext cx="0" cy="182880"/>
          </a:xfrm>
          <a:prstGeom prst="line">
            <a:avLst/>
          </a:prstGeom>
          <a:noFill/>
          <a:ln w="12700">
            <a:solidFill>
              <a:schemeClr val="tx2"/>
            </a:solidFill>
            <a:prstDash val="solid"/>
          </a:ln>
        </p:spPr>
      </p:sp>
      <p:sp>
        <p:nvSpPr>
          <p:cNvPr id="20" name="Shape 18"/>
          <p:cNvSpPr/>
          <p:nvPr/>
        </p:nvSpPr>
        <p:spPr>
          <a:xfrm>
            <a:off x="5897880" y="3566160"/>
            <a:ext cx="0" cy="137160"/>
          </a:xfrm>
          <a:prstGeom prst="line">
            <a:avLst/>
          </a:prstGeom>
          <a:noFill/>
          <a:ln w="12700">
            <a:solidFill>
              <a:schemeClr val="tx2"/>
            </a:solidFill>
            <a:prstDash val="solid"/>
          </a:ln>
        </p:spPr>
      </p:sp>
      <p:sp>
        <p:nvSpPr>
          <p:cNvPr id="21" name="Shape 19"/>
          <p:cNvSpPr/>
          <p:nvPr/>
        </p:nvSpPr>
        <p:spPr>
          <a:xfrm>
            <a:off x="5257800" y="3703320"/>
            <a:ext cx="1280160" cy="0"/>
          </a:xfrm>
          <a:prstGeom prst="line">
            <a:avLst/>
          </a:prstGeom>
          <a:noFill/>
          <a:ln w="12700">
            <a:solidFill>
              <a:schemeClr val="tx2"/>
            </a:solidFill>
            <a:prstDash val="solid"/>
          </a:ln>
        </p:spPr>
      </p:sp>
      <p:sp>
        <p:nvSpPr>
          <p:cNvPr id="22" name="Shape 20"/>
          <p:cNvSpPr/>
          <p:nvPr/>
        </p:nvSpPr>
        <p:spPr>
          <a:xfrm>
            <a:off x="5257800" y="3703320"/>
            <a:ext cx="0" cy="137160"/>
          </a:xfrm>
          <a:prstGeom prst="line">
            <a:avLst/>
          </a:prstGeom>
          <a:noFill/>
          <a:ln w="12700">
            <a:solidFill>
              <a:schemeClr val="tx2"/>
            </a:solidFill>
            <a:prstDash val="solid"/>
          </a:ln>
        </p:spPr>
      </p:sp>
      <p:sp>
        <p:nvSpPr>
          <p:cNvPr id="23" name="Shape 21"/>
          <p:cNvSpPr/>
          <p:nvPr/>
        </p:nvSpPr>
        <p:spPr>
          <a:xfrm>
            <a:off x="6537960" y="3703320"/>
            <a:ext cx="0" cy="137160"/>
          </a:xfrm>
          <a:prstGeom prst="line">
            <a:avLst/>
          </a:prstGeom>
          <a:noFill/>
          <a:ln w="12700">
            <a:solidFill>
              <a:schemeClr val="tx2"/>
            </a:solidFill>
            <a:prstDash val="solid"/>
          </a:ln>
        </p:spPr>
      </p:sp>
      <p:sp>
        <p:nvSpPr>
          <p:cNvPr id="24" name="Shape 22"/>
          <p:cNvSpPr/>
          <p:nvPr/>
        </p:nvSpPr>
        <p:spPr>
          <a:xfrm>
            <a:off x="5257800" y="4754880"/>
            <a:ext cx="0" cy="137160"/>
          </a:xfrm>
          <a:prstGeom prst="line">
            <a:avLst/>
          </a:prstGeom>
          <a:noFill/>
          <a:ln w="12700">
            <a:solidFill>
              <a:schemeClr val="tx2"/>
            </a:solidFill>
            <a:prstDash val="solid"/>
          </a:ln>
        </p:spPr>
      </p:sp>
      <p:sp>
        <p:nvSpPr>
          <p:cNvPr id="25" name="Shape 23"/>
          <p:cNvSpPr/>
          <p:nvPr/>
        </p:nvSpPr>
        <p:spPr>
          <a:xfrm>
            <a:off x="6537960" y="4754880"/>
            <a:ext cx="0" cy="137160"/>
          </a:xfrm>
          <a:prstGeom prst="line">
            <a:avLst/>
          </a:prstGeom>
          <a:noFill/>
          <a:ln w="12700">
            <a:solidFill>
              <a:schemeClr val="tx2"/>
            </a:solidFill>
            <a:prstDash val="solid"/>
          </a:ln>
        </p:spPr>
      </p:sp>
      <p:sp>
        <p:nvSpPr>
          <p:cNvPr id="26" name="Shape 24"/>
          <p:cNvSpPr/>
          <p:nvPr/>
        </p:nvSpPr>
        <p:spPr>
          <a:xfrm>
            <a:off x="5257800" y="4892040"/>
            <a:ext cx="1280160" cy="0"/>
          </a:xfrm>
          <a:prstGeom prst="line">
            <a:avLst/>
          </a:prstGeom>
          <a:noFill/>
          <a:ln w="12700">
            <a:solidFill>
              <a:schemeClr val="tx2"/>
            </a:solidFill>
            <a:prstDash val="solid"/>
          </a:ln>
        </p:spPr>
      </p:sp>
      <p:sp>
        <p:nvSpPr>
          <p:cNvPr id="27" name="Shape 25"/>
          <p:cNvSpPr/>
          <p:nvPr/>
        </p:nvSpPr>
        <p:spPr>
          <a:xfrm>
            <a:off x="5897880" y="4892040"/>
            <a:ext cx="0" cy="137160"/>
          </a:xfrm>
          <a:prstGeom prst="line">
            <a:avLst/>
          </a:prstGeom>
          <a:noFill/>
          <a:ln w="12700">
            <a:solidFill>
              <a:schemeClr val="tx2"/>
            </a:solidFill>
            <a:prstDash val="solid"/>
          </a:ln>
        </p:spPr>
      </p:sp>
      <p:sp>
        <p:nvSpPr>
          <p:cNvPr id="28" name="Shape 26"/>
          <p:cNvSpPr/>
          <p:nvPr/>
        </p:nvSpPr>
        <p:spPr>
          <a:xfrm>
            <a:off x="8503920" y="2514600"/>
            <a:ext cx="0" cy="182880"/>
          </a:xfrm>
          <a:prstGeom prst="line">
            <a:avLst/>
          </a:prstGeom>
          <a:noFill/>
          <a:ln w="12700">
            <a:solidFill>
              <a:schemeClr val="tx2"/>
            </a:solidFill>
            <a:prstDash val="solid"/>
          </a:ln>
        </p:spPr>
      </p:sp>
      <p:sp>
        <p:nvSpPr>
          <p:cNvPr id="29" name="Shape 27"/>
          <p:cNvSpPr/>
          <p:nvPr/>
        </p:nvSpPr>
        <p:spPr>
          <a:xfrm>
            <a:off x="8503920" y="3566160"/>
            <a:ext cx="0" cy="137160"/>
          </a:xfrm>
          <a:prstGeom prst="line">
            <a:avLst/>
          </a:prstGeom>
          <a:noFill/>
          <a:ln w="12700">
            <a:solidFill>
              <a:schemeClr val="tx2"/>
            </a:solidFill>
            <a:prstDash val="solid"/>
          </a:ln>
        </p:spPr>
      </p:sp>
      <p:sp>
        <p:nvSpPr>
          <p:cNvPr id="30" name="Shape 28"/>
          <p:cNvSpPr/>
          <p:nvPr/>
        </p:nvSpPr>
        <p:spPr>
          <a:xfrm>
            <a:off x="7863840" y="3703320"/>
            <a:ext cx="1280160" cy="0"/>
          </a:xfrm>
          <a:prstGeom prst="line">
            <a:avLst/>
          </a:prstGeom>
          <a:noFill/>
          <a:ln w="12700">
            <a:solidFill>
              <a:schemeClr val="tx2"/>
            </a:solidFill>
            <a:prstDash val="solid"/>
          </a:ln>
        </p:spPr>
      </p:sp>
      <p:sp>
        <p:nvSpPr>
          <p:cNvPr id="31" name="Shape 29"/>
          <p:cNvSpPr/>
          <p:nvPr/>
        </p:nvSpPr>
        <p:spPr>
          <a:xfrm>
            <a:off x="7863840" y="3703320"/>
            <a:ext cx="0" cy="137160"/>
          </a:xfrm>
          <a:prstGeom prst="line">
            <a:avLst/>
          </a:prstGeom>
          <a:noFill/>
          <a:ln w="12700">
            <a:solidFill>
              <a:schemeClr val="tx2"/>
            </a:solidFill>
            <a:prstDash val="solid"/>
          </a:ln>
        </p:spPr>
      </p:sp>
      <p:sp>
        <p:nvSpPr>
          <p:cNvPr id="32" name="Shape 30"/>
          <p:cNvSpPr/>
          <p:nvPr/>
        </p:nvSpPr>
        <p:spPr>
          <a:xfrm>
            <a:off x="9144000" y="3703320"/>
            <a:ext cx="0" cy="137160"/>
          </a:xfrm>
          <a:prstGeom prst="line">
            <a:avLst/>
          </a:prstGeom>
          <a:noFill/>
          <a:ln w="12700">
            <a:solidFill>
              <a:schemeClr val="tx2"/>
            </a:solidFill>
            <a:prstDash val="solid"/>
          </a:ln>
        </p:spPr>
      </p:sp>
      <p:sp>
        <p:nvSpPr>
          <p:cNvPr id="33" name="Shape 31"/>
          <p:cNvSpPr/>
          <p:nvPr/>
        </p:nvSpPr>
        <p:spPr>
          <a:xfrm>
            <a:off x="7863840" y="4754880"/>
            <a:ext cx="0" cy="137160"/>
          </a:xfrm>
          <a:prstGeom prst="line">
            <a:avLst/>
          </a:prstGeom>
          <a:noFill/>
          <a:ln w="12700">
            <a:solidFill>
              <a:schemeClr val="tx2"/>
            </a:solidFill>
            <a:prstDash val="solid"/>
          </a:ln>
        </p:spPr>
      </p:sp>
      <p:sp>
        <p:nvSpPr>
          <p:cNvPr id="34" name="Shape 32"/>
          <p:cNvSpPr/>
          <p:nvPr/>
        </p:nvSpPr>
        <p:spPr>
          <a:xfrm>
            <a:off x="9144000" y="4754880"/>
            <a:ext cx="0" cy="137160"/>
          </a:xfrm>
          <a:prstGeom prst="line">
            <a:avLst/>
          </a:prstGeom>
          <a:noFill/>
          <a:ln w="12700">
            <a:solidFill>
              <a:schemeClr val="tx2"/>
            </a:solidFill>
            <a:prstDash val="solid"/>
          </a:ln>
        </p:spPr>
      </p:sp>
      <p:sp>
        <p:nvSpPr>
          <p:cNvPr id="35" name="Shape 33"/>
          <p:cNvSpPr/>
          <p:nvPr/>
        </p:nvSpPr>
        <p:spPr>
          <a:xfrm>
            <a:off x="7863840" y="4892040"/>
            <a:ext cx="1280160" cy="0"/>
          </a:xfrm>
          <a:prstGeom prst="line">
            <a:avLst/>
          </a:prstGeom>
          <a:noFill/>
          <a:ln w="12700">
            <a:solidFill>
              <a:schemeClr val="tx2"/>
            </a:solidFill>
            <a:prstDash val="solid"/>
          </a:ln>
        </p:spPr>
      </p:sp>
      <p:sp>
        <p:nvSpPr>
          <p:cNvPr id="36" name="Shape 34"/>
          <p:cNvSpPr/>
          <p:nvPr/>
        </p:nvSpPr>
        <p:spPr>
          <a:xfrm>
            <a:off x="8503920" y="4892040"/>
            <a:ext cx="0" cy="137160"/>
          </a:xfrm>
          <a:prstGeom prst="line">
            <a:avLst/>
          </a:prstGeom>
          <a:noFill/>
          <a:ln w="12700">
            <a:solidFill>
              <a:schemeClr val="tx2"/>
            </a:solidFill>
            <a:prstDash val="solid"/>
          </a:ln>
        </p:spPr>
      </p:sp>
      <p:sp>
        <p:nvSpPr>
          <p:cNvPr id="37" name="Core message"/>
          <p:cNvSpPr/>
          <p:nvPr/>
        </p:nvSpPr>
        <p:spPr>
          <a:xfrm>
            <a:off x="3977640" y="1554480"/>
            <a:ext cx="3840480" cy="777240"/>
          </a:xfrm>
          <a:prstGeom prst="rect">
            <a:avLst/>
          </a:prstGeom>
          <a:solidFill>
            <a:schemeClr val="accent1"/>
          </a:solidFill>
          <a:ln/>
        </p:spPr>
      </p:sp>
      <p:sp>
        <p:nvSpPr>
          <p:cNvPr id="38" name="Text 36"/>
          <p:cNvSpPr txBox="1"/>
          <p:nvPr/>
        </p:nvSpPr>
        <p:spPr>
          <a:xfrm>
            <a:off x="4069080" y="1554480"/>
            <a:ext cx="3657600" cy="777240"/>
          </a:xfrm>
          <a:prstGeom prst="rect">
            <a:avLst/>
          </a:prstGeom>
          <a:noFill/>
          <a:ln/>
        </p:spPr>
        <p:txBody>
          <a:bodyPr wrap="square" lIns="0" tIns="0" rIns="0" bIns="0" rtlCol="0" anchor="ctr"/>
          <a:lstStyle/>
          <a:p>
            <a:pPr algn="ctr" indent="0" marL="0">
              <a:buNone/>
            </a:pPr>
            <a:r>
              <a:rPr lang="en-US" sz="1300" b="1" dirty="0">
                <a:solidFill>
                  <a:schemeClr val="bg1"/>
                </a:solidFill>
              </a:rPr>
              <a:t>V&amp;S can grow toward £2bn at a 10% margin by delivering one Virley experience in every channel</a:t>
            </a:r>
            <a:endParaRPr lang="en-US" sz="1300" dirty="0"/>
          </a:p>
        </p:txBody>
      </p:sp>
      <p:sp>
        <p:nvSpPr>
          <p:cNvPr id="39" name="Main idea 1"/>
          <p:cNvSpPr/>
          <p:nvPr/>
        </p:nvSpPr>
        <p:spPr>
          <a:xfrm>
            <a:off x="2057400" y="2697480"/>
            <a:ext cx="2468880" cy="868680"/>
          </a:xfrm>
          <a:prstGeom prst="rect">
            <a:avLst/>
          </a:prstGeom>
          <a:solidFill>
            <a:schemeClr val="bg1"/>
          </a:solidFill>
          <a:ln w="12700">
            <a:solidFill>
              <a:srgbClr val="6E625E"/>
            </a:solidFill>
            <a:prstDash val="solid"/>
          </a:ln>
        </p:spPr>
      </p:sp>
      <p:sp>
        <p:nvSpPr>
          <p:cNvPr id="40" name="Text 38"/>
          <p:cNvSpPr txBox="1"/>
          <p:nvPr/>
        </p:nvSpPr>
        <p:spPr>
          <a:xfrm>
            <a:off x="2148840" y="2697480"/>
            <a:ext cx="2286000" cy="868680"/>
          </a:xfrm>
          <a:prstGeom prst="rect">
            <a:avLst/>
          </a:prstGeom>
          <a:noFill/>
          <a:ln/>
        </p:spPr>
        <p:txBody>
          <a:bodyPr wrap="square" lIns="0" tIns="0" rIns="0" bIns="0" rtlCol="0" anchor="ctr"/>
          <a:lstStyle/>
          <a:p>
            <a:pPr algn="ctr" indent="0" marL="0">
              <a:buNone/>
            </a:pPr>
            <a:r>
              <a:rPr lang="en-US" sz="1200" b="1" dirty="0">
                <a:solidFill>
                  <a:schemeClr val="tx1"/>
                </a:solidFill>
              </a:rPr>
              <a:t>Customers are coming, but each visit is worth less</a:t>
            </a:r>
            <a:endParaRPr lang="en-US" sz="1200" dirty="0"/>
          </a:p>
        </p:txBody>
      </p:sp>
      <p:sp>
        <p:nvSpPr>
          <p:cNvPr id="41" name="Supporting idea 1.1"/>
          <p:cNvSpPr/>
          <p:nvPr/>
        </p:nvSpPr>
        <p:spPr>
          <a:xfrm>
            <a:off x="2057400" y="3840480"/>
            <a:ext cx="1188720" cy="914400"/>
          </a:xfrm>
          <a:prstGeom prst="rect">
            <a:avLst/>
          </a:prstGeom>
          <a:solidFill>
            <a:schemeClr val="bg1"/>
          </a:solidFill>
          <a:ln w="12700">
            <a:solidFill>
              <a:srgbClr val="6E625E"/>
            </a:solidFill>
            <a:prstDash val="solid"/>
          </a:ln>
        </p:spPr>
      </p:sp>
      <p:sp>
        <p:nvSpPr>
          <p:cNvPr id="42" name="Text 40"/>
          <p:cNvSpPr txBox="1"/>
          <p:nvPr/>
        </p:nvSpPr>
        <p:spPr>
          <a:xfrm>
            <a:off x="2121408" y="3840480"/>
            <a:ext cx="1060704" cy="914400"/>
          </a:xfrm>
          <a:prstGeom prst="rect">
            <a:avLst/>
          </a:prstGeom>
          <a:noFill/>
          <a:ln/>
        </p:spPr>
        <p:txBody>
          <a:bodyPr wrap="square" lIns="0" tIns="0" rIns="0" bIns="0" rtlCol="0" anchor="ctr"/>
          <a:lstStyle/>
          <a:p>
            <a:pPr algn="ctr" indent="0" marL="0">
              <a:buNone/>
            </a:pPr>
            <a:r>
              <a:rPr lang="en-US" sz="1050" dirty="0">
                <a:solidFill>
                  <a:schemeClr val="tx1"/>
                </a:solidFill>
              </a:rPr>
              <a:t>Number of sales up in every store</a:t>
            </a:r>
            <a:endParaRPr lang="en-US" sz="1050" dirty="0"/>
          </a:p>
        </p:txBody>
      </p:sp>
      <p:sp>
        <p:nvSpPr>
          <p:cNvPr id="43" name="Supporting idea 1.2"/>
          <p:cNvSpPr/>
          <p:nvPr/>
        </p:nvSpPr>
        <p:spPr>
          <a:xfrm>
            <a:off x="3337560" y="3840480"/>
            <a:ext cx="1188720" cy="914400"/>
          </a:xfrm>
          <a:prstGeom prst="rect">
            <a:avLst/>
          </a:prstGeom>
          <a:solidFill>
            <a:schemeClr val="bg1"/>
          </a:solidFill>
          <a:ln w="12700">
            <a:solidFill>
              <a:srgbClr val="6E625E"/>
            </a:solidFill>
            <a:prstDash val="solid"/>
          </a:ln>
        </p:spPr>
      </p:sp>
      <p:sp>
        <p:nvSpPr>
          <p:cNvPr id="44" name="Text 42"/>
          <p:cNvSpPr txBox="1"/>
          <p:nvPr/>
        </p:nvSpPr>
        <p:spPr>
          <a:xfrm>
            <a:off x="3401568" y="3840480"/>
            <a:ext cx="1060704" cy="914400"/>
          </a:xfrm>
          <a:prstGeom prst="rect">
            <a:avLst/>
          </a:prstGeom>
          <a:noFill/>
          <a:ln/>
        </p:spPr>
        <p:txBody>
          <a:bodyPr wrap="square" lIns="0" tIns="0" rIns="0" bIns="0" rtlCol="0" anchor="ctr"/>
          <a:lstStyle/>
          <a:p>
            <a:pPr algn="ctr" indent="0" marL="0">
              <a:buNone/>
            </a:pPr>
            <a:r>
              <a:rPr lang="en-US" sz="1050" dirty="0">
                <a:solidFill>
                  <a:schemeClr val="tx1"/>
                </a:solidFill>
              </a:rPr>
              <a:t>Online interest is high but earns little</a:t>
            </a:r>
            <a:endParaRPr lang="en-US" sz="1050" dirty="0"/>
          </a:p>
        </p:txBody>
      </p:sp>
      <p:sp>
        <p:nvSpPr>
          <p:cNvPr id="45" name="Facts 1"/>
          <p:cNvSpPr/>
          <p:nvPr/>
        </p:nvSpPr>
        <p:spPr>
          <a:xfrm>
            <a:off x="2057400" y="5029200"/>
            <a:ext cx="2468880" cy="868680"/>
          </a:xfrm>
          <a:prstGeom prst="rect">
            <a:avLst/>
          </a:prstGeom>
          <a:solidFill>
            <a:schemeClr val="tx2"/>
          </a:solidFill>
          <a:ln/>
        </p:spPr>
      </p:sp>
      <p:sp>
        <p:nvSpPr>
          <p:cNvPr id="46" name="Text 44"/>
          <p:cNvSpPr txBox="1"/>
          <p:nvPr/>
        </p:nvSpPr>
        <p:spPr>
          <a:xfrm>
            <a:off x="2148840" y="5029200"/>
            <a:ext cx="2286000" cy="868680"/>
          </a:xfrm>
          <a:prstGeom prst="rect">
            <a:avLst/>
          </a:prstGeom>
          <a:noFill/>
          <a:ln/>
        </p:spPr>
        <p:txBody>
          <a:bodyPr wrap="square" lIns="0" tIns="0" rIns="0" bIns="0" rtlCol="0" anchor="ctr"/>
          <a:lstStyle/>
          <a:p>
            <a:pPr algn="ctr" indent="0" marL="0">
              <a:buNone/>
            </a:pPr>
            <a:r>
              <a:rPr lang="en-US" sz="1050" dirty="0">
                <a:solidFill>
                  <a:schemeClr val="bg1"/>
                </a:solidFill>
              </a:rPr>
              <a:t>Number of sales up 7–10%, value per sale down 11–15% in three stores</a:t>
            </a:r>
            <a:endParaRPr lang="en-US" sz="1050" dirty="0"/>
          </a:p>
        </p:txBody>
      </p:sp>
      <p:sp>
        <p:nvSpPr>
          <p:cNvPr id="47" name="Main idea 2"/>
          <p:cNvSpPr/>
          <p:nvPr/>
        </p:nvSpPr>
        <p:spPr>
          <a:xfrm>
            <a:off x="4663440" y="2697480"/>
            <a:ext cx="2468880" cy="868680"/>
          </a:xfrm>
          <a:prstGeom prst="rect">
            <a:avLst/>
          </a:prstGeom>
          <a:solidFill>
            <a:schemeClr val="bg1"/>
          </a:solidFill>
          <a:ln w="12700">
            <a:solidFill>
              <a:srgbClr val="6E625E"/>
            </a:solidFill>
            <a:prstDash val="solid"/>
          </a:ln>
        </p:spPr>
      </p:sp>
      <p:sp>
        <p:nvSpPr>
          <p:cNvPr id="48" name="Text 46"/>
          <p:cNvSpPr txBox="1"/>
          <p:nvPr/>
        </p:nvSpPr>
        <p:spPr>
          <a:xfrm>
            <a:off x="4754880" y="2697480"/>
            <a:ext cx="2286000" cy="868680"/>
          </a:xfrm>
          <a:prstGeom prst="rect">
            <a:avLst/>
          </a:prstGeom>
          <a:noFill/>
          <a:ln/>
        </p:spPr>
        <p:txBody>
          <a:bodyPr wrap="square" lIns="0" tIns="0" rIns="0" bIns="0" rtlCol="0" anchor="ctr"/>
          <a:lstStyle/>
          <a:p>
            <a:pPr algn="ctr" indent="0" marL="0">
              <a:buNone/>
            </a:pPr>
            <a:r>
              <a:rPr lang="en-US" sz="1200" b="1" dirty="0">
                <a:solidFill>
                  <a:schemeClr val="tx1"/>
                </a:solidFill>
              </a:rPr>
              <a:t>One Virley experience in every channel is the growth idea</a:t>
            </a:r>
            <a:endParaRPr lang="en-US" sz="1200" dirty="0"/>
          </a:p>
        </p:txBody>
      </p:sp>
      <p:sp>
        <p:nvSpPr>
          <p:cNvPr id="49" name="Supporting idea 2.1"/>
          <p:cNvSpPr/>
          <p:nvPr/>
        </p:nvSpPr>
        <p:spPr>
          <a:xfrm>
            <a:off x="4663440" y="3840480"/>
            <a:ext cx="1188720" cy="914400"/>
          </a:xfrm>
          <a:prstGeom prst="rect">
            <a:avLst/>
          </a:prstGeom>
          <a:solidFill>
            <a:schemeClr val="bg1"/>
          </a:solidFill>
          <a:ln w="12700">
            <a:solidFill>
              <a:srgbClr val="6E625E"/>
            </a:solidFill>
            <a:prstDash val="solid"/>
          </a:ln>
        </p:spPr>
      </p:sp>
      <p:sp>
        <p:nvSpPr>
          <p:cNvPr id="50" name="Text 48"/>
          <p:cNvSpPr txBox="1"/>
          <p:nvPr/>
        </p:nvSpPr>
        <p:spPr>
          <a:xfrm>
            <a:off x="4727448" y="3840480"/>
            <a:ext cx="1060704" cy="914400"/>
          </a:xfrm>
          <a:prstGeom prst="rect">
            <a:avLst/>
          </a:prstGeom>
          <a:noFill/>
          <a:ln/>
        </p:spPr>
        <p:txBody>
          <a:bodyPr wrap="square" lIns="0" tIns="0" rIns="0" bIns="0" rtlCol="0" anchor="ctr"/>
          <a:lstStyle/>
          <a:p>
            <a:pPr algn="ctr" indent="0" marL="0">
              <a:buNone/>
            </a:pPr>
            <a:r>
              <a:rPr lang="en-US" sz="1050" dirty="0">
                <a:solidFill>
                  <a:schemeClr val="tx1"/>
                </a:solidFill>
              </a:rPr>
              <a:t>One client, one stock view, one team</a:t>
            </a:r>
            <a:endParaRPr lang="en-US" sz="1050" dirty="0"/>
          </a:p>
        </p:txBody>
      </p:sp>
      <p:sp>
        <p:nvSpPr>
          <p:cNvPr id="51" name="Supporting idea 2.2"/>
          <p:cNvSpPr/>
          <p:nvPr/>
        </p:nvSpPr>
        <p:spPr>
          <a:xfrm>
            <a:off x="5943600" y="3840480"/>
            <a:ext cx="1188720" cy="914400"/>
          </a:xfrm>
          <a:prstGeom prst="rect">
            <a:avLst/>
          </a:prstGeom>
          <a:solidFill>
            <a:schemeClr val="bg1"/>
          </a:solidFill>
          <a:ln w="12700">
            <a:solidFill>
              <a:srgbClr val="6E625E"/>
            </a:solidFill>
            <a:prstDash val="solid"/>
          </a:ln>
        </p:spPr>
      </p:sp>
      <p:sp>
        <p:nvSpPr>
          <p:cNvPr id="52" name="Text 50"/>
          <p:cNvSpPr txBox="1"/>
          <p:nvPr/>
        </p:nvSpPr>
        <p:spPr>
          <a:xfrm>
            <a:off x="6007608" y="3840480"/>
            <a:ext cx="1060704" cy="914400"/>
          </a:xfrm>
          <a:prstGeom prst="rect">
            <a:avLst/>
          </a:prstGeom>
          <a:noFill/>
          <a:ln/>
        </p:spPr>
        <p:txBody>
          <a:bodyPr wrap="square" lIns="0" tIns="0" rIns="0" bIns="0" rtlCol="0" anchor="ctr"/>
          <a:lstStyle/>
          <a:p>
            <a:pPr algn="ctr" indent="0" marL="0">
              <a:buNone/>
            </a:pPr>
            <a:r>
              <a:rPr lang="en-US" sz="1050" dirty="0">
                <a:solidFill>
                  <a:schemeClr val="tx1"/>
                </a:solidFill>
              </a:rPr>
              <a:t>Stores stage it and online extends it</a:t>
            </a:r>
            <a:endParaRPr lang="en-US" sz="1050" dirty="0"/>
          </a:p>
        </p:txBody>
      </p:sp>
      <p:sp>
        <p:nvSpPr>
          <p:cNvPr id="53" name="Facts 2"/>
          <p:cNvSpPr/>
          <p:nvPr/>
        </p:nvSpPr>
        <p:spPr>
          <a:xfrm>
            <a:off x="4663440" y="5029200"/>
            <a:ext cx="2468880" cy="868680"/>
          </a:xfrm>
          <a:prstGeom prst="rect">
            <a:avLst/>
          </a:prstGeom>
          <a:solidFill>
            <a:schemeClr val="tx2"/>
          </a:solidFill>
          <a:ln/>
        </p:spPr>
      </p:sp>
      <p:sp>
        <p:nvSpPr>
          <p:cNvPr id="54" name="Text 52"/>
          <p:cNvSpPr txBox="1"/>
          <p:nvPr/>
        </p:nvSpPr>
        <p:spPr>
          <a:xfrm>
            <a:off x="4754880" y="5029200"/>
            <a:ext cx="2286000" cy="868680"/>
          </a:xfrm>
          <a:prstGeom prst="rect">
            <a:avLst/>
          </a:prstGeom>
          <a:noFill/>
          <a:ln/>
        </p:spPr>
        <p:txBody>
          <a:bodyPr wrap="square" lIns="0" tIns="0" rIns="0" bIns="0" rtlCol="0" anchor="ctr"/>
          <a:lstStyle/>
          <a:p>
            <a:pPr algn="ctr" indent="0" marL="0">
              <a:buNone/>
            </a:pPr>
            <a:r>
              <a:rPr lang="en-US" sz="1050" dirty="0">
                <a:solidFill>
                  <a:schemeClr val="bg1"/>
                </a:solidFill>
              </a:rPr>
              <a:t>58% of 982,000 web visits are from outside the UK; online earns £5.7m</a:t>
            </a:r>
            <a:endParaRPr lang="en-US" sz="1050" dirty="0"/>
          </a:p>
        </p:txBody>
      </p:sp>
      <p:sp>
        <p:nvSpPr>
          <p:cNvPr id="55" name="Main idea 3"/>
          <p:cNvSpPr/>
          <p:nvPr/>
        </p:nvSpPr>
        <p:spPr>
          <a:xfrm>
            <a:off x="7269480" y="2697480"/>
            <a:ext cx="2468880" cy="868680"/>
          </a:xfrm>
          <a:prstGeom prst="rect">
            <a:avLst/>
          </a:prstGeom>
          <a:solidFill>
            <a:schemeClr val="bg1"/>
          </a:solidFill>
          <a:ln w="12700">
            <a:solidFill>
              <a:srgbClr val="6E625E"/>
            </a:solidFill>
            <a:prstDash val="solid"/>
          </a:ln>
        </p:spPr>
      </p:sp>
      <p:sp>
        <p:nvSpPr>
          <p:cNvPr id="56" name="Text 54"/>
          <p:cNvSpPr txBox="1"/>
          <p:nvPr/>
        </p:nvSpPr>
        <p:spPr>
          <a:xfrm>
            <a:off x="7360920" y="2697480"/>
            <a:ext cx="2286000" cy="868680"/>
          </a:xfrm>
          <a:prstGeom prst="rect">
            <a:avLst/>
          </a:prstGeom>
          <a:noFill/>
          <a:ln/>
        </p:spPr>
        <p:txBody>
          <a:bodyPr wrap="square" lIns="0" tIns="0" rIns="0" bIns="0" rtlCol="0" anchor="ctr"/>
          <a:lstStyle/>
          <a:p>
            <a:pPr algn="ctr" indent="0" marL="0">
              <a:buNone/>
            </a:pPr>
            <a:r>
              <a:rPr lang="en-US" sz="1200" b="1" dirty="0">
                <a:solidFill>
                  <a:schemeClr val="tx1"/>
                </a:solidFill>
              </a:rPr>
              <a:t>Fixing the operation funds it, and a phased plan proves it</a:t>
            </a:r>
            <a:endParaRPr lang="en-US" sz="1200" dirty="0"/>
          </a:p>
        </p:txBody>
      </p:sp>
      <p:sp>
        <p:nvSpPr>
          <p:cNvPr id="57" name="Supporting idea 3.1"/>
          <p:cNvSpPr/>
          <p:nvPr/>
        </p:nvSpPr>
        <p:spPr>
          <a:xfrm>
            <a:off x="7269480" y="3840480"/>
            <a:ext cx="1188720" cy="914400"/>
          </a:xfrm>
          <a:prstGeom prst="rect">
            <a:avLst/>
          </a:prstGeom>
          <a:solidFill>
            <a:schemeClr val="bg1"/>
          </a:solidFill>
          <a:ln w="12700">
            <a:solidFill>
              <a:srgbClr val="6E625E"/>
            </a:solidFill>
            <a:prstDash val="solid"/>
          </a:ln>
        </p:spPr>
      </p:sp>
      <p:sp>
        <p:nvSpPr>
          <p:cNvPr id="58" name="Text 56"/>
          <p:cNvSpPr txBox="1"/>
          <p:nvPr/>
        </p:nvSpPr>
        <p:spPr>
          <a:xfrm>
            <a:off x="7333488" y="3840480"/>
            <a:ext cx="1060704" cy="914400"/>
          </a:xfrm>
          <a:prstGeom prst="rect">
            <a:avLst/>
          </a:prstGeom>
          <a:noFill/>
          <a:ln/>
        </p:spPr>
        <p:txBody>
          <a:bodyPr wrap="square" lIns="0" tIns="0" rIns="0" bIns="0" rtlCol="0" anchor="ctr"/>
          <a:lstStyle/>
          <a:p>
            <a:pPr algn="ctr" indent="0" marL="0">
              <a:buNone/>
            </a:pPr>
            <a:r>
              <a:rPr lang="en-US" sz="1050" dirty="0">
                <a:solidFill>
                  <a:schemeClr val="tx1"/>
                </a:solidFill>
              </a:rPr>
              <a:t>Logistics and stock are the margin lever</a:t>
            </a:r>
            <a:endParaRPr lang="en-US" sz="1050" dirty="0"/>
          </a:p>
        </p:txBody>
      </p:sp>
      <p:sp>
        <p:nvSpPr>
          <p:cNvPr id="59" name="Supporting idea 3.2"/>
          <p:cNvSpPr/>
          <p:nvPr/>
        </p:nvSpPr>
        <p:spPr>
          <a:xfrm>
            <a:off x="8549640" y="3840480"/>
            <a:ext cx="1188720" cy="914400"/>
          </a:xfrm>
          <a:prstGeom prst="rect">
            <a:avLst/>
          </a:prstGeom>
          <a:solidFill>
            <a:schemeClr val="bg1"/>
          </a:solidFill>
          <a:ln w="12700">
            <a:solidFill>
              <a:srgbClr val="6E625E"/>
            </a:solidFill>
            <a:prstDash val="solid"/>
          </a:ln>
        </p:spPr>
      </p:sp>
      <p:sp>
        <p:nvSpPr>
          <p:cNvPr id="60" name="Text 58"/>
          <p:cNvSpPr txBox="1"/>
          <p:nvPr/>
        </p:nvSpPr>
        <p:spPr>
          <a:xfrm>
            <a:off x="8613648" y="3840480"/>
            <a:ext cx="1060704" cy="914400"/>
          </a:xfrm>
          <a:prstGeom prst="rect">
            <a:avLst/>
          </a:prstGeom>
          <a:noFill/>
          <a:ln/>
        </p:spPr>
        <p:txBody>
          <a:bodyPr wrap="square" lIns="0" tIns="0" rIns="0" bIns="0" rtlCol="0" anchor="ctr"/>
          <a:lstStyle/>
          <a:p>
            <a:pPr algn="ctr" indent="0" marL="0">
              <a:buNone/>
            </a:pPr>
            <a:r>
              <a:rPr lang="en-US" sz="1050" dirty="0">
                <a:solidFill>
                  <a:schemeClr val="tx1"/>
                </a:solidFill>
              </a:rPr>
              <a:t>Pilot in London and Birmingham, then scale</a:t>
            </a:r>
            <a:endParaRPr lang="en-US" sz="1050" dirty="0"/>
          </a:p>
        </p:txBody>
      </p:sp>
      <p:sp>
        <p:nvSpPr>
          <p:cNvPr id="61" name="Facts 3"/>
          <p:cNvSpPr/>
          <p:nvPr/>
        </p:nvSpPr>
        <p:spPr>
          <a:xfrm>
            <a:off x="7269480" y="5029200"/>
            <a:ext cx="2468880" cy="868680"/>
          </a:xfrm>
          <a:prstGeom prst="rect">
            <a:avLst/>
          </a:prstGeom>
          <a:solidFill>
            <a:schemeClr val="tx2"/>
          </a:solidFill>
          <a:ln/>
        </p:spPr>
      </p:sp>
      <p:sp>
        <p:nvSpPr>
          <p:cNvPr id="62" name="Text 60"/>
          <p:cNvSpPr txBox="1"/>
          <p:nvPr/>
        </p:nvSpPr>
        <p:spPr>
          <a:xfrm>
            <a:off x="7360920" y="5029200"/>
            <a:ext cx="2286000" cy="868680"/>
          </a:xfrm>
          <a:prstGeom prst="rect">
            <a:avLst/>
          </a:prstGeom>
          <a:noFill/>
          <a:ln/>
        </p:spPr>
        <p:txBody>
          <a:bodyPr wrap="square" lIns="0" tIns="0" rIns="0" bIns="0" rtlCol="0" anchor="ctr"/>
          <a:lstStyle/>
          <a:p>
            <a:pPr algn="ctr" indent="0" marL="0">
              <a:buNone/>
            </a:pPr>
            <a:r>
              <a:rPr lang="en-US" sz="1050" dirty="0">
                <a:solidFill>
                  <a:schemeClr val="bg1"/>
                </a:solidFill>
              </a:rPr>
              <a:t>10% margin needs £24.8m more, about 2 points of cost; logistics is 17.5% of revenue</a:t>
            </a:r>
            <a:endParaRPr lang="en-US" sz="1050" dirty="0"/>
          </a:p>
        </p:txBody>
      </p:sp>
      <p:sp>
        <p:nvSpPr>
          <p:cNvPr id="63" name="Key features card"/>
          <p:cNvSpPr/>
          <p:nvPr/>
        </p:nvSpPr>
        <p:spPr>
          <a:xfrm>
            <a:off x="10012680" y="2606040"/>
            <a:ext cx="1691640" cy="3429000"/>
          </a:xfrm>
          <a:prstGeom prst="rect">
            <a:avLst/>
          </a:prstGeom>
          <a:solidFill>
            <a:schemeClr val="accent1"/>
          </a:solidFill>
          <a:ln/>
        </p:spPr>
      </p:sp>
      <p:sp>
        <p:nvSpPr>
          <p:cNvPr id="64" name="Text 62"/>
          <p:cNvSpPr txBox="1"/>
          <p:nvPr/>
        </p:nvSpPr>
        <p:spPr>
          <a:xfrm>
            <a:off x="10122408" y="2715768"/>
            <a:ext cx="1481328" cy="640080"/>
          </a:xfrm>
          <a:prstGeom prst="rect">
            <a:avLst/>
          </a:prstGeom>
          <a:noFill/>
          <a:ln/>
        </p:spPr>
        <p:txBody>
          <a:bodyPr wrap="square" lIns="0" tIns="0" rIns="0" bIns="0" rtlCol="0" anchor="t"/>
          <a:lstStyle/>
          <a:p>
            <a:pPr indent="0" marL="0">
              <a:buNone/>
            </a:pPr>
            <a:r>
              <a:rPr lang="en-US" sz="1300" b="1" dirty="0">
                <a:solidFill>
                  <a:schemeClr val="bg1"/>
                </a:solidFill>
              </a:rPr>
              <a:t>Key features of the storyline</a:t>
            </a:r>
            <a:endParaRPr lang="en-US" sz="1300" dirty="0"/>
          </a:p>
        </p:txBody>
      </p:sp>
      <p:sp>
        <p:nvSpPr>
          <p:cNvPr id="65" name="Text 63"/>
          <p:cNvSpPr txBox="1"/>
          <p:nvPr/>
        </p:nvSpPr>
        <p:spPr>
          <a:xfrm>
            <a:off x="10122408" y="3474720"/>
            <a:ext cx="1508760"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1"/>
                </a:solidFill>
              </a:rPr>
              <a:t>One clear core message</a:t>
            </a:r>
            <a:endParaRPr lang="en-US" sz="1200" dirty="0"/>
          </a:p>
          <a:p>
            <a:pPr marL="342900" indent="-342900">
              <a:spcAft>
                <a:spcPts val="600"/>
              </a:spcAft>
              <a:buSzPct val="100000"/>
              <a:buChar char="•"/>
            </a:pPr>
            <a:r>
              <a:rPr lang="en-US" sz="1200" dirty="0">
                <a:solidFill>
                  <a:schemeClr val="bg1"/>
                </a:solidFill>
              </a:rPr>
              <a:t>Ideas grouped logically</a:t>
            </a:r>
            <a:endParaRPr lang="en-US" sz="1200" dirty="0"/>
          </a:p>
          <a:p>
            <a:pPr marL="342900" indent="-342900">
              <a:spcAft>
                <a:spcPts val="600"/>
              </a:spcAft>
              <a:buSzPct val="100000"/>
              <a:buChar char="•"/>
            </a:pPr>
            <a:r>
              <a:rPr lang="en-US" sz="1200" dirty="0">
                <a:solidFill>
                  <a:schemeClr val="bg1"/>
                </a:solidFill>
              </a:rPr>
              <a:t>Each level sums up the one below</a:t>
            </a:r>
            <a:endParaRPr lang="en-US" sz="1200" dirty="0"/>
          </a:p>
          <a:p>
            <a:pPr marL="342900" indent="-342900">
              <a:spcAft>
                <a:spcPts val="600"/>
              </a:spcAft>
              <a:buSzPct val="100000"/>
              <a:buChar char="•"/>
            </a:pPr>
            <a:r>
              <a:rPr lang="en-US" sz="1200" dirty="0">
                <a:solidFill>
                  <a:schemeClr val="bg1"/>
                </a:solidFill>
              </a:rPr>
              <a:t>Same type of logic at each level</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We heard a £2bn ambition and a 10% margin goal; today V&amp;S earns 8.0% on £1.26bn</a:t>
            </a:r>
            <a:endParaRPr lang="en-US" sz="2800" dirty="0"/>
          </a:p>
        </p:txBody>
      </p:sp>
      <p:sp>
        <p:nvSpPr>
          <p:cNvPr id="3" name="Stat card 1"/>
          <p:cNvSpPr/>
          <p:nvPr/>
        </p:nvSpPr>
        <p:spPr>
          <a:xfrm>
            <a:off x="548640" y="1554480"/>
            <a:ext cx="2606040" cy="1920240"/>
          </a:xfrm>
          <a:prstGeom prst="rect">
            <a:avLst/>
          </a:prstGeom>
          <a:solidFill>
            <a:schemeClr val="bg2"/>
          </a:solidFill>
          <a:ln/>
        </p:spPr>
      </p:sp>
      <p:sp>
        <p:nvSpPr>
          <p:cNvPr id="4" name="Shape 2"/>
          <p:cNvSpPr/>
          <p:nvPr/>
        </p:nvSpPr>
        <p:spPr>
          <a:xfrm>
            <a:off x="731520" y="1719072"/>
            <a:ext cx="457200" cy="457200"/>
          </a:xfrm>
          <a:prstGeom prst="ellipse">
            <a:avLst/>
          </a:prstGeom>
          <a:solidFill>
            <a:srgbClr val="D52B1E"/>
          </a:solidFill>
          <a:ln/>
        </p:spPr>
      </p:sp>
      <p:pic>
        <p:nvPicPr>
          <p:cNvPr id="5" name="Image 0" descr="icon">    </p:cNvPr>
          <p:cNvPicPr>
            <a:picLocks noChangeAspect="1"/>
          </p:cNvPicPr>
          <p:nvPr/>
        </p:nvPicPr>
        <p:blipFill>
          <a:blip r:embed="rId1"/>
          <a:stretch>
            <a:fillRect/>
          </a:stretch>
        </p:blipFill>
        <p:spPr>
          <a:xfrm>
            <a:off x="845820" y="1833372"/>
            <a:ext cx="228600" cy="228600"/>
          </a:xfrm>
          <a:prstGeom prst="rect">
            <a:avLst/>
          </a:prstGeom>
        </p:spPr>
      </p:pic>
      <p:sp>
        <p:nvSpPr>
          <p:cNvPr id="6" name="Text 3"/>
          <p:cNvSpPr txBox="1"/>
          <p:nvPr/>
        </p:nvSpPr>
        <p:spPr>
          <a:xfrm>
            <a:off x="1325880" y="1691640"/>
            <a:ext cx="178308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£1.26bn</a:t>
            </a:r>
            <a:endParaRPr lang="en-US" sz="2800" dirty="0"/>
          </a:p>
        </p:txBody>
      </p:sp>
      <p:sp>
        <p:nvSpPr>
          <p:cNvPr id="7" name="Text 4"/>
          <p:cNvSpPr txBox="1"/>
          <p:nvPr/>
        </p:nvSpPr>
        <p:spPr>
          <a:xfrm>
            <a:off x="73152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FY-1 revenue across four stores and online</a:t>
            </a:r>
            <a:endParaRPr lang="en-US" sz="1300" dirty="0"/>
          </a:p>
        </p:txBody>
      </p:sp>
      <p:sp>
        <p:nvSpPr>
          <p:cNvPr id="8" name="Stat card 2"/>
          <p:cNvSpPr/>
          <p:nvPr/>
        </p:nvSpPr>
        <p:spPr>
          <a:xfrm>
            <a:off x="3337560" y="1554480"/>
            <a:ext cx="2606040" cy="1920240"/>
          </a:xfrm>
          <a:prstGeom prst="rect">
            <a:avLst/>
          </a:prstGeom>
          <a:solidFill>
            <a:schemeClr val="bg2"/>
          </a:solidFill>
          <a:ln/>
        </p:spPr>
      </p:sp>
      <p:sp>
        <p:nvSpPr>
          <p:cNvPr id="9" name="Shape 6"/>
          <p:cNvSpPr/>
          <p:nvPr/>
        </p:nvSpPr>
        <p:spPr>
          <a:xfrm>
            <a:off x="3520440" y="1719072"/>
            <a:ext cx="457200" cy="457200"/>
          </a:xfrm>
          <a:prstGeom prst="ellipse">
            <a:avLst/>
          </a:prstGeom>
          <a:solidFill>
            <a:srgbClr val="D52B1E"/>
          </a:solidFill>
          <a:ln/>
        </p:spPr>
      </p:sp>
      <p:pic>
        <p:nvPicPr>
          <p:cNvPr id="10" name="Image 1" descr="icon">    </p:cNvPr>
          <p:cNvPicPr>
            <a:picLocks noChangeAspect="1"/>
          </p:cNvPicPr>
          <p:nvPr/>
        </p:nvPicPr>
        <p:blipFill>
          <a:blip r:embed="rId2"/>
          <a:stretch>
            <a:fillRect/>
          </a:stretch>
        </p:blipFill>
        <p:spPr>
          <a:xfrm>
            <a:off x="3634740" y="1833372"/>
            <a:ext cx="228600" cy="228600"/>
          </a:xfrm>
          <a:prstGeom prst="rect">
            <a:avLst/>
          </a:prstGeom>
        </p:spPr>
      </p:pic>
      <p:sp>
        <p:nvSpPr>
          <p:cNvPr id="11" name="Text 7"/>
          <p:cNvSpPr txBox="1"/>
          <p:nvPr/>
        </p:nvSpPr>
        <p:spPr>
          <a:xfrm>
            <a:off x="4114800" y="1691640"/>
            <a:ext cx="178308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8.0%</a:t>
            </a:r>
            <a:endParaRPr lang="en-US" sz="2800" dirty="0"/>
          </a:p>
        </p:txBody>
      </p:sp>
      <p:sp>
        <p:nvSpPr>
          <p:cNvPr id="12" name="Text 8"/>
          <p:cNvSpPr txBox="1"/>
          <p:nvPr/>
        </p:nvSpPr>
        <p:spPr>
          <a:xfrm>
            <a:off x="352044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FY-1 operating margin (EBIT) against the owners’ 10% goal</a:t>
            </a:r>
            <a:endParaRPr lang="en-US" sz="1300" dirty="0"/>
          </a:p>
        </p:txBody>
      </p:sp>
      <p:sp>
        <p:nvSpPr>
          <p:cNvPr id="13" name="Stat card 3"/>
          <p:cNvSpPr/>
          <p:nvPr/>
        </p:nvSpPr>
        <p:spPr>
          <a:xfrm>
            <a:off x="6126480" y="1554480"/>
            <a:ext cx="2606040" cy="1920240"/>
          </a:xfrm>
          <a:prstGeom prst="rect">
            <a:avLst/>
          </a:prstGeom>
          <a:solidFill>
            <a:schemeClr val="bg2"/>
          </a:solidFill>
          <a:ln/>
        </p:spPr>
      </p:sp>
      <p:sp>
        <p:nvSpPr>
          <p:cNvPr id="14" name="Shape 10"/>
          <p:cNvSpPr/>
          <p:nvPr/>
        </p:nvSpPr>
        <p:spPr>
          <a:xfrm>
            <a:off x="6309360" y="1719072"/>
            <a:ext cx="457200" cy="457200"/>
          </a:xfrm>
          <a:prstGeom prst="ellipse">
            <a:avLst/>
          </a:prstGeom>
          <a:solidFill>
            <a:srgbClr val="D52B1E"/>
          </a:solidFill>
          <a:ln/>
        </p:spPr>
      </p:sp>
      <p:pic>
        <p:nvPicPr>
          <p:cNvPr id="15" name="Image 2" descr="icon">    </p:cNvPr>
          <p:cNvPicPr>
            <a:picLocks noChangeAspect="1"/>
          </p:cNvPicPr>
          <p:nvPr/>
        </p:nvPicPr>
        <p:blipFill>
          <a:blip r:embed="rId3"/>
          <a:stretch>
            <a:fillRect/>
          </a:stretch>
        </p:blipFill>
        <p:spPr>
          <a:xfrm>
            <a:off x="6423660" y="1833372"/>
            <a:ext cx="228600" cy="228600"/>
          </a:xfrm>
          <a:prstGeom prst="rect">
            <a:avLst/>
          </a:prstGeom>
        </p:spPr>
      </p:pic>
      <p:sp>
        <p:nvSpPr>
          <p:cNvPr id="16" name="Text 11"/>
          <p:cNvSpPr txBox="1"/>
          <p:nvPr/>
        </p:nvSpPr>
        <p:spPr>
          <a:xfrm>
            <a:off x="6903720" y="1691640"/>
            <a:ext cx="178308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−1.1%</a:t>
            </a:r>
            <a:endParaRPr lang="en-US" sz="2800" dirty="0"/>
          </a:p>
        </p:txBody>
      </p:sp>
      <p:sp>
        <p:nvSpPr>
          <p:cNvPr id="17" name="Text 12"/>
          <p:cNvSpPr txBox="1"/>
          <p:nvPr/>
        </p:nvSpPr>
        <p:spPr>
          <a:xfrm>
            <a:off x="630936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Change in store sales in FY-1 (£1,271m to £1,257m)</a:t>
            </a:r>
            <a:endParaRPr lang="en-US" sz="1300" dirty="0"/>
          </a:p>
        </p:txBody>
      </p:sp>
      <p:sp>
        <p:nvSpPr>
          <p:cNvPr id="18" name="Stat card 4"/>
          <p:cNvSpPr/>
          <p:nvPr/>
        </p:nvSpPr>
        <p:spPr>
          <a:xfrm>
            <a:off x="8915400" y="1554480"/>
            <a:ext cx="2606040" cy="1920240"/>
          </a:xfrm>
          <a:prstGeom prst="rect">
            <a:avLst/>
          </a:prstGeom>
          <a:solidFill>
            <a:schemeClr val="bg2"/>
          </a:solidFill>
          <a:ln/>
        </p:spPr>
      </p:sp>
      <p:sp>
        <p:nvSpPr>
          <p:cNvPr id="19" name="Shape 14"/>
          <p:cNvSpPr/>
          <p:nvPr/>
        </p:nvSpPr>
        <p:spPr>
          <a:xfrm>
            <a:off x="9098280" y="1719072"/>
            <a:ext cx="457200" cy="457200"/>
          </a:xfrm>
          <a:prstGeom prst="ellipse">
            <a:avLst/>
          </a:prstGeom>
          <a:solidFill>
            <a:srgbClr val="D52B1E"/>
          </a:solidFill>
          <a:ln/>
        </p:spPr>
      </p:sp>
      <p:pic>
        <p:nvPicPr>
          <p:cNvPr id="20" name="Image 3" descr="icon">    </p:cNvPr>
          <p:cNvPicPr>
            <a:picLocks noChangeAspect="1"/>
          </p:cNvPicPr>
          <p:nvPr/>
        </p:nvPicPr>
        <p:blipFill>
          <a:blip r:embed="rId4"/>
          <a:stretch>
            <a:fillRect/>
          </a:stretch>
        </p:blipFill>
        <p:spPr>
          <a:xfrm>
            <a:off x="9212580" y="1833372"/>
            <a:ext cx="228600" cy="228600"/>
          </a:xfrm>
          <a:prstGeom prst="rect">
            <a:avLst/>
          </a:prstGeom>
        </p:spPr>
      </p:pic>
      <p:sp>
        <p:nvSpPr>
          <p:cNvPr id="21" name="Text 15"/>
          <p:cNvSpPr txBox="1"/>
          <p:nvPr/>
        </p:nvSpPr>
        <p:spPr>
          <a:xfrm>
            <a:off x="9692640" y="1691640"/>
            <a:ext cx="178308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£2bn</a:t>
            </a:r>
            <a:endParaRPr lang="en-US" sz="2800" dirty="0"/>
          </a:p>
        </p:txBody>
      </p:sp>
      <p:sp>
        <p:nvSpPr>
          <p:cNvPr id="22" name="Text 16"/>
          <p:cNvSpPr txBox="1"/>
          <p:nvPr/>
        </p:nvSpPr>
        <p:spPr>
          <a:xfrm>
            <a:off x="909828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Owners’ revenue ambition within five years</a:t>
            </a:r>
            <a:endParaRPr lang="en-US" sz="1300" dirty="0"/>
          </a:p>
        </p:txBody>
      </p:sp>
      <p:sp>
        <p:nvSpPr>
          <p:cNvPr id="23" name="Panel 1"/>
          <p:cNvSpPr/>
          <p:nvPr/>
        </p:nvSpPr>
        <p:spPr>
          <a:xfrm>
            <a:off x="548640" y="3749040"/>
            <a:ext cx="5394960" cy="2377440"/>
          </a:xfrm>
          <a:prstGeom prst="rect">
            <a:avLst/>
          </a:prstGeom>
          <a:solidFill>
            <a:schemeClr val="bg1"/>
          </a:solidFill>
          <a:ln w="12700">
            <a:solidFill>
              <a:srgbClr val="D9D4CC"/>
            </a:solidFill>
            <a:prstDash val="solid"/>
          </a:ln>
        </p:spPr>
      </p:sp>
      <p:sp>
        <p:nvSpPr>
          <p:cNvPr id="24" name="Panel header 1"/>
          <p:cNvSpPr/>
          <p:nvPr/>
        </p:nvSpPr>
        <p:spPr>
          <a:xfrm>
            <a:off x="548640" y="3749040"/>
            <a:ext cx="5394960" cy="411480"/>
          </a:xfrm>
          <a:prstGeom prst="rect">
            <a:avLst/>
          </a:prstGeom>
          <a:solidFill>
            <a:schemeClr val="accent1"/>
          </a:solidFill>
          <a:ln/>
        </p:spPr>
      </p:sp>
      <p:sp>
        <p:nvSpPr>
          <p:cNvPr id="25" name="Text 19"/>
          <p:cNvSpPr txBox="1"/>
          <p:nvPr/>
        </p:nvSpPr>
        <p:spPr>
          <a:xfrm>
            <a:off x="731520" y="3749040"/>
            <a:ext cx="5029200" cy="411480"/>
          </a:xfrm>
          <a:prstGeom prst="rect">
            <a:avLst/>
          </a:prstGeom>
          <a:noFill/>
          <a:ln/>
        </p:spPr>
        <p:txBody>
          <a:bodyPr wrap="square" lIns="0" tIns="0" rIns="0" bIns="0" rtlCol="0" anchor="ctr"/>
          <a:lstStyle/>
          <a:p>
            <a:pPr indent="0" marL="0">
              <a:buNone/>
            </a:pPr>
            <a:r>
              <a:rPr lang="en-US" sz="1400" b="1" dirty="0">
                <a:solidFill>
                  <a:schemeClr val="bg1"/>
                </a:solidFill>
              </a:rPr>
              <a:t>What the numbers say</a:t>
            </a:r>
            <a:endParaRPr lang="en-US" sz="1400" dirty="0"/>
          </a:p>
        </p:txBody>
      </p:sp>
      <p:sp>
        <p:nvSpPr>
          <p:cNvPr id="26" name="Text 20"/>
          <p:cNvSpPr txBox="1"/>
          <p:nvPr/>
        </p:nvSpPr>
        <p:spPr>
          <a:xfrm>
            <a:off x="731520" y="4343400"/>
            <a:ext cx="50292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Combined store profit fell 2.4% in FY-1; Orlando’s fell 47%</a:t>
            </a:r>
            <a:endParaRPr lang="en-US" sz="1400" dirty="0"/>
          </a:p>
          <a:p>
            <a:pPr marL="342900" indent="-342900">
              <a:spcAft>
                <a:spcPts val="600"/>
              </a:spcAft>
              <a:buSzPct val="100000"/>
              <a:buChar char="•"/>
            </a:pPr>
            <a:r>
              <a:rPr lang="en-US" sz="1400" dirty="0">
                <a:solidFill>
                  <a:schemeClr val="tx1"/>
                </a:solidFill>
              </a:rPr>
              <a:t>Edinburgh earns a 3.4% operating margin</a:t>
            </a:r>
            <a:endParaRPr lang="en-US" sz="1400" dirty="0"/>
          </a:p>
          <a:p>
            <a:pPr marL="342900" indent="-342900">
              <a:spcAft>
                <a:spcPts val="600"/>
              </a:spcAft>
              <a:buSzPct val="100000"/>
              <a:buChar char="•"/>
            </a:pPr>
            <a:r>
              <a:rPr lang="en-US" sz="1400" dirty="0">
                <a:solidFill>
                  <a:schemeClr val="tx1"/>
                </a:solidFill>
              </a:rPr>
              <a:t>Online earns £5.7m from 982,000 visits</a:t>
            </a:r>
            <a:endParaRPr lang="en-US" sz="1400" dirty="0"/>
          </a:p>
        </p:txBody>
      </p:sp>
      <p:sp>
        <p:nvSpPr>
          <p:cNvPr id="27" name="Panel 2"/>
          <p:cNvSpPr/>
          <p:nvPr/>
        </p:nvSpPr>
        <p:spPr>
          <a:xfrm>
            <a:off x="6217920" y="3749040"/>
            <a:ext cx="5394960" cy="2377440"/>
          </a:xfrm>
          <a:prstGeom prst="rect">
            <a:avLst/>
          </a:prstGeom>
          <a:solidFill>
            <a:schemeClr val="bg1"/>
          </a:solidFill>
          <a:ln w="12700">
            <a:solidFill>
              <a:srgbClr val="D9D4CC"/>
            </a:solidFill>
            <a:prstDash val="solid"/>
          </a:ln>
        </p:spPr>
      </p:sp>
      <p:sp>
        <p:nvSpPr>
          <p:cNvPr id="28" name="Panel header 2"/>
          <p:cNvSpPr/>
          <p:nvPr/>
        </p:nvSpPr>
        <p:spPr>
          <a:xfrm>
            <a:off x="6217920" y="3749040"/>
            <a:ext cx="5394960" cy="411480"/>
          </a:xfrm>
          <a:prstGeom prst="rect">
            <a:avLst/>
          </a:prstGeom>
          <a:solidFill>
            <a:schemeClr val="accent1"/>
          </a:solidFill>
          <a:ln/>
        </p:spPr>
      </p:sp>
      <p:sp>
        <p:nvSpPr>
          <p:cNvPr id="29" name="Text 23"/>
          <p:cNvSpPr txBox="1"/>
          <p:nvPr/>
        </p:nvSpPr>
        <p:spPr>
          <a:xfrm>
            <a:off x="6400800" y="3749040"/>
            <a:ext cx="5029200" cy="411480"/>
          </a:xfrm>
          <a:prstGeom prst="rect">
            <a:avLst/>
          </a:prstGeom>
          <a:noFill/>
          <a:ln/>
        </p:spPr>
        <p:txBody>
          <a:bodyPr wrap="square" lIns="0" tIns="0" rIns="0" bIns="0" rtlCol="0" anchor="ctr"/>
          <a:lstStyle/>
          <a:p>
            <a:pPr indent="0" marL="0">
              <a:buNone/>
            </a:pPr>
            <a:r>
              <a:rPr lang="en-US" sz="1400" b="1" dirty="0">
                <a:solidFill>
                  <a:schemeClr val="bg1"/>
                </a:solidFill>
              </a:rPr>
              <a:t>What we are working with</a:t>
            </a:r>
            <a:endParaRPr lang="en-US" sz="1400" dirty="0"/>
          </a:p>
        </p:txBody>
      </p:sp>
      <p:sp>
        <p:nvSpPr>
          <p:cNvPr id="30" name="Text 24"/>
          <p:cNvSpPr txBox="1"/>
          <p:nvPr/>
        </p:nvSpPr>
        <p:spPr>
          <a:xfrm>
            <a:off x="6400800" y="4343400"/>
            <a:ext cx="50292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New owners are open to investment and expect a growth plan</a:t>
            </a:r>
            <a:endParaRPr lang="en-US" sz="1400" dirty="0"/>
          </a:p>
          <a:p>
            <a:pPr marL="342900" indent="-342900">
              <a:spcAft>
                <a:spcPts val="600"/>
              </a:spcAft>
              <a:buSzPct val="100000"/>
              <a:buChar char="•"/>
            </a:pPr>
            <a:r>
              <a:rPr lang="en-US" sz="1400" dirty="0">
                <a:solidFill>
                  <a:schemeClr val="tx1"/>
                </a:solidFill>
              </a:rPr>
              <a:t>Jack leans to online; Ashley to in-store technology; Jack wants changes within a year</a:t>
            </a:r>
            <a:endParaRPr lang="en-US" sz="1400" dirty="0"/>
          </a:p>
          <a:p>
            <a:pPr marL="342900" indent="-342900">
              <a:spcAft>
                <a:spcPts val="600"/>
              </a:spcAft>
              <a:buSzPct val="100000"/>
              <a:buChar char="•"/>
            </a:pPr>
            <a:r>
              <a:rPr lang="en-US" sz="1400" dirty="0">
                <a:solidFill>
                  <a:schemeClr val="tx1"/>
                </a:solidFill>
              </a:rPr>
              <a:t>IT director and Edinburgh GM roles are vacant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Store sales slipped 1.1% in FY-1: London and Orlando fell while Birmingham kept growing</a:t>
            </a:r>
            <a:endParaRPr lang="en-US" sz="2800" dirty="0"/>
          </a:p>
        </p:txBody>
      </p:sp>
      <p:graphicFrame>
        <p:nvGraphicFramePr>
          <p:cNvPr id="3" name="Chart 0" descr=""/>
          <p:cNvGraphicFramePr/>
          <p:nvPr/>
        </p:nvGraphicFramePr>
        <p:xfrm>
          <a:off x="548640" y="150876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4" name="Store card London"/>
          <p:cNvSpPr/>
          <p:nvPr/>
        </p:nvSpPr>
        <p:spPr>
          <a:xfrm>
            <a:off x="7772400" y="1508760"/>
            <a:ext cx="3840480" cy="1033272"/>
          </a:xfrm>
          <a:prstGeom prst="rect">
            <a:avLst/>
          </a:prstGeom>
          <a:solidFill>
            <a:schemeClr val="bg2"/>
          </a:solidFill>
          <a:ln/>
        </p:spPr>
      </p:sp>
      <p:sp>
        <p:nvSpPr>
          <p:cNvPr id="5" name="Text 2"/>
          <p:cNvSpPr txBox="1"/>
          <p:nvPr/>
        </p:nvSpPr>
        <p:spPr>
          <a:xfrm>
            <a:off x="7955280" y="1600200"/>
            <a:ext cx="1828800" cy="365760"/>
          </a:xfrm>
          <a:prstGeom prst="rect">
            <a:avLst/>
          </a:prstGeom>
          <a:noFill/>
          <a:ln/>
        </p:spPr>
        <p:txBody>
          <a:bodyPr wrap="square" lIns="0" tIns="0" rIns="0" bIns="0" rtlCol="0" anchor="t"/>
          <a:lstStyle/>
          <a:p>
            <a:pPr indent="0" marL="0">
              <a:buNone/>
            </a:pPr>
            <a:r>
              <a:rPr lang="en-US" sz="1600" b="1" dirty="0">
                <a:solidFill>
                  <a:schemeClr val="tx1"/>
                </a:solidFill>
              </a:rPr>
              <a:t>London</a:t>
            </a:r>
            <a:endParaRPr lang="en-US" sz="1600" dirty="0"/>
          </a:p>
        </p:txBody>
      </p:sp>
      <p:sp>
        <p:nvSpPr>
          <p:cNvPr id="6" name="Text 3"/>
          <p:cNvSpPr txBox="1"/>
          <p:nvPr/>
        </p:nvSpPr>
        <p:spPr>
          <a:xfrm>
            <a:off x="7955280" y="2011680"/>
            <a:ext cx="2377440" cy="365760"/>
          </a:xfrm>
          <a:prstGeom prst="rect">
            <a:avLst/>
          </a:prstGeom>
          <a:noFill/>
          <a:ln/>
        </p:spPr>
        <p:txBody>
          <a:bodyPr wrap="square" lIns="0" tIns="0" rIns="0" bIns="0" rtlCol="0" anchor="t"/>
          <a:lstStyle/>
          <a:p>
            <a:pPr indent="0" marL="0">
              <a:buNone/>
            </a:pPr>
            <a:r>
              <a:rPr lang="en-US" sz="1200" dirty="0">
                <a:solidFill>
                  <a:schemeClr val="tx2"/>
                </a:solidFill>
              </a:rPr>
              <a:t>£563.8m vs £602.7m</a:t>
            </a:r>
            <a:endParaRPr lang="en-US" sz="1200" dirty="0"/>
          </a:p>
        </p:txBody>
      </p:sp>
      <p:sp>
        <p:nvSpPr>
          <p:cNvPr id="7" name="Text 4"/>
          <p:cNvSpPr txBox="1"/>
          <p:nvPr/>
        </p:nvSpPr>
        <p:spPr>
          <a:xfrm>
            <a:off x="10058400" y="1508760"/>
            <a:ext cx="1463040" cy="1033272"/>
          </a:xfrm>
          <a:prstGeom prst="rect">
            <a:avLst/>
          </a:prstGeom>
          <a:noFill/>
          <a:ln/>
        </p:spPr>
        <p:txBody>
          <a:bodyPr wrap="square" lIns="0" tIns="0" rIns="0" bIns="0" rtlCol="0" anchor="ctr"/>
          <a:lstStyle/>
          <a:p>
            <a:pPr algn="r" indent="0" marL="0">
              <a:buNone/>
            </a:pPr>
            <a:r>
              <a:rPr lang="en-US" sz="2800" b="1" dirty="0">
                <a:solidFill>
                  <a:schemeClr val="accent1"/>
                </a:solidFill>
                <a:latin typeface="+mj-lt" pitchFamily="34" charset="0"/>
                <a:ea typeface="+mj-lt" pitchFamily="34" charset="-122"/>
                <a:cs typeface="+mj-lt" pitchFamily="34" charset="-120"/>
              </a:rPr>
              <a:t>−6.5%</a:t>
            </a:r>
            <a:endParaRPr lang="en-US" sz="2800" dirty="0"/>
          </a:p>
        </p:txBody>
      </p:sp>
      <p:sp>
        <p:nvSpPr>
          <p:cNvPr id="8" name="Store card Birmingham"/>
          <p:cNvSpPr/>
          <p:nvPr/>
        </p:nvSpPr>
        <p:spPr>
          <a:xfrm>
            <a:off x="7772400" y="2633472"/>
            <a:ext cx="3840480" cy="1033272"/>
          </a:xfrm>
          <a:prstGeom prst="rect">
            <a:avLst/>
          </a:prstGeom>
          <a:solidFill>
            <a:schemeClr val="bg2"/>
          </a:solidFill>
          <a:ln/>
        </p:spPr>
      </p:sp>
      <p:sp>
        <p:nvSpPr>
          <p:cNvPr id="9" name="Text 6"/>
          <p:cNvSpPr txBox="1"/>
          <p:nvPr/>
        </p:nvSpPr>
        <p:spPr>
          <a:xfrm>
            <a:off x="7955280" y="2724912"/>
            <a:ext cx="1828800" cy="365760"/>
          </a:xfrm>
          <a:prstGeom prst="rect">
            <a:avLst/>
          </a:prstGeom>
          <a:noFill/>
          <a:ln/>
        </p:spPr>
        <p:txBody>
          <a:bodyPr wrap="square" lIns="0" tIns="0" rIns="0" bIns="0" rtlCol="0" anchor="t"/>
          <a:lstStyle/>
          <a:p>
            <a:pPr indent="0" marL="0">
              <a:buNone/>
            </a:pPr>
            <a:r>
              <a:rPr lang="en-US" sz="1600" b="1" dirty="0">
                <a:solidFill>
                  <a:schemeClr val="tx1"/>
                </a:solidFill>
              </a:rPr>
              <a:t>Birmingham</a:t>
            </a:r>
            <a:endParaRPr lang="en-US" sz="1600" dirty="0"/>
          </a:p>
        </p:txBody>
      </p:sp>
      <p:sp>
        <p:nvSpPr>
          <p:cNvPr id="10" name="Text 7"/>
          <p:cNvSpPr txBox="1"/>
          <p:nvPr/>
        </p:nvSpPr>
        <p:spPr>
          <a:xfrm>
            <a:off x="7955280" y="3136392"/>
            <a:ext cx="2377440" cy="365760"/>
          </a:xfrm>
          <a:prstGeom prst="rect">
            <a:avLst/>
          </a:prstGeom>
          <a:noFill/>
          <a:ln/>
        </p:spPr>
        <p:txBody>
          <a:bodyPr wrap="square" lIns="0" tIns="0" rIns="0" bIns="0" rtlCol="0" anchor="t"/>
          <a:lstStyle/>
          <a:p>
            <a:pPr indent="0" marL="0">
              <a:buNone/>
            </a:pPr>
            <a:r>
              <a:rPr lang="en-US" sz="1200" dirty="0">
                <a:solidFill>
                  <a:schemeClr val="tx2"/>
                </a:solidFill>
              </a:rPr>
              <a:t>£470.3m vs £433.8m</a:t>
            </a:r>
            <a:endParaRPr lang="en-US" sz="1200" dirty="0"/>
          </a:p>
        </p:txBody>
      </p:sp>
      <p:sp>
        <p:nvSpPr>
          <p:cNvPr id="11" name="Text 8"/>
          <p:cNvSpPr txBox="1"/>
          <p:nvPr/>
        </p:nvSpPr>
        <p:spPr>
          <a:xfrm>
            <a:off x="10058400" y="2633472"/>
            <a:ext cx="1463040" cy="1033272"/>
          </a:xfrm>
          <a:prstGeom prst="rect">
            <a:avLst/>
          </a:prstGeom>
          <a:noFill/>
          <a:ln/>
        </p:spPr>
        <p:txBody>
          <a:bodyPr wrap="square" lIns="0" tIns="0" rIns="0" bIns="0" rtlCol="0" anchor="ctr"/>
          <a:lstStyle/>
          <a:p>
            <a:pPr algn="r" indent="0" marL="0">
              <a:buNone/>
            </a:pPr>
            <a:r>
              <a:rPr lang="en-US" sz="2800" b="1" dirty="0">
                <a:solidFill>
                  <a:schemeClr val="tx1"/>
                </a:solidFill>
                <a:latin typeface="+mj-lt" pitchFamily="34" charset="0"/>
                <a:ea typeface="+mj-lt" pitchFamily="34" charset="-122"/>
                <a:cs typeface="+mj-lt" pitchFamily="34" charset="-120"/>
              </a:rPr>
              <a:t>+8.4%</a:t>
            </a:r>
            <a:endParaRPr lang="en-US" sz="2800" dirty="0"/>
          </a:p>
        </p:txBody>
      </p:sp>
      <p:sp>
        <p:nvSpPr>
          <p:cNvPr id="12" name="Store card Edinburgh"/>
          <p:cNvSpPr/>
          <p:nvPr/>
        </p:nvSpPr>
        <p:spPr>
          <a:xfrm>
            <a:off x="7772400" y="3758184"/>
            <a:ext cx="3840480" cy="1033272"/>
          </a:xfrm>
          <a:prstGeom prst="rect">
            <a:avLst/>
          </a:prstGeom>
          <a:solidFill>
            <a:schemeClr val="bg2"/>
          </a:solidFill>
          <a:ln/>
        </p:spPr>
      </p:sp>
      <p:sp>
        <p:nvSpPr>
          <p:cNvPr id="13" name="Text 10"/>
          <p:cNvSpPr txBox="1"/>
          <p:nvPr/>
        </p:nvSpPr>
        <p:spPr>
          <a:xfrm>
            <a:off x="7955280" y="3849624"/>
            <a:ext cx="1828800" cy="365760"/>
          </a:xfrm>
          <a:prstGeom prst="rect">
            <a:avLst/>
          </a:prstGeom>
          <a:noFill/>
          <a:ln/>
        </p:spPr>
        <p:txBody>
          <a:bodyPr wrap="square" lIns="0" tIns="0" rIns="0" bIns="0" rtlCol="0" anchor="t"/>
          <a:lstStyle/>
          <a:p>
            <a:pPr indent="0" marL="0">
              <a:buNone/>
            </a:pPr>
            <a:r>
              <a:rPr lang="en-US" sz="1600" b="1" dirty="0">
                <a:solidFill>
                  <a:schemeClr val="tx1"/>
                </a:solidFill>
              </a:rPr>
              <a:t>Edinburgh</a:t>
            </a:r>
            <a:endParaRPr lang="en-US" sz="1600" dirty="0"/>
          </a:p>
        </p:txBody>
      </p:sp>
      <p:sp>
        <p:nvSpPr>
          <p:cNvPr id="14" name="Text 11"/>
          <p:cNvSpPr txBox="1"/>
          <p:nvPr/>
        </p:nvSpPr>
        <p:spPr>
          <a:xfrm>
            <a:off x="7955280" y="4261104"/>
            <a:ext cx="2377440" cy="365760"/>
          </a:xfrm>
          <a:prstGeom prst="rect">
            <a:avLst/>
          </a:prstGeom>
          <a:noFill/>
          <a:ln/>
        </p:spPr>
        <p:txBody>
          <a:bodyPr wrap="square" lIns="0" tIns="0" rIns="0" bIns="0" rtlCol="0" anchor="t"/>
          <a:lstStyle/>
          <a:p>
            <a:pPr indent="0" marL="0">
              <a:buNone/>
            </a:pPr>
            <a:r>
              <a:rPr lang="en-US" sz="1200" dirty="0">
                <a:solidFill>
                  <a:schemeClr val="tx2"/>
                </a:solidFill>
              </a:rPr>
              <a:t>£131.8m vs £134.2m</a:t>
            </a:r>
            <a:endParaRPr lang="en-US" sz="1200" dirty="0"/>
          </a:p>
        </p:txBody>
      </p:sp>
      <p:sp>
        <p:nvSpPr>
          <p:cNvPr id="15" name="Text 12"/>
          <p:cNvSpPr txBox="1"/>
          <p:nvPr/>
        </p:nvSpPr>
        <p:spPr>
          <a:xfrm>
            <a:off x="10058400" y="3758184"/>
            <a:ext cx="1463040" cy="1033272"/>
          </a:xfrm>
          <a:prstGeom prst="rect">
            <a:avLst/>
          </a:prstGeom>
          <a:noFill/>
          <a:ln/>
        </p:spPr>
        <p:txBody>
          <a:bodyPr wrap="square" lIns="0" tIns="0" rIns="0" bIns="0" rtlCol="0" anchor="ctr"/>
          <a:lstStyle/>
          <a:p>
            <a:pPr algn="r" indent="0" marL="0">
              <a:buNone/>
            </a:pPr>
            <a:r>
              <a:rPr lang="en-US" sz="2800" b="1" dirty="0">
                <a:solidFill>
                  <a:schemeClr val="accent1"/>
                </a:solidFill>
                <a:latin typeface="+mj-lt" pitchFamily="34" charset="0"/>
                <a:ea typeface="+mj-lt" pitchFamily="34" charset="-122"/>
                <a:cs typeface="+mj-lt" pitchFamily="34" charset="-120"/>
              </a:rPr>
              <a:t>−1.8%</a:t>
            </a:r>
            <a:endParaRPr lang="en-US" sz="2800" dirty="0"/>
          </a:p>
        </p:txBody>
      </p:sp>
      <p:sp>
        <p:nvSpPr>
          <p:cNvPr id="16" name="Store card Orlando"/>
          <p:cNvSpPr/>
          <p:nvPr/>
        </p:nvSpPr>
        <p:spPr>
          <a:xfrm>
            <a:off x="7772400" y="4882896"/>
            <a:ext cx="3840480" cy="1033272"/>
          </a:xfrm>
          <a:prstGeom prst="rect">
            <a:avLst/>
          </a:prstGeom>
          <a:solidFill>
            <a:schemeClr val="bg2"/>
          </a:solidFill>
          <a:ln/>
        </p:spPr>
      </p:sp>
      <p:sp>
        <p:nvSpPr>
          <p:cNvPr id="17" name="Text 14"/>
          <p:cNvSpPr txBox="1"/>
          <p:nvPr/>
        </p:nvSpPr>
        <p:spPr>
          <a:xfrm>
            <a:off x="7955280" y="4974336"/>
            <a:ext cx="1828800" cy="365760"/>
          </a:xfrm>
          <a:prstGeom prst="rect">
            <a:avLst/>
          </a:prstGeom>
          <a:noFill/>
          <a:ln/>
        </p:spPr>
        <p:txBody>
          <a:bodyPr wrap="square" lIns="0" tIns="0" rIns="0" bIns="0" rtlCol="0" anchor="t"/>
          <a:lstStyle/>
          <a:p>
            <a:pPr indent="0" marL="0">
              <a:buNone/>
            </a:pPr>
            <a:r>
              <a:rPr lang="en-US" sz="1600" b="1" dirty="0">
                <a:solidFill>
                  <a:schemeClr val="tx1"/>
                </a:solidFill>
              </a:rPr>
              <a:t>Orlando</a:t>
            </a:r>
            <a:endParaRPr lang="en-US" sz="1600" dirty="0"/>
          </a:p>
        </p:txBody>
      </p:sp>
      <p:sp>
        <p:nvSpPr>
          <p:cNvPr id="18" name="Text 15"/>
          <p:cNvSpPr txBox="1"/>
          <p:nvPr/>
        </p:nvSpPr>
        <p:spPr>
          <a:xfrm>
            <a:off x="7955280" y="5385816"/>
            <a:ext cx="2377440" cy="365760"/>
          </a:xfrm>
          <a:prstGeom prst="rect">
            <a:avLst/>
          </a:prstGeom>
          <a:noFill/>
          <a:ln/>
        </p:spPr>
        <p:txBody>
          <a:bodyPr wrap="square" lIns="0" tIns="0" rIns="0" bIns="0" rtlCol="0" anchor="t"/>
          <a:lstStyle/>
          <a:p>
            <a:pPr indent="0" marL="0">
              <a:buNone/>
            </a:pPr>
            <a:r>
              <a:rPr lang="en-US" sz="1200" dirty="0">
                <a:solidFill>
                  <a:schemeClr val="tx2"/>
                </a:solidFill>
              </a:rPr>
              <a:t>£91.0m vs £100.0m</a:t>
            </a:r>
            <a:endParaRPr lang="en-US" sz="1200" dirty="0"/>
          </a:p>
        </p:txBody>
      </p:sp>
      <p:sp>
        <p:nvSpPr>
          <p:cNvPr id="19" name="Text 16"/>
          <p:cNvSpPr txBox="1"/>
          <p:nvPr/>
        </p:nvSpPr>
        <p:spPr>
          <a:xfrm>
            <a:off x="10058400" y="4882896"/>
            <a:ext cx="1463040" cy="1033272"/>
          </a:xfrm>
          <a:prstGeom prst="rect">
            <a:avLst/>
          </a:prstGeom>
          <a:noFill/>
          <a:ln/>
        </p:spPr>
        <p:txBody>
          <a:bodyPr wrap="square" lIns="0" tIns="0" rIns="0" bIns="0" rtlCol="0" anchor="ctr"/>
          <a:lstStyle/>
          <a:p>
            <a:pPr algn="r" indent="0" marL="0">
              <a:buNone/>
            </a:pPr>
            <a:r>
              <a:rPr lang="en-US" sz="2800" b="1" dirty="0">
                <a:solidFill>
                  <a:schemeClr val="accent1"/>
                </a:solidFill>
                <a:latin typeface="+mj-lt" pitchFamily="34" charset="0"/>
                <a:ea typeface="+mj-lt" pitchFamily="34" charset="-122"/>
                <a:cs typeface="+mj-lt" pitchFamily="34" charset="-120"/>
              </a:rPr>
              <a:t>−9.0%</a:t>
            </a:r>
            <a:endParaRPr lang="en-US" sz="2800" dirty="0"/>
          </a:p>
        </p:txBody>
      </p:sp>
      <p:sp>
        <p:nvSpPr>
          <p:cNvPr id="20" name="Text 17"/>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000" dirty="0">
                <a:solidFill>
                  <a:schemeClr val="tx2"/>
                </a:solidFill>
              </a:rPr>
              <a:t>FY-1 vs FY-2, £ million. Orlando was acquired in FY-2, so it has no FY-4 or FY-3 sales. Fiscal year ends 31 December. Source: DP1_CENH sales data.</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More sales rang through every till, but value per sale fell 11% to 15% in three stores</a:t>
            </a:r>
            <a:endParaRPr lang="en-US" sz="2800" dirty="0"/>
          </a:p>
        </p:txBody>
      </p:sp>
      <p:graphicFrame>
        <p:nvGraphicFramePr>
          <p:cNvPr id="3" name="Chart 0" descr=""/>
          <p:cNvGraphicFramePr/>
          <p:nvPr/>
        </p:nvGraphicFramePr>
        <p:xfrm>
          <a:off x="548640" y="1508760"/>
          <a:ext cx="56692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92240" y="1600200"/>
          <a:ext cx="5120640" cy="914400"/>
        </p:xfrm>
        <a:graphic>
          <a:graphicData uri="http://schemas.openxmlformats.org/drawingml/2006/table">
            <a:tbl>
              <a:tblPr/>
              <a:tblGrid>
                <a:gridCol w="1280160"/>
                <a:gridCol w="1371600"/>
                <a:gridCol w="1280160"/>
                <a:gridCol w="1188720"/>
              </a:tblGrid>
              <a:tr h="548640">
                <a:tc>
                  <a:txBody>
                    <a:bodyPr/>
                    <a:lstStyle/>
                    <a:p>
                      <a:pPr algn="l" indent="0" marL="0">
                        <a:buNone/>
                      </a:pPr>
                      <a:r>
                        <a:rPr lang="en-US" sz="1300" b="1" dirty="0">
                          <a:solidFill>
                            <a:schemeClr val="bg1"/>
                          </a:solidFill>
                        </a:rPr>
                        <a:t>Store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Number of sales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Value per sale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Net sales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r>
              <a:tr h="566928">
                <a:tc>
                  <a:txBody>
                    <a:bodyPr/>
                    <a:lstStyle/>
                    <a:p>
                      <a:pPr indent="0" marL="0">
                        <a:buNone/>
                      </a:pPr>
                      <a:r>
                        <a:rPr lang="en-US" sz="1300" b="1" dirty="0">
                          <a:solidFill>
                            <a:schemeClr val="tx1"/>
                          </a:solidFill>
                        </a:rPr>
                        <a:t>London</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+7.1%</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−12.7%</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−6.5%</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566928">
                <a:tc>
                  <a:txBody>
                    <a:bodyPr/>
                    <a:lstStyle/>
                    <a:p>
                      <a:pPr indent="0" marL="0">
                        <a:buNone/>
                      </a:pPr>
                      <a:r>
                        <a:rPr lang="en-US" sz="1300" b="1" dirty="0">
                          <a:solidFill>
                            <a:schemeClr val="tx1"/>
                          </a:solidFill>
                        </a:rPr>
                        <a:t>Birmingham</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+7.9%</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+0.5%</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+8.4%</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566928">
                <a:tc>
                  <a:txBody>
                    <a:bodyPr/>
                    <a:lstStyle/>
                    <a:p>
                      <a:pPr indent="0" marL="0">
                        <a:buNone/>
                      </a:pPr>
                      <a:r>
                        <a:rPr lang="en-US" sz="1300" b="1" dirty="0">
                          <a:solidFill>
                            <a:schemeClr val="tx1"/>
                          </a:solidFill>
                        </a:rPr>
                        <a:t>Edinburgh</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+10.0%</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−10.7%</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−1.8%</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566928">
                <a:tc>
                  <a:txBody>
                    <a:bodyPr/>
                    <a:lstStyle/>
                    <a:p>
                      <a:pPr indent="0" marL="0">
                        <a:buNone/>
                      </a:pPr>
                      <a:r>
                        <a:rPr lang="en-US" sz="1300" b="1" dirty="0">
                          <a:solidFill>
                            <a:schemeClr val="tx1"/>
                          </a:solidFill>
                        </a:rPr>
                        <a:t>Orlando</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+7.1%</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−15.1%</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−9.0%</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bl>
          </a:graphicData>
        </a:graphic>
      </p:graphicFrame>
      <p:sp>
        <p:nvSpPr>
          <p:cNvPr id="5" name="Text 1"/>
          <p:cNvSpPr txBox="1"/>
          <p:nvPr/>
        </p:nvSpPr>
        <p:spPr>
          <a:xfrm>
            <a:off x="6492240" y="4572000"/>
            <a:ext cx="5120640" cy="457200"/>
          </a:xfrm>
          <a:prstGeom prst="rect">
            <a:avLst/>
          </a:prstGeom>
          <a:noFill/>
          <a:ln/>
        </p:spPr>
        <p:txBody>
          <a:bodyPr wrap="square" lIns="0" tIns="0" rIns="0" bIns="0" rtlCol="0" anchor="t"/>
          <a:lstStyle/>
          <a:p>
            <a:pPr indent="0" marL="0">
              <a:buNone/>
            </a:pPr>
            <a:r>
              <a:rPr lang="en-US" sz="1100" dirty="0">
                <a:solidFill>
                  <a:schemeClr val="tx2"/>
                </a:solidFill>
              </a:rPr>
              <a:t>FY-1 vs FY-2. Value per sale = store sales ÷ number of sales.</a:t>
            </a:r>
            <a:endParaRPr lang="en-US" sz="1100" dirty="0"/>
          </a:p>
        </p:txBody>
      </p:sp>
      <p:sp>
        <p:nvSpPr>
          <p:cNvPr id="6" name="Takeaway"/>
          <p:cNvSpPr/>
          <p:nvPr/>
        </p:nvSpPr>
        <p:spPr>
          <a:xfrm>
            <a:off x="548640" y="5303520"/>
            <a:ext cx="11064240" cy="868680"/>
          </a:xfrm>
          <a:prstGeom prst="rect">
            <a:avLst/>
          </a:prstGeom>
          <a:solidFill>
            <a:schemeClr val="tx1"/>
          </a:solidFill>
          <a:ln/>
        </p:spPr>
      </p:sp>
      <p:sp>
        <p:nvSpPr>
          <p:cNvPr id="7" name="Text 3"/>
          <p:cNvSpPr txBox="1"/>
          <p:nvPr/>
        </p:nvSpPr>
        <p:spPr>
          <a:xfrm>
            <a:off x="777240" y="5303520"/>
            <a:ext cx="10607040" cy="868680"/>
          </a:xfrm>
          <a:prstGeom prst="rect">
            <a:avLst/>
          </a:prstGeom>
          <a:noFill/>
          <a:ln/>
        </p:spPr>
        <p:txBody>
          <a:bodyPr wrap="square" lIns="0" tIns="0" rIns="0" bIns="0" rtlCol="0" anchor="ctr"/>
          <a:lstStyle/>
          <a:p>
            <a:pPr indent="0" marL="0">
              <a:buNone/>
            </a:pPr>
            <a:r>
              <a:rPr lang="en-US" sz="1400" b="1" dirty="0">
                <a:solidFill>
                  <a:schemeClr val="accent3"/>
                </a:solidFill>
              </a:rPr>
              <a:t>So what: </a:t>
            </a:r>
            <a:pPr indent="0" marL="0">
              <a:buNone/>
            </a:pPr>
            <a:r>
              <a:rPr lang="en-US" sz="1400" dirty="0">
                <a:solidFill>
                  <a:schemeClr val="bg1"/>
                </a:solidFill>
              </a:rPr>
              <a:t>traffic is not the problem, value per visit is. Birmingham holds £115 per sale, almost double London’s £63, which shows what a larger, more personal basket looks like.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Logistics takes 17.5% of revenue; two points of cost closes the gap to a 10% margin</a:t>
            </a:r>
            <a:endParaRPr lang="en-US" sz="2800" dirty="0"/>
          </a:p>
        </p:txBody>
      </p:sp>
      <p:graphicFrame>
        <p:nvGraphicFramePr>
          <p:cNvPr id="3" name="Chart 0" descr=""/>
          <p:cNvGraphicFramePr/>
          <p:nvPr/>
        </p:nvGraphicFramePr>
        <p:xfrm>
          <a:off x="548640" y="1508760"/>
          <a:ext cx="54864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26480" y="1508760"/>
          <a:ext cx="5486400" cy="35661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120640"/>
            <a:ext cx="11064240" cy="274320"/>
          </a:xfrm>
          <a:prstGeom prst="rect">
            <a:avLst/>
          </a:prstGeom>
          <a:noFill/>
          <a:ln/>
        </p:spPr>
        <p:txBody>
          <a:bodyPr wrap="square" lIns="0" tIns="0" rIns="0" bIns="0" rtlCol="0" anchor="t"/>
          <a:lstStyle/>
          <a:p>
            <a:pPr indent="0" marL="0">
              <a:buNone/>
            </a:pPr>
            <a:r>
              <a:rPr lang="en-US" sz="1100" dirty="0">
                <a:solidFill>
                  <a:schemeClr val="tx2"/>
                </a:solidFill>
              </a:rPr>
              <a:t>Orange = Orlando (best margin, lowest logistics). Red = Edinburgh (weakest margin, highest logistics). Owners’ target: 10%.</a:t>
            </a:r>
            <a:endParaRPr lang="en-US" sz="1100" dirty="0"/>
          </a:p>
        </p:txBody>
      </p:sp>
      <p:sp>
        <p:nvSpPr>
          <p:cNvPr id="6" name="Takeaway"/>
          <p:cNvSpPr/>
          <p:nvPr/>
        </p:nvSpPr>
        <p:spPr>
          <a:xfrm>
            <a:off x="548640" y="5486400"/>
            <a:ext cx="11064240" cy="777240"/>
          </a:xfrm>
          <a:prstGeom prst="rect">
            <a:avLst/>
          </a:prstGeom>
          <a:solidFill>
            <a:schemeClr val="tx1"/>
          </a:solidFill>
          <a:ln/>
        </p:spPr>
      </p:sp>
      <p:sp>
        <p:nvSpPr>
          <p:cNvPr id="7" name="Text 3"/>
          <p:cNvSpPr txBox="1"/>
          <p:nvPr/>
        </p:nvSpPr>
        <p:spPr>
          <a:xfrm>
            <a:off x="777240" y="5486400"/>
            <a:ext cx="10607040" cy="777240"/>
          </a:xfrm>
          <a:prstGeom prst="rect">
            <a:avLst/>
          </a:prstGeom>
          <a:noFill/>
          <a:ln/>
        </p:spPr>
        <p:txBody>
          <a:bodyPr wrap="square" lIns="0" tIns="0" rIns="0" bIns="0" rtlCol="0" anchor="ctr"/>
          <a:lstStyle/>
          <a:p>
            <a:pPr indent="0" marL="0">
              <a:buNone/>
            </a:pPr>
            <a:r>
              <a:rPr lang="en-US" sz="1400" b="1" dirty="0">
                <a:solidFill>
                  <a:schemeClr val="accent3"/>
                </a:solidFill>
              </a:rPr>
              <a:t>So what: </a:t>
            </a:r>
            <a:pPr indent="0" marL="0">
              <a:buNone/>
            </a:pPr>
            <a:r>
              <a:rPr lang="en-US" sz="1400" dirty="0">
                <a:solidFill>
                  <a:schemeClr val="bg1"/>
                </a:solidFill>
              </a:rPr>
              <a:t>a 10% margin needs £24.8m more EBIT. One point of revenue is £12.6m, and logistics (£221m) is 51% of gross profit, so stock and delivery are the lever.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Online draws 982,000 visits, 58% from outside the UK, but earns only £5.7m</a:t>
            </a:r>
            <a:endParaRPr lang="en-US" sz="2800" dirty="0"/>
          </a:p>
        </p:txBody>
      </p:sp>
      <p:graphicFrame>
        <p:nvGraphicFramePr>
          <p:cNvPr id="3" name="Chart 0" descr=""/>
          <p:cNvGraphicFramePr/>
          <p:nvPr/>
        </p:nvGraphicFramePr>
        <p:xfrm>
          <a:off x="548640" y="1508760"/>
          <a:ext cx="603504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858000" y="1508760"/>
          <a:ext cx="4754880" cy="3749040"/>
        </p:xfrm>
        <a:graphic xmlns:a="http://schemas.openxmlformats.org/drawingml/2006/main">
          <a:graphicData uri="http://schemas.openxmlformats.org/drawingml/2006/chart">
            <c:chart xmlns:c="http://schemas.openxmlformats.org/drawingml/2006/chart" r:id="rId2"/>
          </a:graphicData>
        </a:graphic>
      </p:graphicFrame>
      <p:sp>
        <p:nvSpPr>
          <p:cNvPr id="5" name="Takeaway"/>
          <p:cNvSpPr/>
          <p:nvPr/>
        </p:nvSpPr>
        <p:spPr>
          <a:xfrm>
            <a:off x="548640" y="5440680"/>
            <a:ext cx="11064240" cy="822960"/>
          </a:xfrm>
          <a:prstGeom prst="rect">
            <a:avLst/>
          </a:prstGeom>
          <a:solidFill>
            <a:schemeClr val="tx1"/>
          </a:solidFill>
          <a:ln/>
        </p:spPr>
      </p:sp>
      <p:sp>
        <p:nvSpPr>
          <p:cNvPr id="6" name="Text 2"/>
          <p:cNvSpPr txBox="1"/>
          <p:nvPr/>
        </p:nvSpPr>
        <p:spPr>
          <a:xfrm>
            <a:off x="777240" y="5440680"/>
            <a:ext cx="10607040" cy="822960"/>
          </a:xfrm>
          <a:prstGeom prst="rect">
            <a:avLst/>
          </a:prstGeom>
          <a:noFill/>
          <a:ln/>
        </p:spPr>
        <p:txBody>
          <a:bodyPr wrap="square" lIns="0" tIns="0" rIns="0" bIns="0" rtlCol="0" anchor="ctr"/>
          <a:lstStyle/>
          <a:p>
            <a:pPr indent="0" marL="0">
              <a:buNone/>
            </a:pPr>
            <a:r>
              <a:rPr lang="en-US" sz="1400" b="1" dirty="0">
                <a:solidFill>
                  <a:schemeClr val="accent3"/>
                </a:solidFill>
              </a:rPr>
              <a:t>So what: </a:t>
            </a:r>
            <a:pPr indent="0" marL="0">
              <a:buNone/>
            </a:pPr>
            <a:r>
              <a:rPr lang="en-US" sz="1400" dirty="0">
                <a:solidFill>
                  <a:schemeClr val="bg1"/>
                </a:solidFill>
              </a:rPr>
              <a:t>£5.65m of online revenue on 982,145 visits is about £5.76 a visit. The US alone sends 285,000 visits, and V&amp;S already has a store in Orlando.</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Search data shows customers want help and niche ranges more than generic luxury</a:t>
            </a:r>
            <a:endParaRPr lang="en-US" sz="2800" dirty="0"/>
          </a:p>
        </p:txBody>
      </p:sp>
      <p:graphicFrame>
        <p:nvGraphicFramePr>
          <p:cNvPr id="3" name="Chart 0" descr=""/>
          <p:cNvGraphicFramePr/>
          <p:nvPr/>
        </p:nvGraphicFramePr>
        <p:xfrm>
          <a:off x="548640" y="1508760"/>
          <a:ext cx="6309360" cy="4206240"/>
        </p:xfrm>
        <a:graphic xmlns:a="http://schemas.openxmlformats.org/drawingml/2006/main">
          <a:graphicData uri="http://schemas.openxmlformats.org/drawingml/2006/chart">
            <c:chart xmlns:c="http://schemas.openxmlformats.org/drawingml/2006/chart" r:id="rId1"/>
          </a:graphicData>
        </a:graphic>
      </p:graphicFrame>
      <p:sp>
        <p:nvSpPr>
          <p:cNvPr id="4" name="Insight 1"/>
          <p:cNvSpPr/>
          <p:nvPr/>
        </p:nvSpPr>
        <p:spPr>
          <a:xfrm>
            <a:off x="7132320" y="1508760"/>
            <a:ext cx="4480560" cy="1371600"/>
          </a:xfrm>
          <a:prstGeom prst="rect">
            <a:avLst/>
          </a:prstGeom>
          <a:solidFill>
            <a:schemeClr val="bg2"/>
          </a:solidFill>
          <a:ln/>
        </p:spPr>
      </p:sp>
      <p:sp>
        <p:nvSpPr>
          <p:cNvPr id="5" name="Shape 2"/>
          <p:cNvSpPr/>
          <p:nvPr/>
        </p:nvSpPr>
        <p:spPr>
          <a:xfrm>
            <a:off x="7269480" y="1645920"/>
            <a:ext cx="502920" cy="502920"/>
          </a:xfrm>
          <a:prstGeom prst="ellipse">
            <a:avLst/>
          </a:prstGeom>
          <a:solidFill>
            <a:srgbClr val="D52B1E"/>
          </a:solidFill>
          <a:ln/>
        </p:spPr>
      </p:sp>
      <p:pic>
        <p:nvPicPr>
          <p:cNvPr id="6" name="Image 0" descr="icon">    </p:cNvPr>
          <p:cNvPicPr>
            <a:picLocks noChangeAspect="1"/>
          </p:cNvPicPr>
          <p:nvPr/>
        </p:nvPicPr>
        <p:blipFill>
          <a:blip r:embed="rId2"/>
          <a:stretch>
            <a:fillRect/>
          </a:stretch>
        </p:blipFill>
        <p:spPr>
          <a:xfrm>
            <a:off x="7395210" y="1771650"/>
            <a:ext cx="251460" cy="251460"/>
          </a:xfrm>
          <a:prstGeom prst="rect">
            <a:avLst/>
          </a:prstGeom>
        </p:spPr>
      </p:pic>
      <p:sp>
        <p:nvSpPr>
          <p:cNvPr id="7" name="Text 3"/>
          <p:cNvSpPr txBox="1"/>
          <p:nvPr/>
        </p:nvSpPr>
        <p:spPr>
          <a:xfrm>
            <a:off x="7909560" y="1618488"/>
            <a:ext cx="3611880" cy="365760"/>
          </a:xfrm>
          <a:prstGeom prst="rect">
            <a:avLst/>
          </a:prstGeom>
          <a:noFill/>
          <a:ln/>
        </p:spPr>
        <p:txBody>
          <a:bodyPr wrap="square" lIns="0" tIns="0" rIns="0" bIns="0" rtlCol="0" anchor="t"/>
          <a:lstStyle/>
          <a:p>
            <a:pPr indent="0" marL="0">
              <a:buNone/>
            </a:pPr>
            <a:r>
              <a:rPr lang="en-US" sz="1500" b="1" dirty="0">
                <a:solidFill>
                  <a:schemeClr val="tx1"/>
                </a:solidFill>
              </a:rPr>
              <a:t>Help beats browsing</a:t>
            </a:r>
            <a:endParaRPr lang="en-US" sz="1500" dirty="0"/>
          </a:p>
        </p:txBody>
      </p:sp>
      <p:sp>
        <p:nvSpPr>
          <p:cNvPr id="8" name="Text 4"/>
          <p:cNvSpPr txBox="1"/>
          <p:nvPr/>
        </p:nvSpPr>
        <p:spPr>
          <a:xfrm>
            <a:off x="7909560" y="2011680"/>
            <a:ext cx="3611880" cy="822960"/>
          </a:xfrm>
          <a:prstGeom prst="rect">
            <a:avLst/>
          </a:prstGeom>
          <a:noFill/>
          <a:ln/>
        </p:spPr>
        <p:txBody>
          <a:bodyPr wrap="square" lIns="0" tIns="0" rIns="0" bIns="0" rtlCol="0" anchor="t"/>
          <a:lstStyle/>
          <a:p>
            <a:pPr indent="0" marL="0">
              <a:buNone/>
            </a:pPr>
            <a:r>
              <a:rPr lang="en-US" sz="1200" dirty="0">
                <a:solidFill>
                  <a:schemeClr val="tx1"/>
                </a:solidFill>
              </a:rPr>
              <a:t>Contact-us and the delivery FAQ draw 279,911 views, 1.9 times the womenswear page (147,322).</a:t>
            </a:r>
            <a:endParaRPr lang="en-US" sz="1200" dirty="0"/>
          </a:p>
        </p:txBody>
      </p:sp>
      <p:sp>
        <p:nvSpPr>
          <p:cNvPr id="9" name="Insight 2"/>
          <p:cNvSpPr/>
          <p:nvPr/>
        </p:nvSpPr>
        <p:spPr>
          <a:xfrm>
            <a:off x="7132320" y="2971800"/>
            <a:ext cx="4480560" cy="1371600"/>
          </a:xfrm>
          <a:prstGeom prst="rect">
            <a:avLst/>
          </a:prstGeom>
          <a:solidFill>
            <a:schemeClr val="bg2"/>
          </a:solidFill>
          <a:ln/>
        </p:spPr>
      </p:sp>
      <p:sp>
        <p:nvSpPr>
          <p:cNvPr id="10" name="Shape 6"/>
          <p:cNvSpPr/>
          <p:nvPr/>
        </p:nvSpPr>
        <p:spPr>
          <a:xfrm>
            <a:off x="7269480" y="3108960"/>
            <a:ext cx="502920" cy="502920"/>
          </a:xfrm>
          <a:prstGeom prst="ellipse">
            <a:avLst/>
          </a:prstGeom>
          <a:solidFill>
            <a:srgbClr val="D52B1E"/>
          </a:solidFill>
          <a:ln/>
        </p:spPr>
      </p:sp>
      <p:pic>
        <p:nvPicPr>
          <p:cNvPr id="11" name="Image 1" descr="icon">    </p:cNvPr>
          <p:cNvPicPr>
            <a:picLocks noChangeAspect="1"/>
          </p:cNvPicPr>
          <p:nvPr/>
        </p:nvPicPr>
        <p:blipFill>
          <a:blip r:embed="rId3"/>
          <a:stretch>
            <a:fillRect/>
          </a:stretch>
        </p:blipFill>
        <p:spPr>
          <a:xfrm>
            <a:off x="7395210" y="3234690"/>
            <a:ext cx="251460" cy="251460"/>
          </a:xfrm>
          <a:prstGeom prst="rect">
            <a:avLst/>
          </a:prstGeom>
        </p:spPr>
      </p:pic>
      <p:sp>
        <p:nvSpPr>
          <p:cNvPr id="12" name="Text 7"/>
          <p:cNvSpPr txBox="1"/>
          <p:nvPr/>
        </p:nvSpPr>
        <p:spPr>
          <a:xfrm>
            <a:off x="7909560" y="3081528"/>
            <a:ext cx="3611880" cy="365760"/>
          </a:xfrm>
          <a:prstGeom prst="rect">
            <a:avLst/>
          </a:prstGeom>
          <a:noFill/>
          <a:ln/>
        </p:spPr>
        <p:txBody>
          <a:bodyPr wrap="square" lIns="0" tIns="0" rIns="0" bIns="0" rtlCol="0" anchor="t"/>
          <a:lstStyle/>
          <a:p>
            <a:pPr indent="0" marL="0">
              <a:buNone/>
            </a:pPr>
            <a:r>
              <a:rPr lang="en-US" sz="1500" b="1" dirty="0">
                <a:solidFill>
                  <a:schemeClr val="tx1"/>
                </a:solidFill>
              </a:rPr>
              <a:t>Golf is a hidden niche</a:t>
            </a:r>
            <a:endParaRPr lang="en-US" sz="1500" dirty="0"/>
          </a:p>
        </p:txBody>
      </p:sp>
      <p:sp>
        <p:nvSpPr>
          <p:cNvPr id="13" name="Text 8"/>
          <p:cNvSpPr txBox="1"/>
          <p:nvPr/>
        </p:nvSpPr>
        <p:spPr>
          <a:xfrm>
            <a:off x="7909560" y="3474720"/>
            <a:ext cx="3611880" cy="822960"/>
          </a:xfrm>
          <a:prstGeom prst="rect">
            <a:avLst/>
          </a:prstGeom>
          <a:noFill/>
          <a:ln/>
        </p:spPr>
        <p:txBody>
          <a:bodyPr wrap="square" lIns="0" tIns="0" rIns="0" bIns="0" rtlCol="0" anchor="t"/>
          <a:lstStyle/>
          <a:p>
            <a:pPr indent="0" marL="0">
              <a:buNone/>
            </a:pPr>
            <a:r>
              <a:rPr lang="en-US" sz="1200" dirty="0">
                <a:solidFill>
                  <a:schemeClr val="tx1"/>
                </a:solidFill>
              </a:rPr>
              <a:t>‘High end golf apparel’ brings 105,384 visits (10.7%), yet only 29,464 views reach the Golf Store page.</a:t>
            </a:r>
            <a:endParaRPr lang="en-US" sz="1200" dirty="0"/>
          </a:p>
        </p:txBody>
      </p:sp>
      <p:sp>
        <p:nvSpPr>
          <p:cNvPr id="14" name="Insight 3"/>
          <p:cNvSpPr/>
          <p:nvPr/>
        </p:nvSpPr>
        <p:spPr>
          <a:xfrm>
            <a:off x="7132320" y="4434840"/>
            <a:ext cx="4480560" cy="1371600"/>
          </a:xfrm>
          <a:prstGeom prst="rect">
            <a:avLst/>
          </a:prstGeom>
          <a:solidFill>
            <a:schemeClr val="bg2"/>
          </a:solidFill>
          <a:ln/>
        </p:spPr>
      </p:sp>
      <p:sp>
        <p:nvSpPr>
          <p:cNvPr id="15" name="Shape 10"/>
          <p:cNvSpPr/>
          <p:nvPr/>
        </p:nvSpPr>
        <p:spPr>
          <a:xfrm>
            <a:off x="7269480" y="4572000"/>
            <a:ext cx="502920" cy="502920"/>
          </a:xfrm>
          <a:prstGeom prst="ellipse">
            <a:avLst/>
          </a:prstGeom>
          <a:solidFill>
            <a:srgbClr val="D52B1E"/>
          </a:solidFill>
          <a:ln/>
        </p:spPr>
      </p:sp>
      <p:pic>
        <p:nvPicPr>
          <p:cNvPr id="16" name="Image 2" descr="icon">    </p:cNvPr>
          <p:cNvPicPr>
            <a:picLocks noChangeAspect="1"/>
          </p:cNvPicPr>
          <p:nvPr/>
        </p:nvPicPr>
        <p:blipFill>
          <a:blip r:embed="rId4"/>
          <a:stretch>
            <a:fillRect/>
          </a:stretch>
        </p:blipFill>
        <p:spPr>
          <a:xfrm>
            <a:off x="7395210" y="4697730"/>
            <a:ext cx="251460" cy="251460"/>
          </a:xfrm>
          <a:prstGeom prst="rect">
            <a:avLst/>
          </a:prstGeom>
        </p:spPr>
      </p:pic>
      <p:sp>
        <p:nvSpPr>
          <p:cNvPr id="17" name="Text 11"/>
          <p:cNvSpPr txBox="1"/>
          <p:nvPr/>
        </p:nvSpPr>
        <p:spPr>
          <a:xfrm>
            <a:off x="7909560" y="4544568"/>
            <a:ext cx="3611880" cy="365760"/>
          </a:xfrm>
          <a:prstGeom prst="rect">
            <a:avLst/>
          </a:prstGeom>
          <a:noFill/>
          <a:ln/>
        </p:spPr>
        <p:txBody>
          <a:bodyPr wrap="square" lIns="0" tIns="0" rIns="0" bIns="0" rtlCol="0" anchor="t"/>
          <a:lstStyle/>
          <a:p>
            <a:pPr indent="0" marL="0">
              <a:buNone/>
            </a:pPr>
            <a:r>
              <a:rPr lang="en-US" sz="1500" b="1" dirty="0">
                <a:solidFill>
                  <a:schemeClr val="tx1"/>
                </a:solidFill>
              </a:rPr>
              <a:t>Generic discovery is weak</a:t>
            </a:r>
            <a:endParaRPr lang="en-US" sz="1500" dirty="0"/>
          </a:p>
        </p:txBody>
      </p:sp>
      <p:sp>
        <p:nvSpPr>
          <p:cNvPr id="18" name="Text 12"/>
          <p:cNvSpPr txBox="1"/>
          <p:nvPr/>
        </p:nvSpPr>
        <p:spPr>
          <a:xfrm>
            <a:off x="7909560" y="4937760"/>
            <a:ext cx="3611880" cy="822960"/>
          </a:xfrm>
          <a:prstGeom prst="rect">
            <a:avLst/>
          </a:prstGeom>
          <a:noFill/>
          <a:ln/>
        </p:spPr>
        <p:txBody>
          <a:bodyPr wrap="square" lIns="0" tIns="0" rIns="0" bIns="0" rtlCol="0" anchor="t"/>
          <a:lstStyle/>
          <a:p>
            <a:pPr indent="0" marL="0">
              <a:buNone/>
            </a:pPr>
            <a:r>
              <a:rPr lang="en-US" sz="1200" dirty="0">
                <a:solidFill>
                  <a:schemeClr val="tx1"/>
                </a:solidFill>
              </a:rPr>
              <a:t>‘Luxury womenswear online’ brought 10 visits, while the brand name alone brings 33% of all visits.</a:t>
            </a:r>
            <a:endParaRPr lang="en-US" sz="1200" dirty="0"/>
          </a:p>
        </p:txBody>
      </p:sp>
      <p:sp>
        <p:nvSpPr>
          <p:cNvPr id="19" name="Text 13"/>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000" dirty="0">
                <a:solidFill>
                  <a:schemeClr val="tx2"/>
                </a:solidFill>
              </a:rPr>
              <a:t>Keywords sum to 982,145 visits. Page figures are views. Source: DP1_CENH website data.</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Stock is replenished reactively across two systems, and online runs outside the process</a:t>
            </a:r>
            <a:endParaRPr lang="en-US" sz="2800" dirty="0"/>
          </a:p>
        </p:txBody>
      </p:sp>
      <p:sp>
        <p:nvSpPr>
          <p:cNvPr id="3" name="Lane Delivery bay"/>
          <p:cNvSpPr/>
          <p:nvPr/>
        </p:nvSpPr>
        <p:spPr>
          <a:xfrm>
            <a:off x="548640" y="1463040"/>
            <a:ext cx="11091672" cy="676656"/>
          </a:xfrm>
          <a:prstGeom prst="rect">
            <a:avLst/>
          </a:prstGeom>
          <a:solidFill>
            <a:schemeClr val="bg2"/>
          </a:solidFill>
          <a:ln w="12700">
            <a:solidFill>
              <a:srgbClr val="D9D4CC"/>
            </a:solidFill>
            <a:prstDash val="solid"/>
          </a:ln>
        </p:spPr>
      </p:sp>
      <p:sp>
        <p:nvSpPr>
          <p:cNvPr id="4" name="Lane label Delivery bay"/>
          <p:cNvSpPr/>
          <p:nvPr/>
        </p:nvSpPr>
        <p:spPr>
          <a:xfrm>
            <a:off x="548640" y="1463040"/>
            <a:ext cx="1143000" cy="676656"/>
          </a:xfrm>
          <a:prstGeom prst="rect">
            <a:avLst/>
          </a:prstGeom>
          <a:solidFill>
            <a:schemeClr val="tx2"/>
          </a:solidFill>
          <a:ln/>
        </p:spPr>
      </p:sp>
      <p:sp>
        <p:nvSpPr>
          <p:cNvPr id="5" name="Text 3"/>
          <p:cNvSpPr txBox="1"/>
          <p:nvPr/>
        </p:nvSpPr>
        <p:spPr>
          <a:xfrm>
            <a:off x="594360" y="1463040"/>
            <a:ext cx="1051560" cy="676656"/>
          </a:xfrm>
          <a:prstGeom prst="rect">
            <a:avLst/>
          </a:prstGeom>
          <a:noFill/>
          <a:ln/>
        </p:spPr>
        <p:txBody>
          <a:bodyPr wrap="square" lIns="0" tIns="0" rIns="0" bIns="0" rtlCol="0" anchor="ctr"/>
          <a:lstStyle/>
          <a:p>
            <a:pPr algn="ctr" indent="0" marL="0">
              <a:buNone/>
            </a:pPr>
            <a:r>
              <a:rPr lang="en-US" sz="1100" b="1" dirty="0">
                <a:solidFill>
                  <a:schemeClr val="bg1"/>
                </a:solidFill>
              </a:rPr>
              <a:t>Delivery bay</a:t>
            </a:r>
            <a:endParaRPr lang="en-US" sz="1100" dirty="0"/>
          </a:p>
        </p:txBody>
      </p:sp>
      <p:sp>
        <p:nvSpPr>
          <p:cNvPr id="6" name="Lane Distribution centre"/>
          <p:cNvSpPr/>
          <p:nvPr/>
        </p:nvSpPr>
        <p:spPr>
          <a:xfrm>
            <a:off x="548640" y="2139696"/>
            <a:ext cx="11091672" cy="676656"/>
          </a:xfrm>
          <a:prstGeom prst="rect">
            <a:avLst/>
          </a:prstGeom>
          <a:solidFill>
            <a:schemeClr val="bg1"/>
          </a:solidFill>
          <a:ln w="12700">
            <a:solidFill>
              <a:srgbClr val="D9D4CC"/>
            </a:solidFill>
            <a:prstDash val="solid"/>
          </a:ln>
        </p:spPr>
      </p:sp>
      <p:sp>
        <p:nvSpPr>
          <p:cNvPr id="7" name="Lane label Distribution centre"/>
          <p:cNvSpPr/>
          <p:nvPr/>
        </p:nvSpPr>
        <p:spPr>
          <a:xfrm>
            <a:off x="548640" y="2139696"/>
            <a:ext cx="1143000" cy="676656"/>
          </a:xfrm>
          <a:prstGeom prst="rect">
            <a:avLst/>
          </a:prstGeom>
          <a:solidFill>
            <a:schemeClr val="tx2"/>
          </a:solidFill>
          <a:ln/>
        </p:spPr>
      </p:sp>
      <p:sp>
        <p:nvSpPr>
          <p:cNvPr id="8" name="Text 6"/>
          <p:cNvSpPr txBox="1"/>
          <p:nvPr/>
        </p:nvSpPr>
        <p:spPr>
          <a:xfrm>
            <a:off x="594360" y="2139696"/>
            <a:ext cx="1051560" cy="676656"/>
          </a:xfrm>
          <a:prstGeom prst="rect">
            <a:avLst/>
          </a:prstGeom>
          <a:noFill/>
          <a:ln/>
        </p:spPr>
        <p:txBody>
          <a:bodyPr wrap="square" lIns="0" tIns="0" rIns="0" bIns="0" rtlCol="0" anchor="ctr"/>
          <a:lstStyle/>
          <a:p>
            <a:pPr algn="ctr" indent="0" marL="0">
              <a:buNone/>
            </a:pPr>
            <a:r>
              <a:rPr lang="en-US" sz="1100" b="1" dirty="0">
                <a:solidFill>
                  <a:schemeClr val="bg1"/>
                </a:solidFill>
              </a:rPr>
              <a:t>Distribution centre</a:t>
            </a:r>
            <a:endParaRPr lang="en-US" sz="1100" dirty="0"/>
          </a:p>
        </p:txBody>
      </p:sp>
      <p:sp>
        <p:nvSpPr>
          <p:cNvPr id="9" name="Lane Supplier"/>
          <p:cNvSpPr/>
          <p:nvPr/>
        </p:nvSpPr>
        <p:spPr>
          <a:xfrm>
            <a:off x="548640" y="2816352"/>
            <a:ext cx="11091672" cy="676656"/>
          </a:xfrm>
          <a:prstGeom prst="rect">
            <a:avLst/>
          </a:prstGeom>
          <a:solidFill>
            <a:schemeClr val="bg2"/>
          </a:solidFill>
          <a:ln w="12700">
            <a:solidFill>
              <a:srgbClr val="D9D4CC"/>
            </a:solidFill>
            <a:prstDash val="solid"/>
          </a:ln>
        </p:spPr>
      </p:sp>
      <p:sp>
        <p:nvSpPr>
          <p:cNvPr id="10" name="Lane label Supplier"/>
          <p:cNvSpPr/>
          <p:nvPr/>
        </p:nvSpPr>
        <p:spPr>
          <a:xfrm>
            <a:off x="548640" y="2816352"/>
            <a:ext cx="1143000" cy="676656"/>
          </a:xfrm>
          <a:prstGeom prst="rect">
            <a:avLst/>
          </a:prstGeom>
          <a:solidFill>
            <a:schemeClr val="tx2"/>
          </a:solidFill>
          <a:ln/>
        </p:spPr>
      </p:sp>
      <p:sp>
        <p:nvSpPr>
          <p:cNvPr id="11" name="Text 9"/>
          <p:cNvSpPr txBox="1"/>
          <p:nvPr/>
        </p:nvSpPr>
        <p:spPr>
          <a:xfrm>
            <a:off x="594360" y="2816352"/>
            <a:ext cx="1051560" cy="676656"/>
          </a:xfrm>
          <a:prstGeom prst="rect">
            <a:avLst/>
          </a:prstGeom>
          <a:noFill/>
          <a:ln/>
        </p:spPr>
        <p:txBody>
          <a:bodyPr wrap="square" lIns="0" tIns="0" rIns="0" bIns="0" rtlCol="0" anchor="ctr"/>
          <a:lstStyle/>
          <a:p>
            <a:pPr algn="ctr" indent="0" marL="0">
              <a:buNone/>
            </a:pPr>
            <a:r>
              <a:rPr lang="en-US" sz="1100" b="1" dirty="0">
                <a:solidFill>
                  <a:schemeClr val="bg1"/>
                </a:solidFill>
              </a:rPr>
              <a:t>Supplier</a:t>
            </a:r>
            <a:endParaRPr lang="en-US" sz="1100" dirty="0"/>
          </a:p>
        </p:txBody>
      </p:sp>
      <p:sp>
        <p:nvSpPr>
          <p:cNvPr id="12" name="Lane System"/>
          <p:cNvSpPr/>
          <p:nvPr/>
        </p:nvSpPr>
        <p:spPr>
          <a:xfrm>
            <a:off x="548640" y="3493008"/>
            <a:ext cx="11091672" cy="676656"/>
          </a:xfrm>
          <a:prstGeom prst="rect">
            <a:avLst/>
          </a:prstGeom>
          <a:solidFill>
            <a:schemeClr val="bg1"/>
          </a:solidFill>
          <a:ln w="12700">
            <a:solidFill>
              <a:srgbClr val="D9D4CC"/>
            </a:solidFill>
            <a:prstDash val="solid"/>
          </a:ln>
        </p:spPr>
      </p:sp>
      <p:sp>
        <p:nvSpPr>
          <p:cNvPr id="13" name="Lane label System"/>
          <p:cNvSpPr/>
          <p:nvPr/>
        </p:nvSpPr>
        <p:spPr>
          <a:xfrm>
            <a:off x="548640" y="3493008"/>
            <a:ext cx="1143000" cy="676656"/>
          </a:xfrm>
          <a:prstGeom prst="rect">
            <a:avLst/>
          </a:prstGeom>
          <a:solidFill>
            <a:schemeClr val="tx2"/>
          </a:solidFill>
          <a:ln/>
        </p:spPr>
      </p:sp>
      <p:sp>
        <p:nvSpPr>
          <p:cNvPr id="14" name="Text 12"/>
          <p:cNvSpPr txBox="1"/>
          <p:nvPr/>
        </p:nvSpPr>
        <p:spPr>
          <a:xfrm>
            <a:off x="594360" y="3493008"/>
            <a:ext cx="1051560" cy="676656"/>
          </a:xfrm>
          <a:prstGeom prst="rect">
            <a:avLst/>
          </a:prstGeom>
          <a:noFill/>
          <a:ln/>
        </p:spPr>
        <p:txBody>
          <a:bodyPr wrap="square" lIns="0" tIns="0" rIns="0" bIns="0" rtlCol="0" anchor="ctr"/>
          <a:lstStyle/>
          <a:p>
            <a:pPr algn="ctr" indent="0" marL="0">
              <a:buNone/>
            </a:pPr>
            <a:r>
              <a:rPr lang="en-US" sz="1100" b="1" dirty="0">
                <a:solidFill>
                  <a:schemeClr val="bg1"/>
                </a:solidFill>
              </a:rPr>
              <a:t>System</a:t>
            </a:r>
            <a:endParaRPr lang="en-US" sz="1100" dirty="0"/>
          </a:p>
        </p:txBody>
      </p:sp>
      <p:sp>
        <p:nvSpPr>
          <p:cNvPr id="15" name="Lane Buying team"/>
          <p:cNvSpPr/>
          <p:nvPr/>
        </p:nvSpPr>
        <p:spPr>
          <a:xfrm>
            <a:off x="548640" y="4169664"/>
            <a:ext cx="11091672" cy="676656"/>
          </a:xfrm>
          <a:prstGeom prst="rect">
            <a:avLst/>
          </a:prstGeom>
          <a:solidFill>
            <a:schemeClr val="bg2"/>
          </a:solidFill>
          <a:ln w="12700">
            <a:solidFill>
              <a:srgbClr val="D9D4CC"/>
            </a:solidFill>
            <a:prstDash val="solid"/>
          </a:ln>
        </p:spPr>
      </p:sp>
      <p:sp>
        <p:nvSpPr>
          <p:cNvPr id="16" name="Lane label Buying team"/>
          <p:cNvSpPr/>
          <p:nvPr/>
        </p:nvSpPr>
        <p:spPr>
          <a:xfrm>
            <a:off x="548640" y="4169664"/>
            <a:ext cx="1143000" cy="676656"/>
          </a:xfrm>
          <a:prstGeom prst="rect">
            <a:avLst/>
          </a:prstGeom>
          <a:solidFill>
            <a:schemeClr val="tx2"/>
          </a:solidFill>
          <a:ln/>
        </p:spPr>
      </p:sp>
      <p:sp>
        <p:nvSpPr>
          <p:cNvPr id="17" name="Text 15"/>
          <p:cNvSpPr txBox="1"/>
          <p:nvPr/>
        </p:nvSpPr>
        <p:spPr>
          <a:xfrm>
            <a:off x="594360" y="4169664"/>
            <a:ext cx="1051560" cy="676656"/>
          </a:xfrm>
          <a:prstGeom prst="rect">
            <a:avLst/>
          </a:prstGeom>
          <a:noFill/>
          <a:ln/>
        </p:spPr>
        <p:txBody>
          <a:bodyPr wrap="square" lIns="0" tIns="0" rIns="0" bIns="0" rtlCol="0" anchor="ctr"/>
          <a:lstStyle/>
          <a:p>
            <a:pPr algn="ctr" indent="0" marL="0">
              <a:buNone/>
            </a:pPr>
            <a:r>
              <a:rPr lang="en-US" sz="1100" b="1" dirty="0">
                <a:solidFill>
                  <a:schemeClr val="bg1"/>
                </a:solidFill>
              </a:rPr>
              <a:t>Buying team</a:t>
            </a:r>
            <a:endParaRPr lang="en-US" sz="1100" dirty="0"/>
          </a:p>
        </p:txBody>
      </p:sp>
      <p:sp>
        <p:nvSpPr>
          <p:cNvPr id="18" name="Lane Shop floor"/>
          <p:cNvSpPr/>
          <p:nvPr/>
        </p:nvSpPr>
        <p:spPr>
          <a:xfrm>
            <a:off x="548640" y="4846320"/>
            <a:ext cx="11091672" cy="676656"/>
          </a:xfrm>
          <a:prstGeom prst="rect">
            <a:avLst/>
          </a:prstGeom>
          <a:solidFill>
            <a:schemeClr val="bg1"/>
          </a:solidFill>
          <a:ln w="12700">
            <a:solidFill>
              <a:srgbClr val="D9D4CC"/>
            </a:solidFill>
            <a:prstDash val="solid"/>
          </a:ln>
        </p:spPr>
      </p:sp>
      <p:sp>
        <p:nvSpPr>
          <p:cNvPr id="19" name="Lane label Shop floor"/>
          <p:cNvSpPr/>
          <p:nvPr/>
        </p:nvSpPr>
        <p:spPr>
          <a:xfrm>
            <a:off x="548640" y="4846320"/>
            <a:ext cx="1143000" cy="676656"/>
          </a:xfrm>
          <a:prstGeom prst="rect">
            <a:avLst/>
          </a:prstGeom>
          <a:solidFill>
            <a:schemeClr val="tx2"/>
          </a:solidFill>
          <a:ln/>
        </p:spPr>
      </p:sp>
      <p:sp>
        <p:nvSpPr>
          <p:cNvPr id="20" name="Text 18"/>
          <p:cNvSpPr txBox="1"/>
          <p:nvPr/>
        </p:nvSpPr>
        <p:spPr>
          <a:xfrm>
            <a:off x="594360" y="4846320"/>
            <a:ext cx="1051560" cy="676656"/>
          </a:xfrm>
          <a:prstGeom prst="rect">
            <a:avLst/>
          </a:prstGeom>
          <a:noFill/>
          <a:ln/>
        </p:spPr>
        <p:txBody>
          <a:bodyPr wrap="square" lIns="0" tIns="0" rIns="0" bIns="0" rtlCol="0" anchor="ctr"/>
          <a:lstStyle/>
          <a:p>
            <a:pPr algn="ctr" indent="0" marL="0">
              <a:buNone/>
            </a:pPr>
            <a:r>
              <a:rPr lang="en-US" sz="1100" b="1" dirty="0">
                <a:solidFill>
                  <a:schemeClr val="bg1"/>
                </a:solidFill>
              </a:rPr>
              <a:t>Shop floor</a:t>
            </a:r>
            <a:endParaRPr lang="en-US" sz="1100" dirty="0"/>
          </a:p>
        </p:txBody>
      </p:sp>
      <p:sp>
        <p:nvSpPr>
          <p:cNvPr id="21" name="Step Stock runs low"/>
          <p:cNvSpPr/>
          <p:nvPr/>
        </p:nvSpPr>
        <p:spPr>
          <a:xfrm>
            <a:off x="1828800" y="4928616"/>
            <a:ext cx="914400" cy="512064"/>
          </a:xfrm>
          <a:prstGeom prst="rect">
            <a:avLst/>
          </a:prstGeom>
          <a:solidFill>
            <a:schemeClr val="bg1"/>
          </a:solidFill>
          <a:ln w="12700">
            <a:solidFill>
              <a:srgbClr val="6E625E"/>
            </a:solidFill>
            <a:prstDash val="solid"/>
          </a:ln>
        </p:spPr>
      </p:sp>
      <p:sp>
        <p:nvSpPr>
          <p:cNvPr id="22" name="Text 20"/>
          <p:cNvSpPr txBox="1"/>
          <p:nvPr/>
        </p:nvSpPr>
        <p:spPr>
          <a:xfrm>
            <a:off x="1856232" y="4928616"/>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Stock runs low</a:t>
            </a:r>
            <a:endParaRPr lang="en-US" sz="1000" dirty="0"/>
          </a:p>
        </p:txBody>
      </p:sp>
      <p:sp>
        <p:nvSpPr>
          <p:cNvPr id="23" name="Decision"/>
          <p:cNvSpPr/>
          <p:nvPr/>
        </p:nvSpPr>
        <p:spPr>
          <a:xfrm>
            <a:off x="2807208" y="4215384"/>
            <a:ext cx="914400" cy="585216"/>
          </a:xfrm>
          <a:prstGeom prst="diamond">
            <a:avLst/>
          </a:prstGeom>
          <a:solidFill>
            <a:schemeClr val="bg1"/>
          </a:solidFill>
          <a:ln w="12700">
            <a:solidFill>
              <a:srgbClr val="6E625E"/>
            </a:solidFill>
            <a:prstDash val="solid"/>
          </a:ln>
        </p:spPr>
      </p:sp>
      <p:sp>
        <p:nvSpPr>
          <p:cNvPr id="24" name="Text 22"/>
          <p:cNvSpPr txBox="1"/>
          <p:nvPr/>
        </p:nvSpPr>
        <p:spPr>
          <a:xfrm>
            <a:off x="2834640" y="4251960"/>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A or B?</a:t>
            </a:r>
            <a:endParaRPr lang="en-US" sz="1000" dirty="0"/>
          </a:p>
        </p:txBody>
      </p:sp>
      <p:sp>
        <p:nvSpPr>
          <p:cNvPr id="25" name="Step Buyer requests stock (Type B)"/>
          <p:cNvSpPr/>
          <p:nvPr/>
        </p:nvSpPr>
        <p:spPr>
          <a:xfrm>
            <a:off x="3785616" y="4251960"/>
            <a:ext cx="914400" cy="512064"/>
          </a:xfrm>
          <a:prstGeom prst="rect">
            <a:avLst/>
          </a:prstGeom>
          <a:solidFill>
            <a:schemeClr val="bg1"/>
          </a:solidFill>
          <a:ln w="12700">
            <a:solidFill>
              <a:srgbClr val="6E625E"/>
            </a:solidFill>
            <a:prstDash val="solid"/>
          </a:ln>
        </p:spPr>
      </p:sp>
      <p:sp>
        <p:nvSpPr>
          <p:cNvPr id="26" name="Text 24"/>
          <p:cNvSpPr txBox="1"/>
          <p:nvPr/>
        </p:nvSpPr>
        <p:spPr>
          <a:xfrm>
            <a:off x="3813048" y="4251960"/>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Buyer requests stock (Type B)</a:t>
            </a:r>
            <a:endParaRPr lang="en-US" sz="1000" dirty="0"/>
          </a:p>
        </p:txBody>
      </p:sp>
      <p:sp>
        <p:nvSpPr>
          <p:cNvPr id="27" name="Step Buyer updates system"/>
          <p:cNvSpPr/>
          <p:nvPr/>
        </p:nvSpPr>
        <p:spPr>
          <a:xfrm>
            <a:off x="4764024" y="4251960"/>
            <a:ext cx="914400" cy="512064"/>
          </a:xfrm>
          <a:prstGeom prst="rect">
            <a:avLst/>
          </a:prstGeom>
          <a:solidFill>
            <a:schemeClr val="bg1"/>
          </a:solidFill>
          <a:ln w="12700">
            <a:solidFill>
              <a:srgbClr val="6E625E"/>
            </a:solidFill>
            <a:prstDash val="solid"/>
          </a:ln>
        </p:spPr>
      </p:sp>
      <p:sp>
        <p:nvSpPr>
          <p:cNvPr id="28" name="Text 26"/>
          <p:cNvSpPr txBox="1"/>
          <p:nvPr/>
        </p:nvSpPr>
        <p:spPr>
          <a:xfrm>
            <a:off x="4791456" y="4251960"/>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Buyer updates system</a:t>
            </a:r>
            <a:endParaRPr lang="en-US" sz="1000" dirty="0"/>
          </a:p>
        </p:txBody>
      </p:sp>
      <p:sp>
        <p:nvSpPr>
          <p:cNvPr id="29" name="Step Flags low stock (Type A)"/>
          <p:cNvSpPr/>
          <p:nvPr/>
        </p:nvSpPr>
        <p:spPr>
          <a:xfrm>
            <a:off x="3785616" y="3575304"/>
            <a:ext cx="914400" cy="512064"/>
          </a:xfrm>
          <a:prstGeom prst="rect">
            <a:avLst/>
          </a:prstGeom>
          <a:solidFill>
            <a:schemeClr val="bg1"/>
          </a:solidFill>
          <a:ln w="12700">
            <a:solidFill>
              <a:srgbClr val="6E625E"/>
            </a:solidFill>
            <a:prstDash val="solid"/>
          </a:ln>
        </p:spPr>
      </p:sp>
      <p:sp>
        <p:nvSpPr>
          <p:cNvPr id="30" name="Text 28"/>
          <p:cNvSpPr txBox="1"/>
          <p:nvPr/>
        </p:nvSpPr>
        <p:spPr>
          <a:xfrm>
            <a:off x="3813048" y="3575304"/>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Flags low stock (Type A)</a:t>
            </a:r>
            <a:endParaRPr lang="en-US" sz="1000" dirty="0"/>
          </a:p>
        </p:txBody>
      </p:sp>
      <p:sp>
        <p:nvSpPr>
          <p:cNvPr id="31" name="Step Auto-orders from supplier"/>
          <p:cNvSpPr/>
          <p:nvPr/>
        </p:nvSpPr>
        <p:spPr>
          <a:xfrm>
            <a:off x="4764024" y="3575304"/>
            <a:ext cx="914400" cy="512064"/>
          </a:xfrm>
          <a:prstGeom prst="rect">
            <a:avLst/>
          </a:prstGeom>
          <a:solidFill>
            <a:schemeClr val="bg1"/>
          </a:solidFill>
          <a:ln w="12700">
            <a:solidFill>
              <a:srgbClr val="6E625E"/>
            </a:solidFill>
            <a:prstDash val="solid"/>
          </a:ln>
        </p:spPr>
      </p:sp>
      <p:sp>
        <p:nvSpPr>
          <p:cNvPr id="32" name="Text 30"/>
          <p:cNvSpPr txBox="1"/>
          <p:nvPr/>
        </p:nvSpPr>
        <p:spPr>
          <a:xfrm>
            <a:off x="4791456" y="3575304"/>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Auto-orders from supplier</a:t>
            </a:r>
            <a:endParaRPr lang="en-US" sz="1000" dirty="0"/>
          </a:p>
        </p:txBody>
      </p:sp>
      <p:sp>
        <p:nvSpPr>
          <p:cNvPr id="33" name="Step Processes order"/>
          <p:cNvSpPr/>
          <p:nvPr/>
        </p:nvSpPr>
        <p:spPr>
          <a:xfrm>
            <a:off x="5742432" y="2898648"/>
            <a:ext cx="914400" cy="512064"/>
          </a:xfrm>
          <a:prstGeom prst="rect">
            <a:avLst/>
          </a:prstGeom>
          <a:solidFill>
            <a:schemeClr val="bg1"/>
          </a:solidFill>
          <a:ln w="12700">
            <a:solidFill>
              <a:srgbClr val="6E625E"/>
            </a:solidFill>
            <a:prstDash val="solid"/>
          </a:ln>
        </p:spPr>
      </p:sp>
      <p:sp>
        <p:nvSpPr>
          <p:cNvPr id="34" name="Text 32"/>
          <p:cNvSpPr txBox="1"/>
          <p:nvPr/>
        </p:nvSpPr>
        <p:spPr>
          <a:xfrm>
            <a:off x="5769864" y="2898648"/>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Processes order</a:t>
            </a:r>
            <a:endParaRPr lang="en-US" sz="1000" dirty="0"/>
          </a:p>
        </p:txBody>
      </p:sp>
      <p:sp>
        <p:nvSpPr>
          <p:cNvPr id="35" name="Step Confirms to V&amp;S"/>
          <p:cNvSpPr/>
          <p:nvPr/>
        </p:nvSpPr>
        <p:spPr>
          <a:xfrm>
            <a:off x="6720840" y="2898648"/>
            <a:ext cx="914400" cy="512064"/>
          </a:xfrm>
          <a:prstGeom prst="rect">
            <a:avLst/>
          </a:prstGeom>
          <a:solidFill>
            <a:schemeClr val="bg1"/>
          </a:solidFill>
          <a:ln w="12700">
            <a:solidFill>
              <a:srgbClr val="6E625E"/>
            </a:solidFill>
            <a:prstDash val="solid"/>
          </a:ln>
        </p:spPr>
      </p:sp>
      <p:sp>
        <p:nvSpPr>
          <p:cNvPr id="36" name="Text 34"/>
          <p:cNvSpPr txBox="1"/>
          <p:nvPr/>
        </p:nvSpPr>
        <p:spPr>
          <a:xfrm>
            <a:off x="6748272" y="2898648"/>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Confirms to V&amp;S</a:t>
            </a:r>
            <a:endParaRPr lang="en-US" sz="1000" dirty="0"/>
          </a:p>
        </p:txBody>
      </p:sp>
      <p:sp>
        <p:nvSpPr>
          <p:cNvPr id="37" name="Step Despatches order"/>
          <p:cNvSpPr/>
          <p:nvPr/>
        </p:nvSpPr>
        <p:spPr>
          <a:xfrm>
            <a:off x="7699248" y="2898648"/>
            <a:ext cx="914400" cy="512064"/>
          </a:xfrm>
          <a:prstGeom prst="rect">
            <a:avLst/>
          </a:prstGeom>
          <a:solidFill>
            <a:schemeClr val="bg1"/>
          </a:solidFill>
          <a:ln w="12700">
            <a:solidFill>
              <a:srgbClr val="6E625E"/>
            </a:solidFill>
            <a:prstDash val="solid"/>
          </a:ln>
        </p:spPr>
      </p:sp>
      <p:sp>
        <p:nvSpPr>
          <p:cNvPr id="38" name="Text 36"/>
          <p:cNvSpPr txBox="1"/>
          <p:nvPr/>
        </p:nvSpPr>
        <p:spPr>
          <a:xfrm>
            <a:off x="7726680" y="2898648"/>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Despatches order</a:t>
            </a:r>
            <a:endParaRPr lang="en-US" sz="1000" dirty="0"/>
          </a:p>
        </p:txBody>
      </p:sp>
      <p:sp>
        <p:nvSpPr>
          <p:cNvPr id="39" name="Step Processes orders"/>
          <p:cNvSpPr/>
          <p:nvPr/>
        </p:nvSpPr>
        <p:spPr>
          <a:xfrm>
            <a:off x="7699248" y="2221992"/>
            <a:ext cx="914400" cy="512064"/>
          </a:xfrm>
          <a:prstGeom prst="rect">
            <a:avLst/>
          </a:prstGeom>
          <a:solidFill>
            <a:schemeClr val="bg1"/>
          </a:solidFill>
          <a:ln w="12700">
            <a:solidFill>
              <a:srgbClr val="6E625E"/>
            </a:solidFill>
            <a:prstDash val="solid"/>
          </a:ln>
        </p:spPr>
      </p:sp>
      <p:sp>
        <p:nvSpPr>
          <p:cNvPr id="40" name="Text 38"/>
          <p:cNvSpPr txBox="1"/>
          <p:nvPr/>
        </p:nvSpPr>
        <p:spPr>
          <a:xfrm>
            <a:off x="7726680" y="2221992"/>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Processes orders</a:t>
            </a:r>
            <a:endParaRPr lang="en-US" sz="1000" dirty="0"/>
          </a:p>
        </p:txBody>
      </p:sp>
      <p:sp>
        <p:nvSpPr>
          <p:cNvPr id="41" name="Step Records delivery"/>
          <p:cNvSpPr/>
          <p:nvPr/>
        </p:nvSpPr>
        <p:spPr>
          <a:xfrm>
            <a:off x="8677656" y="2221992"/>
            <a:ext cx="914400" cy="512064"/>
          </a:xfrm>
          <a:prstGeom prst="rect">
            <a:avLst/>
          </a:prstGeom>
          <a:solidFill>
            <a:schemeClr val="bg1"/>
          </a:solidFill>
          <a:ln w="12700">
            <a:solidFill>
              <a:srgbClr val="6E625E"/>
            </a:solidFill>
            <a:prstDash val="solid"/>
          </a:ln>
        </p:spPr>
      </p:sp>
      <p:sp>
        <p:nvSpPr>
          <p:cNvPr id="42" name="Text 40"/>
          <p:cNvSpPr txBox="1"/>
          <p:nvPr/>
        </p:nvSpPr>
        <p:spPr>
          <a:xfrm>
            <a:off x="8705088" y="2221992"/>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Records delivery</a:t>
            </a:r>
            <a:endParaRPr lang="en-US" sz="1000" dirty="0"/>
          </a:p>
        </p:txBody>
      </p:sp>
      <p:sp>
        <p:nvSpPr>
          <p:cNvPr id="43" name="Step Despatches to stores"/>
          <p:cNvSpPr/>
          <p:nvPr/>
        </p:nvSpPr>
        <p:spPr>
          <a:xfrm>
            <a:off x="9656064" y="2221992"/>
            <a:ext cx="914400" cy="512064"/>
          </a:xfrm>
          <a:prstGeom prst="rect">
            <a:avLst/>
          </a:prstGeom>
          <a:solidFill>
            <a:schemeClr val="bg1"/>
          </a:solidFill>
          <a:ln w="12700">
            <a:solidFill>
              <a:srgbClr val="6E625E"/>
            </a:solidFill>
            <a:prstDash val="solid"/>
          </a:ln>
        </p:spPr>
      </p:sp>
      <p:sp>
        <p:nvSpPr>
          <p:cNvPr id="44" name="Text 42"/>
          <p:cNvSpPr txBox="1"/>
          <p:nvPr/>
        </p:nvSpPr>
        <p:spPr>
          <a:xfrm>
            <a:off x="9683496" y="2221992"/>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Despatches to stores</a:t>
            </a:r>
            <a:endParaRPr lang="en-US" sz="1000" dirty="0"/>
          </a:p>
        </p:txBody>
      </p:sp>
      <p:sp>
        <p:nvSpPr>
          <p:cNvPr id="45" name="Step Records delivery"/>
          <p:cNvSpPr/>
          <p:nvPr/>
        </p:nvSpPr>
        <p:spPr>
          <a:xfrm>
            <a:off x="9656064" y="1545336"/>
            <a:ext cx="914400" cy="512064"/>
          </a:xfrm>
          <a:prstGeom prst="rect">
            <a:avLst/>
          </a:prstGeom>
          <a:solidFill>
            <a:schemeClr val="bg1"/>
          </a:solidFill>
          <a:ln w="12700">
            <a:solidFill>
              <a:srgbClr val="6E625E"/>
            </a:solidFill>
            <a:prstDash val="solid"/>
          </a:ln>
        </p:spPr>
      </p:sp>
      <p:sp>
        <p:nvSpPr>
          <p:cNvPr id="46" name="Text 44"/>
          <p:cNvSpPr txBox="1"/>
          <p:nvPr/>
        </p:nvSpPr>
        <p:spPr>
          <a:xfrm>
            <a:off x="9683496" y="1545336"/>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Records delivery</a:t>
            </a:r>
            <a:endParaRPr lang="en-US" sz="1000" dirty="0"/>
          </a:p>
        </p:txBody>
      </p:sp>
      <p:sp>
        <p:nvSpPr>
          <p:cNvPr id="47" name="Step Delivers to shop floor"/>
          <p:cNvSpPr/>
          <p:nvPr/>
        </p:nvSpPr>
        <p:spPr>
          <a:xfrm>
            <a:off x="10634472" y="1545336"/>
            <a:ext cx="914400" cy="512064"/>
          </a:xfrm>
          <a:prstGeom prst="rect">
            <a:avLst/>
          </a:prstGeom>
          <a:solidFill>
            <a:schemeClr val="bg1"/>
          </a:solidFill>
          <a:ln w="12700">
            <a:solidFill>
              <a:srgbClr val="6E625E"/>
            </a:solidFill>
            <a:prstDash val="solid"/>
          </a:ln>
        </p:spPr>
      </p:sp>
      <p:sp>
        <p:nvSpPr>
          <p:cNvPr id="48" name="Text 46"/>
          <p:cNvSpPr txBox="1"/>
          <p:nvPr/>
        </p:nvSpPr>
        <p:spPr>
          <a:xfrm>
            <a:off x="10661904" y="1545336"/>
            <a:ext cx="859536" cy="512064"/>
          </a:xfrm>
          <a:prstGeom prst="rect">
            <a:avLst/>
          </a:prstGeom>
          <a:noFill/>
          <a:ln/>
        </p:spPr>
        <p:txBody>
          <a:bodyPr wrap="square" lIns="0" tIns="0" rIns="0" bIns="0" rtlCol="0" anchor="ctr"/>
          <a:lstStyle/>
          <a:p>
            <a:pPr algn="ctr" indent="0" marL="0">
              <a:buNone/>
            </a:pPr>
            <a:r>
              <a:rPr lang="en-US" sz="1000" dirty="0">
                <a:solidFill>
                  <a:schemeClr val="tx1"/>
                </a:solidFill>
              </a:rPr>
              <a:t>Delivers to shop floor</a:t>
            </a:r>
            <a:endParaRPr lang="en-US" sz="1000" dirty="0"/>
          </a:p>
        </p:txBody>
      </p:sp>
      <p:sp>
        <p:nvSpPr>
          <p:cNvPr id="49" name="Shape 47"/>
          <p:cNvSpPr/>
          <p:nvPr/>
        </p:nvSpPr>
        <p:spPr>
          <a:xfrm>
            <a:off x="2743200" y="5184648"/>
            <a:ext cx="521208" cy="0"/>
          </a:xfrm>
          <a:prstGeom prst="line">
            <a:avLst/>
          </a:prstGeom>
          <a:noFill/>
          <a:ln w="15875">
            <a:solidFill>
              <a:srgbClr val="6E625E"/>
            </a:solidFill>
            <a:prstDash val="solid"/>
          </a:ln>
        </p:spPr>
      </p:sp>
      <p:sp>
        <p:nvSpPr>
          <p:cNvPr id="50" name="Shape 48"/>
          <p:cNvSpPr/>
          <p:nvPr/>
        </p:nvSpPr>
        <p:spPr>
          <a:xfrm flipV="1">
            <a:off x="3264408" y="4800600"/>
            <a:ext cx="0" cy="384048"/>
          </a:xfrm>
          <a:prstGeom prst="line">
            <a:avLst/>
          </a:prstGeom>
          <a:noFill/>
          <a:ln w="15875">
            <a:solidFill>
              <a:srgbClr val="6E625E"/>
            </a:solidFill>
            <a:prstDash val="solid"/>
            <a:tailEnd type="triangle"/>
          </a:ln>
        </p:spPr>
      </p:sp>
      <p:sp>
        <p:nvSpPr>
          <p:cNvPr id="51" name="Shape 49"/>
          <p:cNvSpPr/>
          <p:nvPr/>
        </p:nvSpPr>
        <p:spPr>
          <a:xfrm>
            <a:off x="3721608" y="4507992"/>
            <a:ext cx="64008" cy="0"/>
          </a:xfrm>
          <a:prstGeom prst="line">
            <a:avLst/>
          </a:prstGeom>
          <a:noFill/>
          <a:ln w="15875">
            <a:solidFill>
              <a:srgbClr val="6E625E"/>
            </a:solidFill>
            <a:prstDash val="solid"/>
            <a:tailEnd type="triangle"/>
          </a:ln>
        </p:spPr>
      </p:sp>
      <p:sp>
        <p:nvSpPr>
          <p:cNvPr id="52" name="Shape 50"/>
          <p:cNvSpPr/>
          <p:nvPr/>
        </p:nvSpPr>
        <p:spPr>
          <a:xfrm>
            <a:off x="4700016" y="4507992"/>
            <a:ext cx="64008" cy="0"/>
          </a:xfrm>
          <a:prstGeom prst="line">
            <a:avLst/>
          </a:prstGeom>
          <a:noFill/>
          <a:ln w="15875">
            <a:solidFill>
              <a:srgbClr val="6E625E"/>
            </a:solidFill>
            <a:prstDash val="solid"/>
            <a:tailEnd type="triangle"/>
          </a:ln>
        </p:spPr>
      </p:sp>
      <p:sp>
        <p:nvSpPr>
          <p:cNvPr id="53" name="Shape 51"/>
          <p:cNvSpPr/>
          <p:nvPr/>
        </p:nvSpPr>
        <p:spPr>
          <a:xfrm flipV="1">
            <a:off x="3264408" y="3831336"/>
            <a:ext cx="0" cy="384048"/>
          </a:xfrm>
          <a:prstGeom prst="line">
            <a:avLst/>
          </a:prstGeom>
          <a:noFill/>
          <a:ln w="15875">
            <a:solidFill>
              <a:srgbClr val="6E625E"/>
            </a:solidFill>
            <a:prstDash val="solid"/>
          </a:ln>
        </p:spPr>
      </p:sp>
      <p:sp>
        <p:nvSpPr>
          <p:cNvPr id="54" name="Shape 52"/>
          <p:cNvSpPr/>
          <p:nvPr/>
        </p:nvSpPr>
        <p:spPr>
          <a:xfrm>
            <a:off x="3264408" y="3831336"/>
            <a:ext cx="521208" cy="0"/>
          </a:xfrm>
          <a:prstGeom prst="line">
            <a:avLst/>
          </a:prstGeom>
          <a:noFill/>
          <a:ln w="15875">
            <a:solidFill>
              <a:srgbClr val="6E625E"/>
            </a:solidFill>
            <a:prstDash val="solid"/>
            <a:tailEnd type="triangle"/>
          </a:ln>
        </p:spPr>
      </p:sp>
      <p:sp>
        <p:nvSpPr>
          <p:cNvPr id="55" name="Shape 53"/>
          <p:cNvSpPr/>
          <p:nvPr/>
        </p:nvSpPr>
        <p:spPr>
          <a:xfrm>
            <a:off x="4700016" y="3831336"/>
            <a:ext cx="64008" cy="0"/>
          </a:xfrm>
          <a:prstGeom prst="line">
            <a:avLst/>
          </a:prstGeom>
          <a:noFill/>
          <a:ln w="15875">
            <a:solidFill>
              <a:srgbClr val="6E625E"/>
            </a:solidFill>
            <a:prstDash val="solid"/>
            <a:tailEnd type="triangle"/>
          </a:ln>
        </p:spPr>
      </p:sp>
      <p:sp>
        <p:nvSpPr>
          <p:cNvPr id="56" name="Shape 54"/>
          <p:cNvSpPr/>
          <p:nvPr/>
        </p:nvSpPr>
        <p:spPr>
          <a:xfrm>
            <a:off x="5678424" y="3831336"/>
            <a:ext cx="521208" cy="0"/>
          </a:xfrm>
          <a:prstGeom prst="line">
            <a:avLst/>
          </a:prstGeom>
          <a:noFill/>
          <a:ln w="15875">
            <a:solidFill>
              <a:srgbClr val="6E625E"/>
            </a:solidFill>
            <a:prstDash val="solid"/>
          </a:ln>
        </p:spPr>
      </p:sp>
      <p:sp>
        <p:nvSpPr>
          <p:cNvPr id="57" name="Shape 55"/>
          <p:cNvSpPr/>
          <p:nvPr/>
        </p:nvSpPr>
        <p:spPr>
          <a:xfrm flipV="1">
            <a:off x="6199632" y="3410712"/>
            <a:ext cx="0" cy="420624"/>
          </a:xfrm>
          <a:prstGeom prst="line">
            <a:avLst/>
          </a:prstGeom>
          <a:noFill/>
          <a:ln w="15875">
            <a:solidFill>
              <a:srgbClr val="6E625E"/>
            </a:solidFill>
            <a:prstDash val="solid"/>
            <a:tailEnd type="triangle"/>
          </a:ln>
        </p:spPr>
      </p:sp>
      <p:sp>
        <p:nvSpPr>
          <p:cNvPr id="58" name="Shape 56"/>
          <p:cNvSpPr/>
          <p:nvPr/>
        </p:nvSpPr>
        <p:spPr>
          <a:xfrm>
            <a:off x="6656832" y="3154680"/>
            <a:ext cx="64008" cy="0"/>
          </a:xfrm>
          <a:prstGeom prst="line">
            <a:avLst/>
          </a:prstGeom>
          <a:noFill/>
          <a:ln w="15875">
            <a:solidFill>
              <a:srgbClr val="6E625E"/>
            </a:solidFill>
            <a:prstDash val="solid"/>
            <a:tailEnd type="triangle"/>
          </a:ln>
        </p:spPr>
      </p:sp>
      <p:sp>
        <p:nvSpPr>
          <p:cNvPr id="59" name="Shape 57"/>
          <p:cNvSpPr/>
          <p:nvPr/>
        </p:nvSpPr>
        <p:spPr>
          <a:xfrm>
            <a:off x="7635240" y="3154680"/>
            <a:ext cx="64008" cy="0"/>
          </a:xfrm>
          <a:prstGeom prst="line">
            <a:avLst/>
          </a:prstGeom>
          <a:noFill/>
          <a:ln w="15875">
            <a:solidFill>
              <a:srgbClr val="6E625E"/>
            </a:solidFill>
            <a:prstDash val="solid"/>
            <a:tailEnd type="triangle"/>
          </a:ln>
        </p:spPr>
      </p:sp>
      <p:sp>
        <p:nvSpPr>
          <p:cNvPr id="60" name="Shape 58"/>
          <p:cNvSpPr/>
          <p:nvPr/>
        </p:nvSpPr>
        <p:spPr>
          <a:xfrm flipV="1">
            <a:off x="8156448" y="2734056"/>
            <a:ext cx="0" cy="164592"/>
          </a:xfrm>
          <a:prstGeom prst="line">
            <a:avLst/>
          </a:prstGeom>
          <a:noFill/>
          <a:ln w="15875">
            <a:solidFill>
              <a:srgbClr val="6E625E"/>
            </a:solidFill>
            <a:prstDash val="solid"/>
            <a:tailEnd type="triangle"/>
          </a:ln>
        </p:spPr>
      </p:sp>
      <p:sp>
        <p:nvSpPr>
          <p:cNvPr id="61" name="Shape 59"/>
          <p:cNvSpPr/>
          <p:nvPr/>
        </p:nvSpPr>
        <p:spPr>
          <a:xfrm>
            <a:off x="8613648" y="2478024"/>
            <a:ext cx="64008" cy="0"/>
          </a:xfrm>
          <a:prstGeom prst="line">
            <a:avLst/>
          </a:prstGeom>
          <a:noFill/>
          <a:ln w="15875">
            <a:solidFill>
              <a:srgbClr val="6E625E"/>
            </a:solidFill>
            <a:prstDash val="solid"/>
            <a:tailEnd type="triangle"/>
          </a:ln>
        </p:spPr>
      </p:sp>
      <p:sp>
        <p:nvSpPr>
          <p:cNvPr id="62" name="Shape 60"/>
          <p:cNvSpPr/>
          <p:nvPr/>
        </p:nvSpPr>
        <p:spPr>
          <a:xfrm>
            <a:off x="9592056" y="2478024"/>
            <a:ext cx="64008" cy="0"/>
          </a:xfrm>
          <a:prstGeom prst="line">
            <a:avLst/>
          </a:prstGeom>
          <a:noFill/>
          <a:ln w="15875">
            <a:solidFill>
              <a:srgbClr val="6E625E"/>
            </a:solidFill>
            <a:prstDash val="solid"/>
            <a:tailEnd type="triangle"/>
          </a:ln>
        </p:spPr>
      </p:sp>
      <p:sp>
        <p:nvSpPr>
          <p:cNvPr id="63" name="Shape 61"/>
          <p:cNvSpPr/>
          <p:nvPr/>
        </p:nvSpPr>
        <p:spPr>
          <a:xfrm flipV="1">
            <a:off x="10113264" y="2057400"/>
            <a:ext cx="0" cy="164592"/>
          </a:xfrm>
          <a:prstGeom prst="line">
            <a:avLst/>
          </a:prstGeom>
          <a:noFill/>
          <a:ln w="15875">
            <a:solidFill>
              <a:srgbClr val="6E625E"/>
            </a:solidFill>
            <a:prstDash val="solid"/>
            <a:tailEnd type="triangle"/>
          </a:ln>
        </p:spPr>
      </p:sp>
      <p:sp>
        <p:nvSpPr>
          <p:cNvPr id="64" name="Shape 62"/>
          <p:cNvSpPr/>
          <p:nvPr/>
        </p:nvSpPr>
        <p:spPr>
          <a:xfrm>
            <a:off x="10570464" y="1801368"/>
            <a:ext cx="64008" cy="0"/>
          </a:xfrm>
          <a:prstGeom prst="line">
            <a:avLst/>
          </a:prstGeom>
          <a:noFill/>
          <a:ln w="15875">
            <a:solidFill>
              <a:srgbClr val="6E625E"/>
            </a:solidFill>
            <a:prstDash val="solid"/>
            <a:tailEnd type="triangle"/>
          </a:ln>
        </p:spPr>
      </p:sp>
      <p:sp>
        <p:nvSpPr>
          <p:cNvPr id="65" name="Online bypass"/>
          <p:cNvSpPr/>
          <p:nvPr/>
        </p:nvSpPr>
        <p:spPr>
          <a:xfrm>
            <a:off x="1828800" y="1554480"/>
            <a:ext cx="6309360" cy="493776"/>
          </a:xfrm>
          <a:prstGeom prst="rect">
            <a:avLst/>
          </a:prstGeom>
          <a:solidFill>
            <a:schemeClr val="bg1"/>
          </a:solidFill>
          <a:ln w="15875">
            <a:solidFill>
              <a:srgbClr val="D52B1E"/>
            </a:solidFill>
            <a:prstDash val="dash"/>
          </a:ln>
        </p:spPr>
      </p:sp>
      <p:sp>
        <p:nvSpPr>
          <p:cNvPr id="66" name="Text 64"/>
          <p:cNvSpPr txBox="1"/>
          <p:nvPr/>
        </p:nvSpPr>
        <p:spPr>
          <a:xfrm>
            <a:off x="2240280" y="1554480"/>
            <a:ext cx="5852160" cy="493776"/>
          </a:xfrm>
          <a:prstGeom prst="rect">
            <a:avLst/>
          </a:prstGeom>
          <a:noFill/>
          <a:ln/>
        </p:spPr>
        <p:txBody>
          <a:bodyPr wrap="square" lIns="0" tIns="0" rIns="0" bIns="0" rtlCol="0" anchor="ctr"/>
          <a:lstStyle/>
          <a:p>
            <a:pPr indent="0" marL="0">
              <a:buNone/>
            </a:pPr>
            <a:r>
              <a:rPr lang="en-US" sz="1050" dirty="0">
                <a:solidFill>
                  <a:schemeClr val="tx1"/>
                </a:solidFill>
              </a:rPr>
              <a:t>Online orders skip this process: the online team orders from suppliers directly and online stock is not on the central stock system</a:t>
            </a:r>
            <a:endParaRPr lang="en-US" sz="1050" dirty="0"/>
          </a:p>
        </p:txBody>
      </p:sp>
      <p:sp>
        <p:nvSpPr>
          <p:cNvPr id="67" name="Shape 65"/>
          <p:cNvSpPr/>
          <p:nvPr/>
        </p:nvSpPr>
        <p:spPr>
          <a:xfrm>
            <a:off x="2560320" y="4800600"/>
            <a:ext cx="256032" cy="256032"/>
          </a:xfrm>
          <a:prstGeom prst="ellipse">
            <a:avLst/>
          </a:prstGeom>
          <a:solidFill>
            <a:schemeClr val="accent1"/>
          </a:solidFill>
          <a:ln w="12700">
            <a:solidFill>
              <a:srgbClr val="FFFFFF"/>
            </a:solidFill>
            <a:prstDash val="solid"/>
          </a:ln>
        </p:spPr>
      </p:sp>
      <p:sp>
        <p:nvSpPr>
          <p:cNvPr id="68" name="Text 66"/>
          <p:cNvSpPr txBox="1"/>
          <p:nvPr/>
        </p:nvSpPr>
        <p:spPr>
          <a:xfrm>
            <a:off x="2560320" y="4800600"/>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69" name="Shape 67"/>
          <p:cNvSpPr/>
          <p:nvPr/>
        </p:nvSpPr>
        <p:spPr>
          <a:xfrm>
            <a:off x="4517136" y="4123944"/>
            <a:ext cx="256032" cy="256032"/>
          </a:xfrm>
          <a:prstGeom prst="ellipse">
            <a:avLst/>
          </a:prstGeom>
          <a:solidFill>
            <a:schemeClr val="accent1"/>
          </a:solidFill>
          <a:ln w="12700">
            <a:solidFill>
              <a:srgbClr val="FFFFFF"/>
            </a:solidFill>
            <a:prstDash val="solid"/>
          </a:ln>
        </p:spPr>
      </p:sp>
      <p:sp>
        <p:nvSpPr>
          <p:cNvPr id="70" name="Text 68"/>
          <p:cNvSpPr txBox="1"/>
          <p:nvPr/>
        </p:nvSpPr>
        <p:spPr>
          <a:xfrm>
            <a:off x="4517136" y="4123944"/>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71" name="Shape 69"/>
          <p:cNvSpPr/>
          <p:nvPr/>
        </p:nvSpPr>
        <p:spPr>
          <a:xfrm>
            <a:off x="1874520" y="1463040"/>
            <a:ext cx="256032" cy="256032"/>
          </a:xfrm>
          <a:prstGeom prst="ellipse">
            <a:avLst/>
          </a:prstGeom>
          <a:solidFill>
            <a:schemeClr val="accent1"/>
          </a:solidFill>
          <a:ln w="12700">
            <a:solidFill>
              <a:srgbClr val="FFFFFF"/>
            </a:solidFill>
            <a:prstDash val="solid"/>
          </a:ln>
        </p:spPr>
      </p:sp>
      <p:sp>
        <p:nvSpPr>
          <p:cNvPr id="72" name="Text 70"/>
          <p:cNvSpPr txBox="1"/>
          <p:nvPr/>
        </p:nvSpPr>
        <p:spPr>
          <a:xfrm>
            <a:off x="1874520" y="1463040"/>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73" name="Shape 71"/>
          <p:cNvSpPr/>
          <p:nvPr/>
        </p:nvSpPr>
        <p:spPr>
          <a:xfrm>
            <a:off x="4517136" y="3447288"/>
            <a:ext cx="256032" cy="256032"/>
          </a:xfrm>
          <a:prstGeom prst="ellipse">
            <a:avLst/>
          </a:prstGeom>
          <a:solidFill>
            <a:schemeClr val="accent1"/>
          </a:solidFill>
          <a:ln w="12700">
            <a:solidFill>
              <a:srgbClr val="FFFFFF"/>
            </a:solidFill>
            <a:prstDash val="solid"/>
          </a:ln>
        </p:spPr>
      </p:sp>
      <p:sp>
        <p:nvSpPr>
          <p:cNvPr id="74" name="Text 72"/>
          <p:cNvSpPr txBox="1"/>
          <p:nvPr/>
        </p:nvSpPr>
        <p:spPr>
          <a:xfrm>
            <a:off x="4517136" y="3447288"/>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75" name="Shape 73"/>
          <p:cNvSpPr/>
          <p:nvPr/>
        </p:nvSpPr>
        <p:spPr>
          <a:xfrm>
            <a:off x="548640" y="5596128"/>
            <a:ext cx="256032" cy="256032"/>
          </a:xfrm>
          <a:prstGeom prst="ellipse">
            <a:avLst/>
          </a:prstGeom>
          <a:solidFill>
            <a:schemeClr val="accent1"/>
          </a:solidFill>
          <a:ln w="12700">
            <a:solidFill>
              <a:srgbClr val="FFFFFF"/>
            </a:solidFill>
            <a:prstDash val="solid"/>
          </a:ln>
        </p:spPr>
      </p:sp>
      <p:sp>
        <p:nvSpPr>
          <p:cNvPr id="76" name="Text 74"/>
          <p:cNvSpPr txBox="1"/>
          <p:nvPr/>
        </p:nvSpPr>
        <p:spPr>
          <a:xfrm>
            <a:off x="548640" y="5596128"/>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77" name="Text 75"/>
          <p:cNvSpPr txBox="1"/>
          <p:nvPr/>
        </p:nvSpPr>
        <p:spPr>
          <a:xfrm>
            <a:off x="896112" y="5532120"/>
            <a:ext cx="2377440" cy="731520"/>
          </a:xfrm>
          <a:prstGeom prst="rect">
            <a:avLst/>
          </a:prstGeom>
          <a:noFill/>
          <a:ln/>
        </p:spPr>
        <p:txBody>
          <a:bodyPr wrap="square" lIns="0" tIns="0" rIns="0" bIns="0" rtlCol="0" anchor="t"/>
          <a:lstStyle/>
          <a:p>
            <a:pPr indent="0" marL="0">
              <a:buNone/>
            </a:pPr>
            <a:r>
              <a:rPr lang="en-US" sz="1100" dirty="0">
                <a:solidFill>
                  <a:schemeClr val="tx1"/>
                </a:solidFill>
              </a:rPr>
              <a:t>Replenishment starts only when the shop floor runs low</a:t>
            </a:r>
            <a:endParaRPr lang="en-US" sz="1100" dirty="0"/>
          </a:p>
        </p:txBody>
      </p:sp>
      <p:sp>
        <p:nvSpPr>
          <p:cNvPr id="78" name="Shape 76"/>
          <p:cNvSpPr/>
          <p:nvPr/>
        </p:nvSpPr>
        <p:spPr>
          <a:xfrm>
            <a:off x="3337560" y="5596128"/>
            <a:ext cx="256032" cy="256032"/>
          </a:xfrm>
          <a:prstGeom prst="ellipse">
            <a:avLst/>
          </a:prstGeom>
          <a:solidFill>
            <a:schemeClr val="accent1"/>
          </a:solidFill>
          <a:ln w="12700">
            <a:solidFill>
              <a:srgbClr val="FFFFFF"/>
            </a:solidFill>
            <a:prstDash val="solid"/>
          </a:ln>
        </p:spPr>
      </p:sp>
      <p:sp>
        <p:nvSpPr>
          <p:cNvPr id="79" name="Text 77"/>
          <p:cNvSpPr txBox="1"/>
          <p:nvPr/>
        </p:nvSpPr>
        <p:spPr>
          <a:xfrm>
            <a:off x="3337560" y="5596128"/>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80" name="Text 78"/>
          <p:cNvSpPr txBox="1"/>
          <p:nvPr/>
        </p:nvSpPr>
        <p:spPr>
          <a:xfrm>
            <a:off x="3685032" y="5532120"/>
            <a:ext cx="2377440" cy="731520"/>
          </a:xfrm>
          <a:prstGeom prst="rect">
            <a:avLst/>
          </a:prstGeom>
          <a:noFill/>
          <a:ln/>
        </p:spPr>
        <p:txBody>
          <a:bodyPr wrap="square" lIns="0" tIns="0" rIns="0" bIns="0" rtlCol="0" anchor="t"/>
          <a:lstStyle/>
          <a:p>
            <a:pPr indent="0" marL="0">
              <a:buNone/>
            </a:pPr>
            <a:r>
              <a:rPr lang="en-US" sz="1100" dirty="0">
                <a:solidFill>
                  <a:schemeClr val="tx1"/>
                </a:solidFill>
              </a:rPr>
              <a:t>Seasonal (Type B) lines rely on manual buyer decisions</a:t>
            </a:r>
            <a:endParaRPr lang="en-US" sz="1100" dirty="0"/>
          </a:p>
        </p:txBody>
      </p:sp>
      <p:sp>
        <p:nvSpPr>
          <p:cNvPr id="81" name="Shape 79"/>
          <p:cNvSpPr/>
          <p:nvPr/>
        </p:nvSpPr>
        <p:spPr>
          <a:xfrm>
            <a:off x="6126480" y="5596128"/>
            <a:ext cx="256032" cy="256032"/>
          </a:xfrm>
          <a:prstGeom prst="ellipse">
            <a:avLst/>
          </a:prstGeom>
          <a:solidFill>
            <a:schemeClr val="accent1"/>
          </a:solidFill>
          <a:ln w="12700">
            <a:solidFill>
              <a:srgbClr val="FFFFFF"/>
            </a:solidFill>
            <a:prstDash val="solid"/>
          </a:ln>
        </p:spPr>
      </p:sp>
      <p:sp>
        <p:nvSpPr>
          <p:cNvPr id="82" name="Text 80"/>
          <p:cNvSpPr txBox="1"/>
          <p:nvPr/>
        </p:nvSpPr>
        <p:spPr>
          <a:xfrm>
            <a:off x="6126480" y="5596128"/>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83" name="Text 81"/>
          <p:cNvSpPr txBox="1"/>
          <p:nvPr/>
        </p:nvSpPr>
        <p:spPr>
          <a:xfrm>
            <a:off x="6473952" y="5532120"/>
            <a:ext cx="2377440" cy="731520"/>
          </a:xfrm>
          <a:prstGeom prst="rect">
            <a:avLst/>
          </a:prstGeom>
          <a:noFill/>
          <a:ln/>
        </p:spPr>
        <p:txBody>
          <a:bodyPr wrap="square" lIns="0" tIns="0" rIns="0" bIns="0" rtlCol="0" anchor="t"/>
          <a:lstStyle/>
          <a:p>
            <a:pPr indent="0" marL="0">
              <a:buNone/>
            </a:pPr>
            <a:r>
              <a:rPr lang="en-US" sz="1100" dirty="0">
                <a:solidFill>
                  <a:schemeClr val="tx1"/>
                </a:solidFill>
              </a:rPr>
              <a:t>Online bypasses the central stock system, so the warehouse can double up on stock</a:t>
            </a:r>
            <a:endParaRPr lang="en-US" sz="1100" dirty="0"/>
          </a:p>
        </p:txBody>
      </p:sp>
      <p:sp>
        <p:nvSpPr>
          <p:cNvPr id="84" name="Shape 82"/>
          <p:cNvSpPr/>
          <p:nvPr/>
        </p:nvSpPr>
        <p:spPr>
          <a:xfrm>
            <a:off x="8915400" y="5596128"/>
            <a:ext cx="256032" cy="256032"/>
          </a:xfrm>
          <a:prstGeom prst="ellipse">
            <a:avLst/>
          </a:prstGeom>
          <a:solidFill>
            <a:schemeClr val="accent1"/>
          </a:solidFill>
          <a:ln w="12700">
            <a:solidFill>
              <a:srgbClr val="FFFFFF"/>
            </a:solidFill>
            <a:prstDash val="solid"/>
          </a:ln>
        </p:spPr>
      </p:sp>
      <p:sp>
        <p:nvSpPr>
          <p:cNvPr id="85" name="Text 83"/>
          <p:cNvSpPr txBox="1"/>
          <p:nvPr/>
        </p:nvSpPr>
        <p:spPr>
          <a:xfrm>
            <a:off x="8915400" y="5596128"/>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86" name="Text 84"/>
          <p:cNvSpPr txBox="1"/>
          <p:nvPr/>
        </p:nvSpPr>
        <p:spPr>
          <a:xfrm>
            <a:off x="9262872" y="5532120"/>
            <a:ext cx="2377440" cy="731520"/>
          </a:xfrm>
          <a:prstGeom prst="rect">
            <a:avLst/>
          </a:prstGeom>
          <a:noFill/>
          <a:ln/>
        </p:spPr>
        <p:txBody>
          <a:bodyPr wrap="square" lIns="0" tIns="0" rIns="0" bIns="0" rtlCol="0" anchor="t"/>
          <a:lstStyle/>
          <a:p>
            <a:pPr indent="0" marL="0">
              <a:buNone/>
            </a:pPr>
            <a:r>
              <a:rPr lang="en-US" sz="1100" dirty="0">
                <a:solidFill>
                  <a:schemeClr val="tx1"/>
                </a:solidFill>
              </a:rPr>
              <a:t>Edinburgh runs Oracle and uploads to SAP each night, so its stock view is a day old</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Problem statement: customers are coming, but each visit is worth less</a:t>
            </a:r>
            <a:endParaRPr lang="en-US" sz="2800" dirty="0"/>
          </a:p>
        </p:txBody>
      </p:sp>
      <p:sp>
        <p:nvSpPr>
          <p:cNvPr id="3" name="Problem card"/>
          <p:cNvSpPr/>
          <p:nvPr/>
        </p:nvSpPr>
        <p:spPr>
          <a:xfrm>
            <a:off x="548640" y="1554480"/>
            <a:ext cx="5394960" cy="3200400"/>
          </a:xfrm>
          <a:prstGeom prst="rect">
            <a:avLst/>
          </a:prstGeom>
          <a:solidFill>
            <a:schemeClr val="tx2"/>
          </a:solidFill>
          <a:ln/>
        </p:spPr>
      </p:sp>
      <p:sp>
        <p:nvSpPr>
          <p:cNvPr id="4" name="Text 2"/>
          <p:cNvSpPr txBox="1"/>
          <p:nvPr/>
        </p:nvSpPr>
        <p:spPr>
          <a:xfrm>
            <a:off x="822960" y="1783080"/>
            <a:ext cx="4846320" cy="274320"/>
          </a:xfrm>
          <a:prstGeom prst="rect">
            <a:avLst/>
          </a:prstGeom>
          <a:noFill/>
          <a:ln/>
        </p:spPr>
        <p:txBody>
          <a:bodyPr wrap="square" lIns="0" tIns="0" rIns="0" bIns="0" rtlCol="0" anchor="t"/>
          <a:lstStyle/>
          <a:p>
            <a:pPr indent="0" marL="0">
              <a:buNone/>
            </a:pPr>
            <a:r>
              <a:rPr lang="en-US" sz="1200" b="1" spc="200" kern="0" dirty="0">
                <a:solidFill>
                  <a:schemeClr val="bg1"/>
                </a:solidFill>
              </a:rPr>
              <a:t>THE PROBLEM WE SEE</a:t>
            </a:r>
            <a:endParaRPr lang="en-US" sz="1200" dirty="0"/>
          </a:p>
        </p:txBody>
      </p:sp>
      <p:sp>
        <p:nvSpPr>
          <p:cNvPr id="5" name="Text 3"/>
          <p:cNvSpPr txBox="1"/>
          <p:nvPr/>
        </p:nvSpPr>
        <p:spPr>
          <a:xfrm>
            <a:off x="822960" y="2194560"/>
            <a:ext cx="4846320" cy="24688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Sales counts are up 7–10% in every store, yet value per sale is down 11–15% in three, margin is 8.0% and online turns 982,000 visits into £5.7m.</a:t>
            </a:r>
            <a:endParaRPr lang="en-US" sz="2000" dirty="0"/>
          </a:p>
        </p:txBody>
      </p:sp>
      <p:sp>
        <p:nvSpPr>
          <p:cNvPr id="6" name="Shape 4"/>
          <p:cNvSpPr/>
          <p:nvPr/>
        </p:nvSpPr>
        <p:spPr>
          <a:xfrm>
            <a:off x="6035040" y="2834640"/>
            <a:ext cx="822960" cy="548640"/>
          </a:xfrm>
          <a:prstGeom prst="rightArrow">
            <a:avLst/>
          </a:prstGeom>
          <a:solidFill>
            <a:schemeClr val="accent3"/>
          </a:solidFill>
          <a:ln/>
        </p:spPr>
      </p:sp>
      <p:sp>
        <p:nvSpPr>
          <p:cNvPr id="7" name="Reframed opportunity card"/>
          <p:cNvSpPr/>
          <p:nvPr/>
        </p:nvSpPr>
        <p:spPr>
          <a:xfrm>
            <a:off x="6949440" y="1554480"/>
            <a:ext cx="4663440" cy="3200400"/>
          </a:xfrm>
          <a:prstGeom prst="rect">
            <a:avLst/>
          </a:prstGeom>
          <a:solidFill>
            <a:schemeClr val="accent1"/>
          </a:solidFill>
          <a:ln/>
        </p:spPr>
      </p:sp>
      <p:sp>
        <p:nvSpPr>
          <p:cNvPr id="8" name="Text 6"/>
          <p:cNvSpPr txBox="1"/>
          <p:nvPr/>
        </p:nvSpPr>
        <p:spPr>
          <a:xfrm>
            <a:off x="7223760" y="1783080"/>
            <a:ext cx="4114800" cy="274320"/>
          </a:xfrm>
          <a:prstGeom prst="rect">
            <a:avLst/>
          </a:prstGeom>
          <a:noFill/>
          <a:ln/>
        </p:spPr>
        <p:txBody>
          <a:bodyPr wrap="square" lIns="0" tIns="0" rIns="0" bIns="0" rtlCol="0" anchor="t"/>
          <a:lstStyle/>
          <a:p>
            <a:pPr indent="0" marL="0">
              <a:buNone/>
            </a:pPr>
            <a:r>
              <a:rPr lang="en-US" sz="1200" b="1" spc="200" kern="0" dirty="0">
                <a:solidFill>
                  <a:schemeClr val="bg1"/>
                </a:solidFill>
              </a:rPr>
              <a:t>THE REFRAMED OPPORTUNITY</a:t>
            </a:r>
            <a:endParaRPr lang="en-US" sz="1200" dirty="0"/>
          </a:p>
        </p:txBody>
      </p:sp>
      <p:sp>
        <p:nvSpPr>
          <p:cNvPr id="9" name="Text 7"/>
          <p:cNvSpPr txBox="1"/>
          <p:nvPr/>
        </p:nvSpPr>
        <p:spPr>
          <a:xfrm>
            <a:off x="7223760" y="2194560"/>
            <a:ext cx="4114800" cy="24688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How might V&amp;S make every visit worth more, in store or online, by serving each client as one person and running one joined-up operation behind it?</a:t>
            </a:r>
            <a:endParaRPr lang="en-US" sz="2000" dirty="0"/>
          </a:p>
        </p:txBody>
      </p:sp>
      <p:sp>
        <p:nvSpPr>
          <p:cNvPr id="10" name="Shift"/>
          <p:cNvSpPr/>
          <p:nvPr/>
        </p:nvSpPr>
        <p:spPr>
          <a:xfrm>
            <a:off x="548640" y="5029200"/>
            <a:ext cx="11064240" cy="1097280"/>
          </a:xfrm>
          <a:prstGeom prst="rect">
            <a:avLst/>
          </a:prstGeom>
          <a:solidFill>
            <a:schemeClr val="bg2"/>
          </a:solidFill>
          <a:ln/>
        </p:spPr>
      </p:sp>
      <p:sp>
        <p:nvSpPr>
          <p:cNvPr id="11" name="Text 9"/>
          <p:cNvSpPr txBox="1"/>
          <p:nvPr/>
        </p:nvSpPr>
        <p:spPr>
          <a:xfrm>
            <a:off x="822960" y="5029200"/>
            <a:ext cx="10515600" cy="1097280"/>
          </a:xfrm>
          <a:prstGeom prst="rect">
            <a:avLst/>
          </a:prstGeom>
          <a:noFill/>
          <a:ln/>
        </p:spPr>
        <p:txBody>
          <a:bodyPr wrap="square" lIns="0" tIns="0" rIns="0" bIns="0" rtlCol="0" anchor="ctr"/>
          <a:lstStyle/>
          <a:p>
            <a:pPr indent="0" marL="0">
              <a:buNone/>
            </a:pPr>
            <a:r>
              <a:rPr lang="en-US" sz="1800" b="1" dirty="0">
                <a:solidFill>
                  <a:schemeClr val="accent1"/>
                </a:solidFill>
              </a:rPr>
              <a:t>From: </a:t>
            </a:r>
            <a:pPr indent="0" marL="0">
              <a:buNone/>
            </a:pPr>
            <a:r>
              <a:rPr lang="en-US" sz="1800" dirty="0">
                <a:solidFill>
                  <a:schemeClr val="tx1"/>
                </a:solidFill>
              </a:rPr>
              <a:t>stores or online, and sell harder.   </a:t>
            </a:r>
            <a:pPr indent="0" marL="0">
              <a:buNone/>
            </a:pPr>
            <a:r>
              <a:rPr lang="en-US" sz="1800" b="1" dirty="0">
                <a:solidFill>
                  <a:schemeClr val="accent1"/>
                </a:solidFill>
              </a:rPr>
              <a:t>To: </a:t>
            </a:r>
            <a:pPr indent="0" marL="0">
              <a:buNone/>
            </a:pPr>
            <a:r>
              <a:rPr lang="en-US" sz="1800" dirty="0">
                <a:solidFill>
                  <a:schemeClr val="tx1"/>
                </a:solidFill>
              </a:rPr>
              <a:t>one Virley experience in every channel, funded by a leaner operation.</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Four hypotheses to test with the leadership team</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548640"/>
                <a:gridCol w="2834640"/>
                <a:gridCol w="4754880"/>
                <a:gridCol w="2926080"/>
              </a:tblGrid>
              <a:tr h="457200">
                <a:tc>
                  <a:txBody>
                    <a:bodyPr/>
                    <a:lstStyle/>
                    <a:p>
                      <a:pPr algn="l" indent="0" marL="0">
                        <a:buNone/>
                      </a:pPr>
                      <a:r>
                        <a:rPr lang="en-US" sz="1300" b="1" dirty="0">
                          <a:solidFill>
                            <a:schemeClr val="bg1"/>
                          </a:solidFill>
                        </a:rPr>
                        <a:t>#</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Hypothesis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Evidence in the data pack</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Test with</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r>
              <a:tr h="1051560">
                <a:tc>
                  <a:txBody>
                    <a:bodyPr/>
                    <a:lstStyle/>
                    <a:p>
                      <a:pPr algn="ctr" indent="0" marL="0">
                        <a:buNone/>
                      </a:pPr>
                      <a:r>
                        <a:rPr lang="en-US" sz="1800" b="1" dirty="0">
                          <a:solidFill>
                            <a:schemeClr val="accent1"/>
                          </a:solidFill>
                        </a:rPr>
                        <a:t>1</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b="1" dirty="0">
                          <a:solidFill>
                            <a:schemeClr val="tx1"/>
                          </a:solidFill>
                        </a:rPr>
                        <a:t>Service is not personal enough, so each visit is worth less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Number of sales up 7–10%; value per sale down 11–15% in London, Edinburgh and Orlando</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Ashley and store GMs (Day 1)</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1051560">
                <a:tc>
                  <a:txBody>
                    <a:bodyPr/>
                    <a:lstStyle/>
                    <a:p>
                      <a:pPr algn="ctr" indent="0" marL="0">
                        <a:buNone/>
                      </a:pPr>
                      <a:r>
                        <a:rPr lang="en-US" sz="1800" b="1" dirty="0">
                          <a:solidFill>
                            <a:schemeClr val="accent1"/>
                          </a:solidFill>
                        </a:rPr>
                        <a:t>2</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b="1" dirty="0">
                          <a:solidFill>
                            <a:schemeClr val="tx1"/>
                          </a:solidFill>
                        </a:rPr>
                        <a:t>Online demand is lost to delivery friction and weak discovery</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982,000 visits, £5.7m revenue; 279,911 views of contact-us and delivery FAQ; 46% of visits from paid search</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Anshu (Day 2), Ashley</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1051560">
                <a:tc>
                  <a:txBody>
                    <a:bodyPr/>
                    <a:lstStyle/>
                    <a:p>
                      <a:pPr algn="ctr" indent="0" marL="0">
                        <a:buNone/>
                      </a:pPr>
                      <a:r>
                        <a:rPr lang="en-US" sz="1800" b="1" dirty="0">
                          <a:solidFill>
                            <a:schemeClr val="accent1"/>
                          </a:solidFill>
                        </a:rPr>
                        <a:t>3</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b="1" dirty="0">
                          <a:solidFill>
                            <a:schemeClr val="tx1"/>
                          </a:solidFill>
                        </a:rPr>
                        <a:t>Fragmented operations cap the margin</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Logistics 17.5% of revenue; SAP and Oracle split; online outside the central stock system; IT director vacant</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Ashley, supply chain (Day 1)</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1051560">
                <a:tc>
                  <a:txBody>
                    <a:bodyPr/>
                    <a:lstStyle/>
                    <a:p>
                      <a:pPr algn="ctr" indent="0" marL="0">
                        <a:buNone/>
                      </a:pPr>
                      <a:r>
                        <a:rPr lang="en-US" sz="1800" b="1" dirty="0">
                          <a:solidFill>
                            <a:schemeClr val="accent1"/>
                          </a:solidFill>
                        </a:rPr>
                        <a:t>4</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b="1" dirty="0">
                          <a:solidFill>
                            <a:schemeClr val="tx1"/>
                          </a:solidFill>
                        </a:rPr>
                        <a:t>Buying and incentives pull away from margin and experience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Directors bonused on sales; buying directors want margin; seasonal lines depend on manual buyer decisions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Jesse (Day 2), Jack</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Virley Everywhere joins business, experience and technology in one bold idea</a:t>
            </a:r>
            <a:endParaRPr lang="en-US" sz="2800" dirty="0"/>
          </a:p>
        </p:txBody>
      </p:sp>
      <p:sp>
        <p:nvSpPr>
          <p:cNvPr id="3" name="Business circle"/>
          <p:cNvSpPr/>
          <p:nvPr/>
        </p:nvSpPr>
        <p:spPr>
          <a:xfrm>
            <a:off x="2788920" y="1508760"/>
            <a:ext cx="2560320" cy="2560320"/>
          </a:xfrm>
          <a:prstGeom prst="ellipse">
            <a:avLst/>
          </a:prstGeom>
          <a:solidFill>
            <a:srgbClr val="D52B1E">
              <a:alpha val="35000"/>
            </a:srgbClr>
          </a:solidFill>
          <a:ln w="19050">
            <a:solidFill>
              <a:srgbClr val="D52B1E"/>
            </a:solidFill>
            <a:prstDash val="solid"/>
          </a:ln>
        </p:spPr>
      </p:sp>
      <p:sp>
        <p:nvSpPr>
          <p:cNvPr id="4" name="Experience circle"/>
          <p:cNvSpPr/>
          <p:nvPr/>
        </p:nvSpPr>
        <p:spPr>
          <a:xfrm>
            <a:off x="1691640" y="3383280"/>
            <a:ext cx="2560320" cy="2560320"/>
          </a:xfrm>
          <a:prstGeom prst="ellipse">
            <a:avLst/>
          </a:prstGeom>
          <a:solidFill>
            <a:srgbClr val="6E625E">
              <a:alpha val="35000"/>
            </a:srgbClr>
          </a:solidFill>
          <a:ln w="19050">
            <a:solidFill>
              <a:srgbClr val="6E625E"/>
            </a:solidFill>
            <a:prstDash val="solid"/>
          </a:ln>
        </p:spPr>
      </p:sp>
      <p:sp>
        <p:nvSpPr>
          <p:cNvPr id="5" name="Technology circle"/>
          <p:cNvSpPr/>
          <p:nvPr/>
        </p:nvSpPr>
        <p:spPr>
          <a:xfrm>
            <a:off x="3886200" y="3383280"/>
            <a:ext cx="2560320" cy="2560320"/>
          </a:xfrm>
          <a:prstGeom prst="ellipse">
            <a:avLst/>
          </a:prstGeom>
          <a:solidFill>
            <a:srgbClr val="EB8C00">
              <a:alpha val="35000"/>
            </a:srgbClr>
          </a:solidFill>
          <a:ln w="19050">
            <a:solidFill>
              <a:srgbClr val="EB8C00"/>
            </a:solidFill>
            <a:prstDash val="solid"/>
          </a:ln>
        </p:spPr>
      </p:sp>
      <p:sp>
        <p:nvSpPr>
          <p:cNvPr id="6" name="Text 4"/>
          <p:cNvSpPr txBox="1"/>
          <p:nvPr/>
        </p:nvSpPr>
        <p:spPr>
          <a:xfrm>
            <a:off x="3337560" y="1691640"/>
            <a:ext cx="1463040" cy="731520"/>
          </a:xfrm>
          <a:prstGeom prst="rect">
            <a:avLst/>
          </a:prstGeom>
          <a:noFill/>
          <a:ln/>
        </p:spPr>
        <p:txBody>
          <a:bodyPr wrap="square" lIns="0" tIns="0" rIns="0" bIns="0" rtlCol="0" anchor="t"/>
          <a:lstStyle/>
          <a:p>
            <a:pPr algn="ctr" indent="0" marL="0">
              <a:buNone/>
            </a:pPr>
            <a:r>
              <a:rPr lang="en-US" sz="2400" b="1" dirty="0">
                <a:solidFill>
                  <a:schemeClr val="tx1"/>
                </a:solidFill>
              </a:rPr>
              <a:t>B</a:t>
            </a:r>
            <a:endParaRPr lang="en-US" sz="2400" dirty="0"/>
          </a:p>
          <a:p>
            <a:pPr algn="ctr" indent="0" marL="0">
              <a:buNone/>
            </a:pPr>
            <a:r>
              <a:rPr lang="en-US" sz="1300" dirty="0">
                <a:solidFill>
                  <a:schemeClr val="tx1"/>
                </a:solidFill>
              </a:rPr>
              <a:t>Business</a:t>
            </a:r>
            <a:endParaRPr lang="en-US" sz="2400" dirty="0"/>
          </a:p>
        </p:txBody>
      </p:sp>
      <p:sp>
        <p:nvSpPr>
          <p:cNvPr id="7" name="Text 5"/>
          <p:cNvSpPr txBox="1"/>
          <p:nvPr/>
        </p:nvSpPr>
        <p:spPr>
          <a:xfrm>
            <a:off x="1874520" y="4663440"/>
            <a:ext cx="1371600" cy="731520"/>
          </a:xfrm>
          <a:prstGeom prst="rect">
            <a:avLst/>
          </a:prstGeom>
          <a:noFill/>
          <a:ln/>
        </p:spPr>
        <p:txBody>
          <a:bodyPr wrap="square" lIns="0" tIns="0" rIns="0" bIns="0" rtlCol="0" anchor="t"/>
          <a:lstStyle/>
          <a:p>
            <a:pPr algn="ctr" indent="0" marL="0">
              <a:buNone/>
            </a:pPr>
            <a:r>
              <a:rPr lang="en-US" sz="2400" b="1" dirty="0">
                <a:solidFill>
                  <a:schemeClr val="tx1"/>
                </a:solidFill>
              </a:rPr>
              <a:t>X</a:t>
            </a:r>
            <a:endParaRPr lang="en-US" sz="2400" dirty="0"/>
          </a:p>
          <a:p>
            <a:pPr algn="ctr" indent="0" marL="0">
              <a:buNone/>
            </a:pPr>
            <a:r>
              <a:rPr lang="en-US" sz="1300" dirty="0">
                <a:solidFill>
                  <a:schemeClr val="tx1"/>
                </a:solidFill>
              </a:rPr>
              <a:t>eXperience</a:t>
            </a:r>
            <a:endParaRPr lang="en-US" sz="2400" dirty="0"/>
          </a:p>
        </p:txBody>
      </p:sp>
      <p:sp>
        <p:nvSpPr>
          <p:cNvPr id="8" name="Text 6"/>
          <p:cNvSpPr txBox="1"/>
          <p:nvPr/>
        </p:nvSpPr>
        <p:spPr>
          <a:xfrm>
            <a:off x="4526280" y="4663440"/>
            <a:ext cx="1371600" cy="731520"/>
          </a:xfrm>
          <a:prstGeom prst="rect">
            <a:avLst/>
          </a:prstGeom>
          <a:noFill/>
          <a:ln/>
        </p:spPr>
        <p:txBody>
          <a:bodyPr wrap="square" lIns="0" tIns="0" rIns="0" bIns="0" rtlCol="0" anchor="t"/>
          <a:lstStyle/>
          <a:p>
            <a:pPr algn="ctr" indent="0" marL="0">
              <a:buNone/>
            </a:pPr>
            <a:r>
              <a:rPr lang="en-US" sz="2400" b="1" dirty="0">
                <a:solidFill>
                  <a:schemeClr val="tx1"/>
                </a:solidFill>
              </a:rPr>
              <a:t>T</a:t>
            </a:r>
            <a:endParaRPr lang="en-US" sz="2400" dirty="0"/>
          </a:p>
          <a:p>
            <a:pPr algn="ctr" indent="0" marL="0">
              <a:buNone/>
            </a:pPr>
            <a:r>
              <a:rPr lang="en-US" sz="1300" dirty="0">
                <a:solidFill>
                  <a:schemeClr val="tx1"/>
                </a:solidFill>
              </a:rPr>
              <a:t>Technology</a:t>
            </a:r>
            <a:endParaRPr lang="en-US" sz="2400" dirty="0"/>
          </a:p>
        </p:txBody>
      </p:sp>
      <p:sp>
        <p:nvSpPr>
          <p:cNvPr id="9" name="Shape 7"/>
          <p:cNvSpPr/>
          <p:nvPr/>
        </p:nvSpPr>
        <p:spPr>
          <a:xfrm>
            <a:off x="3246120" y="3749040"/>
            <a:ext cx="1554480" cy="914400"/>
          </a:xfrm>
          <a:prstGeom prst="ellipse">
            <a:avLst/>
          </a:prstGeom>
          <a:solidFill>
            <a:schemeClr val="tx1"/>
          </a:solidFill>
          <a:ln/>
        </p:spPr>
      </p:sp>
      <p:sp>
        <p:nvSpPr>
          <p:cNvPr id="10" name="Text 8"/>
          <p:cNvSpPr txBox="1"/>
          <p:nvPr/>
        </p:nvSpPr>
        <p:spPr>
          <a:xfrm>
            <a:off x="3246120" y="3749040"/>
            <a:ext cx="1554480" cy="914400"/>
          </a:xfrm>
          <a:prstGeom prst="rect">
            <a:avLst/>
          </a:prstGeom>
          <a:noFill/>
          <a:ln/>
        </p:spPr>
        <p:txBody>
          <a:bodyPr wrap="square" lIns="0" tIns="0" rIns="0" bIns="0" rtlCol="0" anchor="ctr"/>
          <a:lstStyle/>
          <a:p>
            <a:pPr algn="ctr" indent="0" marL="0">
              <a:buNone/>
            </a:pPr>
            <a:r>
              <a:rPr lang="en-US" sz="1300" b="1" dirty="0">
                <a:solidFill>
                  <a:schemeClr val="bg1"/>
                </a:solidFill>
                <a:latin typeface="+mj-lt" pitchFamily="34" charset="0"/>
                <a:ea typeface="+mj-lt" pitchFamily="34" charset="-122"/>
                <a:cs typeface="+mj-lt" pitchFamily="34" charset="-120"/>
              </a:rPr>
              <a:t>Virley Everywhere</a:t>
            </a:r>
            <a:endParaRPr lang="en-US" sz="1300" dirty="0"/>
          </a:p>
        </p:txBody>
      </p:sp>
      <p:sp>
        <p:nvSpPr>
          <p:cNvPr id="11" name="BXT card B"/>
          <p:cNvSpPr/>
          <p:nvPr/>
        </p:nvSpPr>
        <p:spPr>
          <a:xfrm>
            <a:off x="6675120" y="1600200"/>
            <a:ext cx="4937760" cy="1371600"/>
          </a:xfrm>
          <a:prstGeom prst="rect">
            <a:avLst/>
          </a:prstGeom>
          <a:solidFill>
            <a:schemeClr val="bg2"/>
          </a:solidFill>
          <a:ln/>
        </p:spPr>
      </p:sp>
      <p:sp>
        <p:nvSpPr>
          <p:cNvPr id="12" name="Shape 10"/>
          <p:cNvSpPr/>
          <p:nvPr/>
        </p:nvSpPr>
        <p:spPr>
          <a:xfrm>
            <a:off x="6858000" y="1783080"/>
            <a:ext cx="640080" cy="640080"/>
          </a:xfrm>
          <a:prstGeom prst="ellipse">
            <a:avLst/>
          </a:prstGeom>
          <a:solidFill>
            <a:srgbClr val="D52B1E"/>
          </a:solidFill>
          <a:ln/>
        </p:spPr>
      </p:sp>
      <p:sp>
        <p:nvSpPr>
          <p:cNvPr id="13" name="Text 11"/>
          <p:cNvSpPr txBox="1"/>
          <p:nvPr/>
        </p:nvSpPr>
        <p:spPr>
          <a:xfrm>
            <a:off x="6858000" y="17830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B</a:t>
            </a:r>
            <a:endParaRPr lang="en-US" sz="2200" dirty="0"/>
          </a:p>
        </p:txBody>
      </p:sp>
      <p:sp>
        <p:nvSpPr>
          <p:cNvPr id="14" name="Text 12"/>
          <p:cNvSpPr txBox="1"/>
          <p:nvPr/>
        </p:nvSpPr>
        <p:spPr>
          <a:xfrm>
            <a:off x="7680960" y="1737360"/>
            <a:ext cx="3749040" cy="320040"/>
          </a:xfrm>
          <a:prstGeom prst="rect">
            <a:avLst/>
          </a:prstGeom>
          <a:noFill/>
          <a:ln/>
        </p:spPr>
        <p:txBody>
          <a:bodyPr wrap="square" lIns="0" tIns="0" rIns="0" bIns="0" rtlCol="0" anchor="t"/>
          <a:lstStyle/>
          <a:p>
            <a:pPr indent="0" marL="0">
              <a:buNone/>
            </a:pPr>
            <a:r>
              <a:rPr lang="en-US" sz="1500" b="1" dirty="0">
                <a:solidFill>
                  <a:schemeClr val="tx1"/>
                </a:solidFill>
              </a:rPr>
              <a:t>Business</a:t>
            </a:r>
            <a:endParaRPr lang="en-US" sz="1500" dirty="0"/>
          </a:p>
        </p:txBody>
      </p:sp>
      <p:sp>
        <p:nvSpPr>
          <p:cNvPr id="15" name="Text 13"/>
          <p:cNvSpPr txBox="1"/>
          <p:nvPr/>
        </p:nvSpPr>
        <p:spPr>
          <a:xfrm>
            <a:off x="7680960" y="2075688"/>
            <a:ext cx="3749040" cy="868680"/>
          </a:xfrm>
          <a:prstGeom prst="rect">
            <a:avLst/>
          </a:prstGeom>
          <a:noFill/>
          <a:ln/>
        </p:spPr>
        <p:txBody>
          <a:bodyPr wrap="square" lIns="0" tIns="0" rIns="0" bIns="0" rtlCol="0" anchor="t"/>
          <a:lstStyle/>
          <a:p>
            <a:pPr indent="0" marL="0">
              <a:buNone/>
            </a:pPr>
            <a:r>
              <a:rPr lang="en-US" sz="1200" dirty="0">
                <a:solidFill>
                  <a:schemeClr val="tx1"/>
                </a:solidFill>
              </a:rPr>
              <a:t>Reach £2bn and a 10% margin: a leaner stock and logistics backbone pays for the growth.</a:t>
            </a:r>
            <a:endParaRPr lang="en-US" sz="1200" dirty="0"/>
          </a:p>
        </p:txBody>
      </p:sp>
      <p:sp>
        <p:nvSpPr>
          <p:cNvPr id="16" name="BXT card X"/>
          <p:cNvSpPr/>
          <p:nvPr/>
        </p:nvSpPr>
        <p:spPr>
          <a:xfrm>
            <a:off x="6675120" y="3154680"/>
            <a:ext cx="4937760" cy="1371600"/>
          </a:xfrm>
          <a:prstGeom prst="rect">
            <a:avLst/>
          </a:prstGeom>
          <a:solidFill>
            <a:schemeClr val="bg2"/>
          </a:solidFill>
          <a:ln/>
        </p:spPr>
      </p:sp>
      <p:sp>
        <p:nvSpPr>
          <p:cNvPr id="17" name="Shape 15"/>
          <p:cNvSpPr/>
          <p:nvPr/>
        </p:nvSpPr>
        <p:spPr>
          <a:xfrm>
            <a:off x="6858000" y="3337560"/>
            <a:ext cx="640080" cy="640080"/>
          </a:xfrm>
          <a:prstGeom prst="ellipse">
            <a:avLst/>
          </a:prstGeom>
          <a:solidFill>
            <a:srgbClr val="6E625E"/>
          </a:solidFill>
          <a:ln/>
        </p:spPr>
      </p:sp>
      <p:sp>
        <p:nvSpPr>
          <p:cNvPr id="18" name="Text 16"/>
          <p:cNvSpPr txBox="1"/>
          <p:nvPr/>
        </p:nvSpPr>
        <p:spPr>
          <a:xfrm>
            <a:off x="6858000" y="33375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X</a:t>
            </a:r>
            <a:endParaRPr lang="en-US" sz="2200" dirty="0"/>
          </a:p>
        </p:txBody>
      </p:sp>
      <p:sp>
        <p:nvSpPr>
          <p:cNvPr id="19" name="Text 17"/>
          <p:cNvSpPr txBox="1"/>
          <p:nvPr/>
        </p:nvSpPr>
        <p:spPr>
          <a:xfrm>
            <a:off x="7680960" y="3291840"/>
            <a:ext cx="3749040" cy="320040"/>
          </a:xfrm>
          <a:prstGeom prst="rect">
            <a:avLst/>
          </a:prstGeom>
          <a:noFill/>
          <a:ln/>
        </p:spPr>
        <p:txBody>
          <a:bodyPr wrap="square" lIns="0" tIns="0" rIns="0" bIns="0" rtlCol="0" anchor="t"/>
          <a:lstStyle/>
          <a:p>
            <a:pPr indent="0" marL="0">
              <a:buNone/>
            </a:pPr>
            <a:r>
              <a:rPr lang="en-US" sz="1500" b="1" dirty="0">
                <a:solidFill>
                  <a:schemeClr val="tx1"/>
                </a:solidFill>
              </a:rPr>
              <a:t>eXperience</a:t>
            </a:r>
            <a:endParaRPr lang="en-US" sz="1500" dirty="0"/>
          </a:p>
        </p:txBody>
      </p:sp>
      <p:sp>
        <p:nvSpPr>
          <p:cNvPr id="20" name="Text 18"/>
          <p:cNvSpPr txBox="1"/>
          <p:nvPr/>
        </p:nvSpPr>
        <p:spPr>
          <a:xfrm>
            <a:off x="7680960" y="3630168"/>
            <a:ext cx="3749040" cy="868680"/>
          </a:xfrm>
          <a:prstGeom prst="rect">
            <a:avLst/>
          </a:prstGeom>
          <a:noFill/>
          <a:ln/>
        </p:spPr>
        <p:txBody>
          <a:bodyPr wrap="square" lIns="0" tIns="0" rIns="0" bIns="0" rtlCol="0" anchor="t"/>
          <a:lstStyle/>
          <a:p>
            <a:pPr indent="0" marL="0">
              <a:buNone/>
            </a:pPr>
            <a:r>
              <a:rPr lang="en-US" sz="1200" dirty="0">
                <a:solidFill>
                  <a:schemeClr val="tx1"/>
                </a:solidFill>
              </a:rPr>
              <a:t>One client known in every channel, so each visit is worth more for the client and for the colleague serving her.</a:t>
            </a:r>
            <a:endParaRPr lang="en-US" sz="1200" dirty="0"/>
          </a:p>
        </p:txBody>
      </p:sp>
      <p:sp>
        <p:nvSpPr>
          <p:cNvPr id="21" name="BXT card T"/>
          <p:cNvSpPr/>
          <p:nvPr/>
        </p:nvSpPr>
        <p:spPr>
          <a:xfrm>
            <a:off x="6675120" y="4709160"/>
            <a:ext cx="4937760" cy="1371600"/>
          </a:xfrm>
          <a:prstGeom prst="rect">
            <a:avLst/>
          </a:prstGeom>
          <a:solidFill>
            <a:schemeClr val="bg2"/>
          </a:solidFill>
          <a:ln/>
        </p:spPr>
      </p:sp>
      <p:sp>
        <p:nvSpPr>
          <p:cNvPr id="22" name="Shape 20"/>
          <p:cNvSpPr/>
          <p:nvPr/>
        </p:nvSpPr>
        <p:spPr>
          <a:xfrm>
            <a:off x="6858000" y="4892040"/>
            <a:ext cx="640080" cy="640080"/>
          </a:xfrm>
          <a:prstGeom prst="ellipse">
            <a:avLst/>
          </a:prstGeom>
          <a:solidFill>
            <a:srgbClr val="EB8C00"/>
          </a:solidFill>
          <a:ln/>
        </p:spPr>
      </p:sp>
      <p:sp>
        <p:nvSpPr>
          <p:cNvPr id="23" name="Text 21"/>
          <p:cNvSpPr txBox="1"/>
          <p:nvPr/>
        </p:nvSpPr>
        <p:spPr>
          <a:xfrm>
            <a:off x="6858000" y="48920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T</a:t>
            </a:r>
            <a:endParaRPr lang="en-US" sz="2200" dirty="0"/>
          </a:p>
        </p:txBody>
      </p:sp>
      <p:sp>
        <p:nvSpPr>
          <p:cNvPr id="24" name="Text 22"/>
          <p:cNvSpPr txBox="1"/>
          <p:nvPr/>
        </p:nvSpPr>
        <p:spPr>
          <a:xfrm>
            <a:off x="7680960" y="4846320"/>
            <a:ext cx="3749040" cy="320040"/>
          </a:xfrm>
          <a:prstGeom prst="rect">
            <a:avLst/>
          </a:prstGeom>
          <a:noFill/>
          <a:ln/>
        </p:spPr>
        <p:txBody>
          <a:bodyPr wrap="square" lIns="0" tIns="0" rIns="0" bIns="0" rtlCol="0" anchor="t"/>
          <a:lstStyle/>
          <a:p>
            <a:pPr indent="0" marL="0">
              <a:buNone/>
            </a:pPr>
            <a:r>
              <a:rPr lang="en-US" sz="1500" b="1" dirty="0">
                <a:solidFill>
                  <a:schemeClr val="tx1"/>
                </a:solidFill>
              </a:rPr>
              <a:t>Technology</a:t>
            </a:r>
            <a:endParaRPr lang="en-US" sz="1500" dirty="0"/>
          </a:p>
        </p:txBody>
      </p:sp>
      <p:sp>
        <p:nvSpPr>
          <p:cNvPr id="25" name="Text 23"/>
          <p:cNvSpPr txBox="1"/>
          <p:nvPr/>
        </p:nvSpPr>
        <p:spPr>
          <a:xfrm>
            <a:off x="7680960" y="5184648"/>
            <a:ext cx="3749040" cy="868680"/>
          </a:xfrm>
          <a:prstGeom prst="rect">
            <a:avLst/>
          </a:prstGeom>
          <a:noFill/>
          <a:ln/>
        </p:spPr>
        <p:txBody>
          <a:bodyPr wrap="square" lIns="0" tIns="0" rIns="0" bIns="0" rtlCol="0" anchor="t"/>
          <a:lstStyle/>
          <a:p>
            <a:pPr indent="0" marL="0">
              <a:buNone/>
            </a:pPr>
            <a:r>
              <a:rPr lang="en-US" sz="1200" dirty="0">
                <a:solidFill>
                  <a:schemeClr val="tx1"/>
                </a:solidFill>
              </a:rPr>
              <a:t>One client profile and one stock view across SAP, Oracle and online, with self-service delivery and returns.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A day in the life of a client, and of the colleague who serves her</a:t>
            </a:r>
            <a:endParaRPr lang="en-US" sz="2800" dirty="0"/>
          </a:p>
        </p:txBody>
      </p:sp>
      <p:sp>
        <p:nvSpPr>
          <p:cNvPr id="3" name="Text 1"/>
          <p:cNvSpPr txBox="1"/>
          <p:nvPr/>
        </p:nvSpPr>
        <p:spPr>
          <a:xfrm>
            <a:off x="548640" y="1417320"/>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THE CLIENT</a:t>
            </a:r>
            <a:endParaRPr lang="en-US" sz="1100" dirty="0"/>
          </a:p>
        </p:txBody>
      </p:sp>
      <p:sp>
        <p:nvSpPr>
          <p:cNvPr id="4" name="Shape 2"/>
          <p:cNvSpPr/>
          <p:nvPr/>
        </p:nvSpPr>
        <p:spPr>
          <a:xfrm>
            <a:off x="548640" y="1691640"/>
            <a:ext cx="2103120" cy="594360"/>
          </a:xfrm>
          <a:prstGeom prst="homePlate">
            <a:avLst/>
          </a:prstGeom>
          <a:solidFill>
            <a:schemeClr val="accent1"/>
          </a:solidFill>
          <a:ln/>
        </p:spPr>
      </p:sp>
      <p:sp>
        <p:nvSpPr>
          <p:cNvPr id="5" name="Text 3"/>
          <p:cNvSpPr txBox="1"/>
          <p:nvPr/>
        </p:nvSpPr>
        <p:spPr>
          <a:xfrm>
            <a:off x="68580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1  Discover</a:t>
            </a:r>
            <a:endParaRPr lang="en-US" sz="1400" dirty="0"/>
          </a:p>
        </p:txBody>
      </p:sp>
      <p:sp>
        <p:nvSpPr>
          <p:cNvPr id="6" name="Client 1"/>
          <p:cNvSpPr/>
          <p:nvPr/>
        </p:nvSpPr>
        <p:spPr>
          <a:xfrm>
            <a:off x="548640" y="2377440"/>
            <a:ext cx="2103120" cy="1554480"/>
          </a:xfrm>
          <a:prstGeom prst="rect">
            <a:avLst/>
          </a:prstGeom>
          <a:solidFill>
            <a:schemeClr val="bg2"/>
          </a:solidFill>
          <a:ln/>
        </p:spPr>
      </p:sp>
      <p:sp>
        <p:nvSpPr>
          <p:cNvPr id="7" name="Shape 5"/>
          <p:cNvSpPr/>
          <p:nvPr/>
        </p:nvSpPr>
        <p:spPr>
          <a:xfrm>
            <a:off x="685800" y="2468880"/>
            <a:ext cx="411480" cy="411480"/>
          </a:xfrm>
          <a:prstGeom prst="ellipse">
            <a:avLst/>
          </a:prstGeom>
          <a:solidFill>
            <a:srgbClr val="D52B1E"/>
          </a:solidFill>
          <a:ln/>
        </p:spPr>
      </p:sp>
      <p:pic>
        <p:nvPicPr>
          <p:cNvPr id="8" name="Image 0" descr="icon">    </p:cNvPr>
          <p:cNvPicPr>
            <a:picLocks noChangeAspect="1"/>
          </p:cNvPicPr>
          <p:nvPr/>
        </p:nvPicPr>
        <p:blipFill>
          <a:blip r:embed="rId1"/>
          <a:stretch>
            <a:fillRect/>
          </a:stretch>
        </p:blipFill>
        <p:spPr>
          <a:xfrm>
            <a:off x="788670" y="2571750"/>
            <a:ext cx="205740" cy="205740"/>
          </a:xfrm>
          <a:prstGeom prst="rect">
            <a:avLst/>
          </a:prstGeom>
        </p:spPr>
      </p:pic>
      <p:sp>
        <p:nvSpPr>
          <p:cNvPr id="9" name="Text 6"/>
          <p:cNvSpPr txBox="1"/>
          <p:nvPr/>
        </p:nvSpPr>
        <p:spPr>
          <a:xfrm>
            <a:off x="68580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She sees a new collection on social media and books a styling session.</a:t>
            </a:r>
            <a:endParaRPr lang="en-US" sz="1200" dirty="0"/>
          </a:p>
        </p:txBody>
      </p:sp>
      <p:sp>
        <p:nvSpPr>
          <p:cNvPr id="10" name="Colleague 1"/>
          <p:cNvSpPr/>
          <p:nvPr/>
        </p:nvSpPr>
        <p:spPr>
          <a:xfrm>
            <a:off x="548640" y="4297680"/>
            <a:ext cx="2103120" cy="1417320"/>
          </a:xfrm>
          <a:prstGeom prst="rect">
            <a:avLst/>
          </a:prstGeom>
          <a:solidFill>
            <a:schemeClr val="tx2"/>
          </a:solidFill>
          <a:ln/>
        </p:spPr>
      </p:sp>
      <p:sp>
        <p:nvSpPr>
          <p:cNvPr id="11" name="Text 8"/>
          <p:cNvSpPr txBox="1"/>
          <p:nvPr/>
        </p:nvSpPr>
        <p:spPr>
          <a:xfrm>
            <a:off x="68580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The stylist sees who booked and what she bought before.</a:t>
            </a:r>
            <a:endParaRPr lang="en-US" sz="1200" dirty="0"/>
          </a:p>
        </p:txBody>
      </p:sp>
      <p:sp>
        <p:nvSpPr>
          <p:cNvPr id="12" name="Shape 9"/>
          <p:cNvSpPr/>
          <p:nvPr/>
        </p:nvSpPr>
        <p:spPr>
          <a:xfrm>
            <a:off x="2788920" y="1691640"/>
            <a:ext cx="2103120" cy="594360"/>
          </a:xfrm>
          <a:prstGeom prst="homePlate">
            <a:avLst/>
          </a:prstGeom>
          <a:solidFill>
            <a:schemeClr val="accent1"/>
          </a:solidFill>
          <a:ln/>
        </p:spPr>
      </p:sp>
      <p:sp>
        <p:nvSpPr>
          <p:cNvPr id="13" name="Text 10"/>
          <p:cNvSpPr txBox="1"/>
          <p:nvPr/>
        </p:nvSpPr>
        <p:spPr>
          <a:xfrm>
            <a:off x="292608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2  Plan</a:t>
            </a:r>
            <a:endParaRPr lang="en-US" sz="1400" dirty="0"/>
          </a:p>
        </p:txBody>
      </p:sp>
      <p:sp>
        <p:nvSpPr>
          <p:cNvPr id="14" name="Client 2"/>
          <p:cNvSpPr/>
          <p:nvPr/>
        </p:nvSpPr>
        <p:spPr>
          <a:xfrm>
            <a:off x="2788920" y="2377440"/>
            <a:ext cx="2103120" cy="1554480"/>
          </a:xfrm>
          <a:prstGeom prst="rect">
            <a:avLst/>
          </a:prstGeom>
          <a:solidFill>
            <a:schemeClr val="bg2"/>
          </a:solidFill>
          <a:ln/>
        </p:spPr>
      </p:sp>
      <p:sp>
        <p:nvSpPr>
          <p:cNvPr id="15" name="Shape 12"/>
          <p:cNvSpPr/>
          <p:nvPr/>
        </p:nvSpPr>
        <p:spPr>
          <a:xfrm>
            <a:off x="2926080" y="2468880"/>
            <a:ext cx="411480" cy="411480"/>
          </a:xfrm>
          <a:prstGeom prst="ellipse">
            <a:avLst/>
          </a:prstGeom>
          <a:solidFill>
            <a:srgbClr val="D52B1E"/>
          </a:solidFill>
          <a:ln/>
        </p:spPr>
      </p:sp>
      <p:pic>
        <p:nvPicPr>
          <p:cNvPr id="16" name="Image 1" descr="icon">    </p:cNvPr>
          <p:cNvPicPr>
            <a:picLocks noChangeAspect="1"/>
          </p:cNvPicPr>
          <p:nvPr/>
        </p:nvPicPr>
        <p:blipFill>
          <a:blip r:embed="rId2"/>
          <a:stretch>
            <a:fillRect/>
          </a:stretch>
        </p:blipFill>
        <p:spPr>
          <a:xfrm>
            <a:off x="3028950" y="2571750"/>
            <a:ext cx="205740" cy="205740"/>
          </a:xfrm>
          <a:prstGeom prst="rect">
            <a:avLst/>
          </a:prstGeom>
        </p:spPr>
      </p:pic>
      <p:sp>
        <p:nvSpPr>
          <p:cNvPr id="17" name="Text 13"/>
          <p:cNvSpPr txBox="1"/>
          <p:nvPr/>
        </p:nvSpPr>
        <p:spPr>
          <a:xfrm>
            <a:off x="292608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A stylist joins by video, already knowing her past purchases.</a:t>
            </a:r>
            <a:endParaRPr lang="en-US" sz="1200" dirty="0"/>
          </a:p>
        </p:txBody>
      </p:sp>
      <p:sp>
        <p:nvSpPr>
          <p:cNvPr id="18" name="Colleague 2"/>
          <p:cNvSpPr/>
          <p:nvPr/>
        </p:nvSpPr>
        <p:spPr>
          <a:xfrm>
            <a:off x="2788920" y="4297680"/>
            <a:ext cx="2103120" cy="1417320"/>
          </a:xfrm>
          <a:prstGeom prst="rect">
            <a:avLst/>
          </a:prstGeom>
          <a:solidFill>
            <a:schemeClr val="tx2"/>
          </a:solidFill>
          <a:ln/>
        </p:spPr>
      </p:sp>
      <p:sp>
        <p:nvSpPr>
          <p:cNvPr id="19" name="Text 15"/>
          <p:cNvSpPr txBox="1"/>
          <p:nvPr/>
        </p:nvSpPr>
        <p:spPr>
          <a:xfrm>
            <a:off x="292608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The stylist prepares looks from one profile and live stock.</a:t>
            </a:r>
            <a:endParaRPr lang="en-US" sz="1200" dirty="0"/>
          </a:p>
        </p:txBody>
      </p:sp>
      <p:sp>
        <p:nvSpPr>
          <p:cNvPr id="20" name="Shape 16"/>
          <p:cNvSpPr/>
          <p:nvPr/>
        </p:nvSpPr>
        <p:spPr>
          <a:xfrm>
            <a:off x="5029200" y="1691640"/>
            <a:ext cx="2103120" cy="594360"/>
          </a:xfrm>
          <a:prstGeom prst="homePlate">
            <a:avLst/>
          </a:prstGeom>
          <a:solidFill>
            <a:schemeClr val="accent1"/>
          </a:solidFill>
          <a:ln/>
        </p:spPr>
      </p:sp>
      <p:sp>
        <p:nvSpPr>
          <p:cNvPr id="21" name="Text 17"/>
          <p:cNvSpPr txBox="1"/>
          <p:nvPr/>
        </p:nvSpPr>
        <p:spPr>
          <a:xfrm>
            <a:off x="516636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3  Visit</a:t>
            </a:r>
            <a:endParaRPr lang="en-US" sz="1400" dirty="0"/>
          </a:p>
        </p:txBody>
      </p:sp>
      <p:sp>
        <p:nvSpPr>
          <p:cNvPr id="22" name="Client 3"/>
          <p:cNvSpPr/>
          <p:nvPr/>
        </p:nvSpPr>
        <p:spPr>
          <a:xfrm>
            <a:off x="5029200" y="2377440"/>
            <a:ext cx="2103120" cy="1554480"/>
          </a:xfrm>
          <a:prstGeom prst="rect">
            <a:avLst/>
          </a:prstGeom>
          <a:solidFill>
            <a:schemeClr val="bg2"/>
          </a:solidFill>
          <a:ln/>
        </p:spPr>
      </p:sp>
      <p:sp>
        <p:nvSpPr>
          <p:cNvPr id="23" name="Shape 19"/>
          <p:cNvSpPr/>
          <p:nvPr/>
        </p:nvSpPr>
        <p:spPr>
          <a:xfrm>
            <a:off x="5166360" y="2468880"/>
            <a:ext cx="411480" cy="411480"/>
          </a:xfrm>
          <a:prstGeom prst="ellipse">
            <a:avLst/>
          </a:prstGeom>
          <a:solidFill>
            <a:srgbClr val="D52B1E"/>
          </a:solidFill>
          <a:ln/>
        </p:spPr>
      </p:sp>
      <p:pic>
        <p:nvPicPr>
          <p:cNvPr id="24" name="Image 2" descr="icon">    </p:cNvPr>
          <p:cNvPicPr>
            <a:picLocks noChangeAspect="1"/>
          </p:cNvPicPr>
          <p:nvPr/>
        </p:nvPicPr>
        <p:blipFill>
          <a:blip r:embed="rId3"/>
          <a:stretch>
            <a:fillRect/>
          </a:stretch>
        </p:blipFill>
        <p:spPr>
          <a:xfrm>
            <a:off x="5269230" y="2571750"/>
            <a:ext cx="205740" cy="205740"/>
          </a:xfrm>
          <a:prstGeom prst="rect">
            <a:avLst/>
          </a:prstGeom>
        </p:spPr>
      </p:pic>
      <p:sp>
        <p:nvSpPr>
          <p:cNvPr id="25" name="Text 20"/>
          <p:cNvSpPr txBox="1"/>
          <p:nvPr/>
        </p:nvSpPr>
        <p:spPr>
          <a:xfrm>
            <a:off x="516636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She is greeted by name and her chosen pieces are ready to try.</a:t>
            </a:r>
            <a:endParaRPr lang="en-US" sz="1200" dirty="0"/>
          </a:p>
        </p:txBody>
      </p:sp>
      <p:sp>
        <p:nvSpPr>
          <p:cNvPr id="26" name="Colleague 3"/>
          <p:cNvSpPr/>
          <p:nvPr/>
        </p:nvSpPr>
        <p:spPr>
          <a:xfrm>
            <a:off x="5029200" y="4297680"/>
            <a:ext cx="2103120" cy="1417320"/>
          </a:xfrm>
          <a:prstGeom prst="rect">
            <a:avLst/>
          </a:prstGeom>
          <a:solidFill>
            <a:schemeClr val="tx2"/>
          </a:solidFill>
          <a:ln/>
        </p:spPr>
      </p:sp>
      <p:sp>
        <p:nvSpPr>
          <p:cNvPr id="27" name="Text 22"/>
          <p:cNvSpPr txBox="1"/>
          <p:nvPr/>
        </p:nvSpPr>
        <p:spPr>
          <a:xfrm>
            <a:off x="516636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The associate sees her history and stock on one screen.</a:t>
            </a:r>
            <a:endParaRPr lang="en-US" sz="1200" dirty="0"/>
          </a:p>
        </p:txBody>
      </p:sp>
      <p:sp>
        <p:nvSpPr>
          <p:cNvPr id="28" name="Shape 23"/>
          <p:cNvSpPr/>
          <p:nvPr/>
        </p:nvSpPr>
        <p:spPr>
          <a:xfrm>
            <a:off x="7269480" y="1691640"/>
            <a:ext cx="2103120" cy="594360"/>
          </a:xfrm>
          <a:prstGeom prst="homePlate">
            <a:avLst/>
          </a:prstGeom>
          <a:solidFill>
            <a:schemeClr val="accent1"/>
          </a:solidFill>
          <a:ln/>
        </p:spPr>
      </p:sp>
      <p:sp>
        <p:nvSpPr>
          <p:cNvPr id="29" name="Text 24"/>
          <p:cNvSpPr txBox="1"/>
          <p:nvPr/>
        </p:nvSpPr>
        <p:spPr>
          <a:xfrm>
            <a:off x="740664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4  Take home</a:t>
            </a:r>
            <a:endParaRPr lang="en-US" sz="1400" dirty="0"/>
          </a:p>
        </p:txBody>
      </p:sp>
      <p:sp>
        <p:nvSpPr>
          <p:cNvPr id="30" name="Client 4"/>
          <p:cNvSpPr/>
          <p:nvPr/>
        </p:nvSpPr>
        <p:spPr>
          <a:xfrm>
            <a:off x="7269480" y="2377440"/>
            <a:ext cx="2103120" cy="1554480"/>
          </a:xfrm>
          <a:prstGeom prst="rect">
            <a:avLst/>
          </a:prstGeom>
          <a:solidFill>
            <a:schemeClr val="bg2"/>
          </a:solidFill>
          <a:ln/>
        </p:spPr>
      </p:sp>
      <p:sp>
        <p:nvSpPr>
          <p:cNvPr id="31" name="Shape 26"/>
          <p:cNvSpPr/>
          <p:nvPr/>
        </p:nvSpPr>
        <p:spPr>
          <a:xfrm>
            <a:off x="7406640" y="2468880"/>
            <a:ext cx="411480" cy="411480"/>
          </a:xfrm>
          <a:prstGeom prst="ellipse">
            <a:avLst/>
          </a:prstGeom>
          <a:solidFill>
            <a:srgbClr val="D52B1E"/>
          </a:solidFill>
          <a:ln/>
        </p:spPr>
      </p:sp>
      <p:pic>
        <p:nvPicPr>
          <p:cNvPr id="32" name="Image 3" descr="icon">    </p:cNvPr>
          <p:cNvPicPr>
            <a:picLocks noChangeAspect="1"/>
          </p:cNvPicPr>
          <p:nvPr/>
        </p:nvPicPr>
        <p:blipFill>
          <a:blip r:embed="rId4"/>
          <a:stretch>
            <a:fillRect/>
          </a:stretch>
        </p:blipFill>
        <p:spPr>
          <a:xfrm>
            <a:off x="7509510" y="2571750"/>
            <a:ext cx="205740" cy="205740"/>
          </a:xfrm>
          <a:prstGeom prst="rect">
            <a:avLst/>
          </a:prstGeom>
        </p:spPr>
      </p:pic>
      <p:sp>
        <p:nvSpPr>
          <p:cNvPr id="33" name="Text 27"/>
          <p:cNvSpPr txBox="1"/>
          <p:nvPr/>
        </p:nvSpPr>
        <p:spPr>
          <a:xfrm>
            <a:off x="740664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Her purchase arrives on time, and a return is simple.</a:t>
            </a:r>
            <a:endParaRPr lang="en-US" sz="1200" dirty="0"/>
          </a:p>
        </p:txBody>
      </p:sp>
      <p:sp>
        <p:nvSpPr>
          <p:cNvPr id="34" name="Colleague 4"/>
          <p:cNvSpPr/>
          <p:nvPr/>
        </p:nvSpPr>
        <p:spPr>
          <a:xfrm>
            <a:off x="7269480" y="4297680"/>
            <a:ext cx="2103120" cy="1417320"/>
          </a:xfrm>
          <a:prstGeom prst="rect">
            <a:avLst/>
          </a:prstGeom>
          <a:solidFill>
            <a:schemeClr val="tx2"/>
          </a:solidFill>
          <a:ln/>
        </p:spPr>
      </p:sp>
      <p:sp>
        <p:nvSpPr>
          <p:cNvPr id="35" name="Text 29"/>
          <p:cNvSpPr txBox="1"/>
          <p:nvPr/>
        </p:nvSpPr>
        <p:spPr>
          <a:xfrm>
            <a:off x="740664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Store or online team books delivery from one stock view, no re-keying.</a:t>
            </a:r>
            <a:endParaRPr lang="en-US" sz="1200" dirty="0"/>
          </a:p>
        </p:txBody>
      </p:sp>
      <p:sp>
        <p:nvSpPr>
          <p:cNvPr id="36" name="Shape 30"/>
          <p:cNvSpPr/>
          <p:nvPr/>
        </p:nvSpPr>
        <p:spPr>
          <a:xfrm>
            <a:off x="9509760" y="1691640"/>
            <a:ext cx="2103120" cy="594360"/>
          </a:xfrm>
          <a:prstGeom prst="homePlate">
            <a:avLst/>
          </a:prstGeom>
          <a:solidFill>
            <a:schemeClr val="accent1"/>
          </a:solidFill>
          <a:ln/>
        </p:spPr>
      </p:sp>
      <p:sp>
        <p:nvSpPr>
          <p:cNvPr id="37" name="Text 31"/>
          <p:cNvSpPr txBox="1"/>
          <p:nvPr/>
        </p:nvSpPr>
        <p:spPr>
          <a:xfrm>
            <a:off x="964692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5  Return</a:t>
            </a:r>
            <a:endParaRPr lang="en-US" sz="1400" dirty="0"/>
          </a:p>
        </p:txBody>
      </p:sp>
      <p:sp>
        <p:nvSpPr>
          <p:cNvPr id="38" name="Client 5"/>
          <p:cNvSpPr/>
          <p:nvPr/>
        </p:nvSpPr>
        <p:spPr>
          <a:xfrm>
            <a:off x="9509760" y="2377440"/>
            <a:ext cx="2103120" cy="1554480"/>
          </a:xfrm>
          <a:prstGeom prst="rect">
            <a:avLst/>
          </a:prstGeom>
          <a:solidFill>
            <a:schemeClr val="bg2"/>
          </a:solidFill>
          <a:ln/>
        </p:spPr>
      </p:sp>
      <p:sp>
        <p:nvSpPr>
          <p:cNvPr id="39" name="Shape 33"/>
          <p:cNvSpPr/>
          <p:nvPr/>
        </p:nvSpPr>
        <p:spPr>
          <a:xfrm>
            <a:off x="9646920" y="2468880"/>
            <a:ext cx="411480" cy="411480"/>
          </a:xfrm>
          <a:prstGeom prst="ellipse">
            <a:avLst/>
          </a:prstGeom>
          <a:solidFill>
            <a:srgbClr val="D52B1E"/>
          </a:solidFill>
          <a:ln/>
        </p:spPr>
      </p:sp>
      <p:pic>
        <p:nvPicPr>
          <p:cNvPr id="40" name="Image 4" descr="icon">    </p:cNvPr>
          <p:cNvPicPr>
            <a:picLocks noChangeAspect="1"/>
          </p:cNvPicPr>
          <p:nvPr/>
        </p:nvPicPr>
        <p:blipFill>
          <a:blip r:embed="rId5"/>
          <a:stretch>
            <a:fillRect/>
          </a:stretch>
        </p:blipFill>
        <p:spPr>
          <a:xfrm>
            <a:off x="9749790" y="2571750"/>
            <a:ext cx="205740" cy="205740"/>
          </a:xfrm>
          <a:prstGeom prst="rect">
            <a:avLst/>
          </a:prstGeom>
        </p:spPr>
      </p:pic>
      <p:sp>
        <p:nvSpPr>
          <p:cNvPr id="41" name="Text 34"/>
          <p:cNvSpPr txBox="1"/>
          <p:nvPr/>
        </p:nvSpPr>
        <p:spPr>
          <a:xfrm>
            <a:off x="964692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Her stylist follows up with looks she will like and event invitations.</a:t>
            </a:r>
            <a:endParaRPr lang="en-US" sz="1200" dirty="0"/>
          </a:p>
        </p:txBody>
      </p:sp>
      <p:sp>
        <p:nvSpPr>
          <p:cNvPr id="42" name="Colleague 5"/>
          <p:cNvSpPr/>
          <p:nvPr/>
        </p:nvSpPr>
        <p:spPr>
          <a:xfrm>
            <a:off x="9509760" y="4297680"/>
            <a:ext cx="2103120" cy="1417320"/>
          </a:xfrm>
          <a:prstGeom prst="rect">
            <a:avLst/>
          </a:prstGeom>
          <a:solidFill>
            <a:schemeClr val="tx2"/>
          </a:solidFill>
          <a:ln/>
        </p:spPr>
      </p:sp>
      <p:sp>
        <p:nvSpPr>
          <p:cNvPr id="43" name="Text 36"/>
          <p:cNvSpPr txBox="1"/>
          <p:nvPr/>
        </p:nvSpPr>
        <p:spPr>
          <a:xfrm>
            <a:off x="964692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The follow-up comes from the same profile; managers see results in one view.</a:t>
            </a:r>
            <a:endParaRPr lang="en-US" sz="1200" dirty="0"/>
          </a:p>
        </p:txBody>
      </p:sp>
      <p:sp>
        <p:nvSpPr>
          <p:cNvPr id="44" name="Text 37"/>
          <p:cNvSpPr txBox="1"/>
          <p:nvPr/>
        </p:nvSpPr>
        <p:spPr>
          <a:xfrm>
            <a:off x="548640" y="4023360"/>
            <a:ext cx="4572000" cy="274320"/>
          </a:xfrm>
          <a:prstGeom prst="rect">
            <a:avLst/>
          </a:prstGeom>
          <a:noFill/>
          <a:ln/>
        </p:spPr>
        <p:txBody>
          <a:bodyPr wrap="square" lIns="0" tIns="0" rIns="0" bIns="0" rtlCol="0" anchor="t"/>
          <a:lstStyle/>
          <a:p>
            <a:pPr indent="0" marL="0">
              <a:buNone/>
            </a:pPr>
            <a:r>
              <a:rPr lang="en-US" sz="1100" b="1" spc="200" kern="0" dirty="0">
                <a:solidFill>
                  <a:schemeClr val="tx2"/>
                </a:solidFill>
              </a:rPr>
              <a:t>THE COLLEAGUE WHO SERVES HER</a:t>
            </a:r>
            <a:endParaRPr lang="en-US" sz="1100" dirty="0"/>
          </a:p>
        </p:txBody>
      </p:sp>
      <p:sp>
        <p:nvSpPr>
          <p:cNvPr id="45" name="Text 38"/>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One profile and one stock view lift the client’s experience and end the manual data reconciling staff dislike.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The data pack points to four opportunities beyond what the client asked for</a:t>
            </a:r>
            <a:endParaRPr lang="en-US" sz="2800" dirty="0"/>
          </a:p>
        </p:txBody>
      </p:sp>
      <p:sp>
        <p:nvSpPr>
          <p:cNvPr id="3" name="Opportunity 1"/>
          <p:cNvSpPr/>
          <p:nvPr/>
        </p:nvSpPr>
        <p:spPr>
          <a:xfrm>
            <a:off x="548640" y="1508760"/>
            <a:ext cx="5440680" cy="2194560"/>
          </a:xfrm>
          <a:prstGeom prst="rect">
            <a:avLst/>
          </a:prstGeom>
          <a:solidFill>
            <a:schemeClr val="bg2"/>
          </a:solidFill>
          <a:ln/>
        </p:spPr>
      </p:sp>
      <p:sp>
        <p:nvSpPr>
          <p:cNvPr id="4" name="Shape 2"/>
          <p:cNvSpPr/>
          <p:nvPr/>
        </p:nvSpPr>
        <p:spPr>
          <a:xfrm>
            <a:off x="777240" y="1737360"/>
            <a:ext cx="640080" cy="640080"/>
          </a:xfrm>
          <a:prstGeom prst="ellipse">
            <a:avLst/>
          </a:prstGeom>
          <a:solidFill>
            <a:srgbClr val="D52B1E"/>
          </a:solidFill>
          <a:ln/>
        </p:spPr>
      </p:sp>
      <p:pic>
        <p:nvPicPr>
          <p:cNvPr id="5" name="Image 0" descr="icon">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1600200" y="173736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Serve the global audience</a:t>
            </a:r>
            <a:endParaRPr lang="en-US" sz="1600" dirty="0"/>
          </a:p>
        </p:txBody>
      </p:sp>
      <p:sp>
        <p:nvSpPr>
          <p:cNvPr id="7" name="Text 4"/>
          <p:cNvSpPr txBox="1"/>
          <p:nvPr/>
        </p:nvSpPr>
        <p:spPr>
          <a:xfrm>
            <a:off x="777240" y="2514600"/>
            <a:ext cx="5029200" cy="1143000"/>
          </a:xfrm>
          <a:prstGeom prst="rect">
            <a:avLst/>
          </a:prstGeom>
          <a:noFill/>
          <a:ln/>
        </p:spPr>
        <p:txBody>
          <a:bodyPr wrap="square" lIns="0" tIns="0" rIns="0" bIns="0" rtlCol="0" anchor="t"/>
          <a:lstStyle/>
          <a:p>
            <a:pPr indent="0" marL="0">
              <a:buNone/>
            </a:pPr>
            <a:r>
              <a:rPr lang="en-US" sz="1300" dirty="0">
                <a:solidFill>
                  <a:schemeClr val="tx1"/>
                </a:solidFill>
              </a:rPr>
              <a:t>58% of web visits are non-UK: US 29%, China 13%, Japan 6%. An international client desk in London and Orlando could turn that interest into appointments and sales.</a:t>
            </a:r>
            <a:endParaRPr lang="en-US" sz="1300" dirty="0"/>
          </a:p>
        </p:txBody>
      </p:sp>
      <p:sp>
        <p:nvSpPr>
          <p:cNvPr id="8" name="Opportunity 2"/>
          <p:cNvSpPr/>
          <p:nvPr/>
        </p:nvSpPr>
        <p:spPr>
          <a:xfrm>
            <a:off x="6172200" y="1508760"/>
            <a:ext cx="5440680" cy="2194560"/>
          </a:xfrm>
          <a:prstGeom prst="rect">
            <a:avLst/>
          </a:prstGeom>
          <a:solidFill>
            <a:schemeClr val="bg2"/>
          </a:solidFill>
          <a:ln/>
        </p:spPr>
      </p:sp>
      <p:sp>
        <p:nvSpPr>
          <p:cNvPr id="9" name="Shape 6"/>
          <p:cNvSpPr/>
          <p:nvPr/>
        </p:nvSpPr>
        <p:spPr>
          <a:xfrm>
            <a:off x="6400800" y="1737360"/>
            <a:ext cx="640080" cy="640080"/>
          </a:xfrm>
          <a:prstGeom prst="ellipse">
            <a:avLst/>
          </a:prstGeom>
          <a:solidFill>
            <a:srgbClr val="D52B1E"/>
          </a:solidFill>
          <a:ln/>
        </p:spPr>
      </p:sp>
      <p:pic>
        <p:nvPicPr>
          <p:cNvPr id="10" name="Image 1" descr="icon">    </p:cNvPr>
          <p:cNvPicPr>
            <a:picLocks noChangeAspect="1"/>
          </p:cNvPicPr>
          <p:nvPr/>
        </p:nvPicPr>
        <p:blipFill>
          <a:blip r:embed="rId2"/>
          <a:stretch>
            <a:fillRect/>
          </a:stretch>
        </p:blipFill>
        <p:spPr>
          <a:xfrm>
            <a:off x="6560820" y="1897380"/>
            <a:ext cx="320040" cy="320040"/>
          </a:xfrm>
          <a:prstGeom prst="rect">
            <a:avLst/>
          </a:prstGeom>
        </p:spPr>
      </p:pic>
      <p:sp>
        <p:nvSpPr>
          <p:cNvPr id="11" name="Text 7"/>
          <p:cNvSpPr txBox="1"/>
          <p:nvPr/>
        </p:nvSpPr>
        <p:spPr>
          <a:xfrm>
            <a:off x="7223760" y="173736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Fix online friction, fulfil from Birmingham</a:t>
            </a:r>
            <a:endParaRPr lang="en-US" sz="1600" dirty="0"/>
          </a:p>
        </p:txBody>
      </p:sp>
      <p:sp>
        <p:nvSpPr>
          <p:cNvPr id="12" name="Text 8"/>
          <p:cNvSpPr txBox="1"/>
          <p:nvPr/>
        </p:nvSpPr>
        <p:spPr>
          <a:xfrm>
            <a:off x="6400800" y="2514600"/>
            <a:ext cx="5029200" cy="1143000"/>
          </a:xfrm>
          <a:prstGeom prst="rect">
            <a:avLst/>
          </a:prstGeom>
          <a:noFill/>
          <a:ln/>
        </p:spPr>
        <p:txBody>
          <a:bodyPr wrap="square" lIns="0" tIns="0" rIns="0" bIns="0" rtlCol="0" anchor="t"/>
          <a:lstStyle/>
          <a:p>
            <a:pPr indent="0" marL="0">
              <a:buNone/>
            </a:pPr>
            <a:r>
              <a:rPr lang="en-US" sz="1300" dirty="0">
                <a:solidFill>
                  <a:schemeClr val="tx1"/>
                </a:solidFill>
              </a:rPr>
              <a:t>Delivery FAQ and contact-us draw 279,911 views. Birmingham’s large stock room, planned in FY-4 to hold online stock, could become the online fulfilment hub.</a:t>
            </a:r>
            <a:endParaRPr lang="en-US" sz="1300" dirty="0"/>
          </a:p>
        </p:txBody>
      </p:sp>
      <p:sp>
        <p:nvSpPr>
          <p:cNvPr id="13" name="Opportunity 3"/>
          <p:cNvSpPr/>
          <p:nvPr/>
        </p:nvSpPr>
        <p:spPr>
          <a:xfrm>
            <a:off x="548640" y="3840480"/>
            <a:ext cx="5440680" cy="2194560"/>
          </a:xfrm>
          <a:prstGeom prst="rect">
            <a:avLst/>
          </a:prstGeom>
          <a:solidFill>
            <a:schemeClr val="bg2"/>
          </a:solidFill>
          <a:ln/>
        </p:spPr>
      </p:sp>
      <p:sp>
        <p:nvSpPr>
          <p:cNvPr id="14" name="Shape 10"/>
          <p:cNvSpPr/>
          <p:nvPr/>
        </p:nvSpPr>
        <p:spPr>
          <a:xfrm>
            <a:off x="777240" y="4069080"/>
            <a:ext cx="640080" cy="640080"/>
          </a:xfrm>
          <a:prstGeom prst="ellipse">
            <a:avLst/>
          </a:prstGeom>
          <a:solidFill>
            <a:srgbClr val="D52B1E"/>
          </a:solidFill>
          <a:ln/>
        </p:spPr>
      </p:sp>
      <p:pic>
        <p:nvPicPr>
          <p:cNvPr id="15" name="Image 2" descr="icon">    </p:cNvPr>
          <p:cNvPicPr>
            <a:picLocks noChangeAspect="1"/>
          </p:cNvPicPr>
          <p:nvPr/>
        </p:nvPicPr>
        <p:blipFill>
          <a:blip r:embed="rId3"/>
          <a:stretch>
            <a:fillRect/>
          </a:stretch>
        </p:blipFill>
        <p:spPr>
          <a:xfrm>
            <a:off x="937260" y="4229100"/>
            <a:ext cx="320040" cy="320040"/>
          </a:xfrm>
          <a:prstGeom prst="rect">
            <a:avLst/>
          </a:prstGeom>
        </p:spPr>
      </p:pic>
      <p:sp>
        <p:nvSpPr>
          <p:cNvPr id="16" name="Text 11"/>
          <p:cNvSpPr txBox="1"/>
          <p:nvPr/>
        </p:nvSpPr>
        <p:spPr>
          <a:xfrm>
            <a:off x="1600200" y="406908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Test golf as a niche</a:t>
            </a:r>
            <a:endParaRPr lang="en-US" sz="1600" dirty="0"/>
          </a:p>
        </p:txBody>
      </p:sp>
      <p:sp>
        <p:nvSpPr>
          <p:cNvPr id="17" name="Text 12"/>
          <p:cNvSpPr txBox="1"/>
          <p:nvPr/>
        </p:nvSpPr>
        <p:spPr>
          <a:xfrm>
            <a:off x="777240" y="4846320"/>
            <a:ext cx="5029200" cy="1143000"/>
          </a:xfrm>
          <a:prstGeom prst="rect">
            <a:avLst/>
          </a:prstGeom>
          <a:noFill/>
          <a:ln/>
        </p:spPr>
        <p:txBody>
          <a:bodyPr wrap="square" lIns="0" tIns="0" rIns="0" bIns="0" rtlCol="0" anchor="t"/>
          <a:lstStyle/>
          <a:p>
            <a:pPr indent="0" marL="0">
              <a:buNone/>
            </a:pPr>
            <a:r>
              <a:rPr lang="en-US" sz="1300" dirty="0">
                <a:solidFill>
                  <a:schemeClr val="tx1"/>
                </a:solidFill>
              </a:rPr>
              <a:t>‘High end golf apparel’ brings 105,384 visits, 10.7% of the total, but the Golf Store page gets 29,464 views. Test a golf capsule and a fitting studio.</a:t>
            </a:r>
            <a:endParaRPr lang="en-US" sz="1300" dirty="0"/>
          </a:p>
        </p:txBody>
      </p:sp>
      <p:sp>
        <p:nvSpPr>
          <p:cNvPr id="18" name="Opportunity 4"/>
          <p:cNvSpPr/>
          <p:nvPr/>
        </p:nvSpPr>
        <p:spPr>
          <a:xfrm>
            <a:off x="6172200" y="3840480"/>
            <a:ext cx="5440680" cy="2194560"/>
          </a:xfrm>
          <a:prstGeom prst="rect">
            <a:avLst/>
          </a:prstGeom>
          <a:solidFill>
            <a:schemeClr val="bg2"/>
          </a:solidFill>
          <a:ln/>
        </p:spPr>
      </p:sp>
      <p:sp>
        <p:nvSpPr>
          <p:cNvPr id="19" name="Shape 14"/>
          <p:cNvSpPr/>
          <p:nvPr/>
        </p:nvSpPr>
        <p:spPr>
          <a:xfrm>
            <a:off x="6400800" y="4069080"/>
            <a:ext cx="640080" cy="640080"/>
          </a:xfrm>
          <a:prstGeom prst="ellipse">
            <a:avLst/>
          </a:prstGeom>
          <a:solidFill>
            <a:srgbClr val="D52B1E"/>
          </a:solidFill>
          <a:ln/>
        </p:spPr>
      </p:sp>
      <p:pic>
        <p:nvPicPr>
          <p:cNvPr id="20" name="Image 3" descr="icon">    </p:cNvPr>
          <p:cNvPicPr>
            <a:picLocks noChangeAspect="1"/>
          </p:cNvPicPr>
          <p:nvPr/>
        </p:nvPicPr>
        <p:blipFill>
          <a:blip r:embed="rId4"/>
          <a:stretch>
            <a:fillRect/>
          </a:stretch>
        </p:blipFill>
        <p:spPr>
          <a:xfrm>
            <a:off x="6560820" y="4229100"/>
            <a:ext cx="320040" cy="320040"/>
          </a:xfrm>
          <a:prstGeom prst="rect">
            <a:avLst/>
          </a:prstGeom>
        </p:spPr>
      </p:pic>
      <p:sp>
        <p:nvSpPr>
          <p:cNvPr id="21" name="Text 15"/>
          <p:cNvSpPr txBox="1"/>
          <p:nvPr/>
        </p:nvSpPr>
        <p:spPr>
          <a:xfrm>
            <a:off x="7223760" y="4069080"/>
            <a:ext cx="4206240" cy="640080"/>
          </a:xfrm>
          <a:prstGeom prst="rect">
            <a:avLst/>
          </a:prstGeom>
          <a:noFill/>
          <a:ln/>
        </p:spPr>
        <p:txBody>
          <a:bodyPr wrap="square" lIns="0" tIns="0" rIns="0" bIns="0" rtlCol="0" anchor="ctr"/>
          <a:lstStyle/>
          <a:p>
            <a:pPr indent="0" marL="0">
              <a:buNone/>
            </a:pPr>
            <a:r>
              <a:rPr lang="en-US" sz="1600" b="1" dirty="0">
                <a:solidFill>
                  <a:schemeClr val="tx1"/>
                </a:solidFill>
              </a:rPr>
              <a:t>Learn from Orlando’s cost model</a:t>
            </a:r>
            <a:endParaRPr lang="en-US" sz="1600" dirty="0"/>
          </a:p>
        </p:txBody>
      </p:sp>
      <p:sp>
        <p:nvSpPr>
          <p:cNvPr id="22" name="Text 16"/>
          <p:cNvSpPr txBox="1"/>
          <p:nvPr/>
        </p:nvSpPr>
        <p:spPr>
          <a:xfrm>
            <a:off x="6400800" y="4846320"/>
            <a:ext cx="5029200" cy="1143000"/>
          </a:xfrm>
          <a:prstGeom prst="rect">
            <a:avLst/>
          </a:prstGeom>
          <a:noFill/>
          <a:ln/>
        </p:spPr>
        <p:txBody>
          <a:bodyPr wrap="square" lIns="0" tIns="0" rIns="0" bIns="0" rtlCol="0" anchor="t"/>
          <a:lstStyle/>
          <a:p>
            <a:pPr indent="0" marL="0">
              <a:buNone/>
            </a:pPr>
            <a:r>
              <a:rPr lang="en-US" sz="1300" dirty="0">
                <a:solidFill>
                  <a:schemeClr val="tx1"/>
                </a:solidFill>
              </a:rPr>
              <a:t>Orlando earns a 15.5% margin with logistics at 13.3% and admin at 5.2% of revenue, against 17.5% and 8.6% for the group, yet its sales fell 9%.</a:t>
            </a:r>
            <a:endParaRPr lang="en-US" sz="1300" dirty="0"/>
          </a:p>
        </p:txBody>
      </p:sp>
      <p:sp>
        <p:nvSpPr>
          <p:cNvPr id="23" name="Text 17"/>
          <p:cNvSpPr txBox="1"/>
          <p:nvPr/>
        </p:nvSpPr>
        <p:spPr>
          <a:xfrm>
            <a:off x="548640" y="6126480"/>
            <a:ext cx="11064240" cy="274320"/>
          </a:xfrm>
          <a:prstGeom prst="rect">
            <a:avLst/>
          </a:prstGeom>
          <a:noFill/>
          <a:ln/>
        </p:spPr>
        <p:txBody>
          <a:bodyPr wrap="square" lIns="0" tIns="0" rIns="0" bIns="0" rtlCol="0" anchor="t"/>
          <a:lstStyle/>
          <a:p>
            <a:pPr indent="0" marL="0">
              <a:buNone/>
            </a:pPr>
            <a:r>
              <a:rPr lang="en-US" sz="1000" dirty="0">
                <a:solidFill>
                  <a:schemeClr val="tx2"/>
                </a:solidFill>
              </a:rPr>
              <a:t>Ideas to test with Jesse (buying) and Anshu (marketing) on Day 2; not yet sized.</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Technology serves the experience; the IT leadership gap must be closed first</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743200"/>
                <a:gridCol w="4754880"/>
                <a:gridCol w="1188720"/>
                <a:gridCol w="1188720"/>
                <a:gridCol w="1188720"/>
              </a:tblGrid>
              <a:tr h="457200">
                <a:tc>
                  <a:txBody>
                    <a:bodyPr/>
                    <a:lstStyle/>
                    <a:p>
                      <a:pPr algn="l" indent="0" marL="0">
                        <a:buNone/>
                      </a:pPr>
                      <a:r>
                        <a:rPr lang="en-US" sz="1300" b="1" dirty="0">
                          <a:solidFill>
                            <a:schemeClr val="bg1"/>
                          </a:solidFill>
                        </a:rPr>
                        <a:t>Capability</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What it does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Experience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Margin</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People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r>
              <a:tr h="749808">
                <a:tc>
                  <a:txBody>
                    <a:bodyPr/>
                    <a:lstStyle/>
                    <a:p>
                      <a:pPr indent="0" marL="0">
                        <a:buNone/>
                      </a:pPr>
                      <a:r>
                        <a:rPr lang="en-US" sz="1300" b="1" dirty="0">
                          <a:solidFill>
                            <a:schemeClr val="tx1"/>
                          </a:solidFill>
                        </a:rPr>
                        <a:t>One client profile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A single view of each client for associates, stylists and the online team</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749808">
                <a:tc>
                  <a:txBody>
                    <a:bodyPr/>
                    <a:lstStyle/>
                    <a:p>
                      <a:pPr indent="0" marL="0">
                        <a:buNone/>
                      </a:pPr>
                      <a:r>
                        <a:rPr lang="en-US" sz="1300" b="1" dirty="0">
                          <a:solidFill>
                            <a:schemeClr val="tx1"/>
                          </a:solidFill>
                        </a:rPr>
                        <a:t>One stock view</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Brings SAP, Oracle and online stock together; ends double-ups and the nightly upload lag</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749808">
                <a:tc>
                  <a:txBody>
                    <a:bodyPr/>
                    <a:lstStyle/>
                    <a:p>
                      <a:pPr indent="0" marL="0">
                        <a:buNone/>
                      </a:pPr>
                      <a:r>
                        <a:rPr lang="en-US" sz="1300" b="1" dirty="0">
                          <a:solidFill>
                            <a:schemeClr val="tx1"/>
                          </a:solidFill>
                        </a:rPr>
                        <a:t>Delivery and returns tools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Self-service tracking and returns to cut the help-page load; ship from Birmingham</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749808">
                <a:tc>
                  <a:txBody>
                    <a:bodyPr/>
                    <a:lstStyle/>
                    <a:p>
                      <a:pPr indent="0" marL="0">
                        <a:buNone/>
                      </a:pPr>
                      <a:r>
                        <a:rPr lang="en-US" sz="1300" b="1" dirty="0">
                          <a:solidFill>
                            <a:schemeClr val="tx1"/>
                          </a:solidFill>
                        </a:rPr>
                        <a:t>One people platform</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indent="0" marL="0">
                        <a:buNone/>
                      </a:pPr>
                      <a:r>
                        <a:rPr lang="en-US" sz="1300" dirty="0">
                          <a:solidFill>
                            <a:schemeClr val="tx1"/>
                          </a:solidFill>
                        </a:rPr>
                        <a:t>One employee-first system replacing three separate HR processes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800" dirty="0">
                          <a:solidFill>
                            <a:schemeClr val="accent1"/>
                          </a:solidFill>
                        </a:rPr>
                        <a:t>●</a:t>
                      </a:r>
                      <a:endParaRPr lang="en-US" sz="18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bl>
          </a:graphicData>
        </a:graphic>
      </p:graphicFrame>
      <p:sp>
        <p:nvSpPr>
          <p:cNvPr id="4" name="Text 1"/>
          <p:cNvSpPr txBox="1"/>
          <p:nvPr/>
        </p:nvSpPr>
        <p:spPr>
          <a:xfrm>
            <a:off x="548640" y="5074920"/>
            <a:ext cx="11064240" cy="274320"/>
          </a:xfrm>
          <a:prstGeom prst="rect">
            <a:avLst/>
          </a:prstGeom>
          <a:noFill/>
          <a:ln/>
        </p:spPr>
        <p:txBody>
          <a:bodyPr wrap="square" lIns="0" tIns="0" rIns="0" bIns="0" rtlCol="0" anchor="t"/>
          <a:lstStyle/>
          <a:p>
            <a:pPr indent="0" marL="0">
              <a:buNone/>
            </a:pPr>
            <a:r>
              <a:rPr lang="en-US" sz="1100" dirty="0">
                <a:solidFill>
                  <a:schemeClr val="tx2"/>
                </a:solidFill>
              </a:rPr>
              <a:t>● strong link   ○ some link   Our assessment, to be tested</a:t>
            </a:r>
            <a:endParaRPr lang="en-US" sz="1100" dirty="0"/>
          </a:p>
        </p:txBody>
      </p:sp>
      <p:sp>
        <p:nvSpPr>
          <p:cNvPr id="5" name="Dependency"/>
          <p:cNvSpPr/>
          <p:nvPr/>
        </p:nvSpPr>
        <p:spPr>
          <a:xfrm>
            <a:off x="548640" y="5440680"/>
            <a:ext cx="11064240" cy="777240"/>
          </a:xfrm>
          <a:prstGeom prst="rect">
            <a:avLst/>
          </a:prstGeom>
          <a:solidFill>
            <a:schemeClr val="tx1"/>
          </a:solidFill>
          <a:ln/>
        </p:spPr>
      </p:sp>
      <p:sp>
        <p:nvSpPr>
          <p:cNvPr id="6" name="Text 3"/>
          <p:cNvSpPr txBox="1"/>
          <p:nvPr/>
        </p:nvSpPr>
        <p:spPr>
          <a:xfrm>
            <a:off x="731520" y="5440680"/>
            <a:ext cx="10698480" cy="777240"/>
          </a:xfrm>
          <a:prstGeom prst="rect">
            <a:avLst/>
          </a:prstGeom>
          <a:noFill/>
          <a:ln/>
        </p:spPr>
        <p:txBody>
          <a:bodyPr wrap="square" lIns="0" tIns="0" rIns="0" bIns="0" rtlCol="0" anchor="ctr"/>
          <a:lstStyle/>
          <a:p>
            <a:pPr indent="0" marL="0">
              <a:buNone/>
            </a:pPr>
            <a:r>
              <a:rPr lang="en-US" sz="1500" b="1" dirty="0">
                <a:solidFill>
                  <a:schemeClr val="accent3"/>
                </a:solidFill>
              </a:rPr>
              <a:t>Dependency: </a:t>
            </a:r>
            <a:pPr indent="0" marL="0">
              <a:buNone/>
            </a:pPr>
            <a:r>
              <a:rPr lang="en-US" sz="1500" dirty="0">
                <a:solidFill>
                  <a:schemeClr val="bg1"/>
                </a:solidFill>
              </a:rPr>
              <a:t>the IT director seat sits vacant under the Finance Director. An interim leader is needed to deliver any of this.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The idea funds itself: about two points of cost closes the margin gap, and £2bn needs 9.6% a year</a:t>
            </a:r>
            <a:endParaRPr lang="en-US" sz="2800" dirty="0"/>
          </a:p>
        </p:txBody>
      </p:sp>
      <p:graphicFrame>
        <p:nvGraphicFramePr>
          <p:cNvPr id="3" name="Chart 0" descr=""/>
          <p:cNvGraphicFramePr/>
          <p:nvPr/>
        </p:nvGraphicFramePr>
        <p:xfrm>
          <a:off x="548640" y="1508760"/>
          <a:ext cx="539496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508760"/>
          <a:ext cx="5394960" cy="3383280"/>
        </p:xfrm>
        <a:graphic xmlns:a="http://schemas.openxmlformats.org/drawingml/2006/main">
          <a:graphicData uri="http://schemas.openxmlformats.org/drawingml/2006/chart">
            <c:chart xmlns:c="http://schemas.openxmlformats.org/drawingml/2006/chart" r:id="rId2"/>
          </a:graphicData>
        </a:graphic>
      </p:graphicFrame>
      <p:sp>
        <p:nvSpPr>
          <p:cNvPr id="5" name="Margin card"/>
          <p:cNvSpPr/>
          <p:nvPr/>
        </p:nvSpPr>
        <p:spPr>
          <a:xfrm>
            <a:off x="548640" y="5029200"/>
            <a:ext cx="5394960" cy="1188720"/>
          </a:xfrm>
          <a:prstGeom prst="rect">
            <a:avLst/>
          </a:prstGeom>
          <a:solidFill>
            <a:schemeClr val="bg2"/>
          </a:solidFill>
          <a:ln/>
        </p:spPr>
      </p:sp>
      <p:sp>
        <p:nvSpPr>
          <p:cNvPr id="6" name="Text 2"/>
          <p:cNvSpPr txBox="1"/>
          <p:nvPr/>
        </p:nvSpPr>
        <p:spPr>
          <a:xfrm>
            <a:off x="731520" y="5029200"/>
            <a:ext cx="5029200" cy="1188720"/>
          </a:xfrm>
          <a:prstGeom prst="rect">
            <a:avLst/>
          </a:prstGeom>
          <a:noFill/>
          <a:ln/>
        </p:spPr>
        <p:txBody>
          <a:bodyPr wrap="square" lIns="0" tIns="0" rIns="0" bIns="0" rtlCol="0" anchor="ctr"/>
          <a:lstStyle/>
          <a:p>
            <a:pPr indent="0" marL="0">
              <a:buNone/>
            </a:pPr>
            <a:r>
              <a:rPr lang="en-US" sz="1300" b="1" dirty="0">
                <a:solidFill>
                  <a:schemeClr val="accent1"/>
                </a:solidFill>
              </a:rPr>
              <a:t>Gap: £24.8m. </a:t>
            </a:r>
            <a:pPr indent="0" marL="0">
              <a:buNone/>
            </a:pPr>
            <a:r>
              <a:rPr lang="en-US" sz="1300" dirty="0">
                <a:solidFill>
                  <a:schemeClr val="tx1"/>
                </a:solidFill>
              </a:rPr>
              <a:t>One point of revenue is £12.6m, so about two points of logistics and admin cost closes it. Logistics alone is 17.5%.</a:t>
            </a:r>
            <a:endParaRPr lang="en-US" sz="1300" dirty="0"/>
          </a:p>
        </p:txBody>
      </p:sp>
      <p:sp>
        <p:nvSpPr>
          <p:cNvPr id="7" name="Growth card"/>
          <p:cNvSpPr/>
          <p:nvPr/>
        </p:nvSpPr>
        <p:spPr>
          <a:xfrm>
            <a:off x="6217920" y="5029200"/>
            <a:ext cx="5394960" cy="1188720"/>
          </a:xfrm>
          <a:prstGeom prst="rect">
            <a:avLst/>
          </a:prstGeom>
          <a:solidFill>
            <a:schemeClr val="bg2"/>
          </a:solidFill>
          <a:ln/>
        </p:spPr>
      </p:sp>
      <p:sp>
        <p:nvSpPr>
          <p:cNvPr id="8" name="Text 4"/>
          <p:cNvSpPr txBox="1"/>
          <p:nvPr/>
        </p:nvSpPr>
        <p:spPr>
          <a:xfrm>
            <a:off x="6400800" y="5029200"/>
            <a:ext cx="5029200" cy="1188720"/>
          </a:xfrm>
          <a:prstGeom prst="rect">
            <a:avLst/>
          </a:prstGeom>
          <a:noFill/>
          <a:ln/>
        </p:spPr>
        <p:txBody>
          <a:bodyPr wrap="square" lIns="0" tIns="0" rIns="0" bIns="0" rtlCol="0" anchor="ctr"/>
          <a:lstStyle/>
          <a:p>
            <a:pPr indent="0" marL="0">
              <a:buNone/>
            </a:pPr>
            <a:r>
              <a:rPr lang="en-US" sz="1300" b="1" dirty="0">
                <a:solidFill>
                  <a:schemeClr val="accent1"/>
                </a:solidFill>
              </a:rPr>
              <a:t>Growth: +58%. </a:t>
            </a:r>
            <a:pPr indent="0" marL="0">
              <a:buNone/>
            </a:pPr>
            <a:r>
              <a:rPr lang="en-US" sz="1300" dirty="0">
                <a:solidFill>
                  <a:schemeClr val="tx1"/>
                </a:solidFill>
              </a:rPr>
              <a:t>£2bn needs 9.6% a year for five years, against −1.1% for store sales in FY-1. Growth has to come from value per visit and online.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We will co-create the first pilot with you in the room</a:t>
            </a:r>
            <a:endParaRPr lang="en-US" sz="2800" dirty="0"/>
          </a:p>
        </p:txBody>
      </p:sp>
      <p:sp>
        <p:nvSpPr>
          <p:cNvPr id="3" name="Shape 1"/>
          <p:cNvSpPr/>
          <p:nvPr/>
        </p:nvSpPr>
        <p:spPr>
          <a:xfrm>
            <a:off x="548640" y="1508760"/>
            <a:ext cx="3611880" cy="777240"/>
          </a:xfrm>
          <a:prstGeom prst="homePlate">
            <a:avLst/>
          </a:prstGeom>
          <a:solidFill>
            <a:schemeClr val="accent1"/>
          </a:solidFill>
          <a:ln/>
        </p:spPr>
      </p:sp>
      <p:sp>
        <p:nvSpPr>
          <p:cNvPr id="4" name="Text 2"/>
          <p:cNvSpPr txBox="1"/>
          <p:nvPr/>
        </p:nvSpPr>
        <p:spPr>
          <a:xfrm>
            <a:off x="731520" y="1508760"/>
            <a:ext cx="2926080" cy="777240"/>
          </a:xfrm>
          <a:prstGeom prst="rect">
            <a:avLst/>
          </a:prstGeom>
          <a:noFill/>
          <a:ln/>
        </p:spPr>
        <p:txBody>
          <a:bodyPr wrap="square" lIns="0" tIns="0" rIns="0" bIns="0" rtlCol="0" anchor="ctr"/>
          <a:lstStyle/>
          <a:p>
            <a:pPr indent="0" marL="0">
              <a:buNone/>
            </a:pPr>
            <a:r>
              <a:rPr lang="en-US" sz="1600" b="1" dirty="0">
                <a:solidFill>
                  <a:schemeClr val="bg1"/>
                </a:solidFill>
              </a:rPr>
              <a:t>1  Walk the journey</a:t>
            </a:r>
            <a:endParaRPr lang="en-US" sz="1600" dirty="0"/>
          </a:p>
          <a:p>
            <a:pPr indent="0" marL="0">
              <a:buNone/>
            </a:pPr>
            <a:r>
              <a:rPr lang="en-US" sz="1200" dirty="0">
                <a:solidFill>
                  <a:schemeClr val="bg1"/>
                </a:solidFill>
              </a:rPr>
              <a:t>5 min</a:t>
            </a:r>
            <a:endParaRPr lang="en-US" sz="1600" dirty="0"/>
          </a:p>
        </p:txBody>
      </p:sp>
      <p:sp>
        <p:nvSpPr>
          <p:cNvPr id="5" name="Step card 1"/>
          <p:cNvSpPr/>
          <p:nvPr/>
        </p:nvSpPr>
        <p:spPr>
          <a:xfrm>
            <a:off x="548640" y="2468880"/>
            <a:ext cx="3520440" cy="1920240"/>
          </a:xfrm>
          <a:prstGeom prst="rect">
            <a:avLst/>
          </a:prstGeom>
          <a:solidFill>
            <a:schemeClr val="bg2"/>
          </a:solidFill>
          <a:ln/>
        </p:spPr>
      </p:sp>
      <p:sp>
        <p:nvSpPr>
          <p:cNvPr id="6" name="Shape 4"/>
          <p:cNvSpPr/>
          <p:nvPr/>
        </p:nvSpPr>
        <p:spPr>
          <a:xfrm>
            <a:off x="731520" y="2606040"/>
            <a:ext cx="502920" cy="502920"/>
          </a:xfrm>
          <a:prstGeom prst="ellipse">
            <a:avLst/>
          </a:prstGeom>
          <a:solidFill>
            <a:srgbClr val="D52B1E"/>
          </a:solidFill>
          <a:ln/>
        </p:spPr>
      </p:sp>
      <p:pic>
        <p:nvPicPr>
          <p:cNvPr id="7" name="Image 0" descr="icon">    </p:cNvPr>
          <p:cNvPicPr>
            <a:picLocks noChangeAspect="1"/>
          </p:cNvPicPr>
          <p:nvPr/>
        </p:nvPicPr>
        <p:blipFill>
          <a:blip r:embed="rId1"/>
          <a:stretch>
            <a:fillRect/>
          </a:stretch>
        </p:blipFill>
        <p:spPr>
          <a:xfrm>
            <a:off x="857250" y="2731770"/>
            <a:ext cx="251460" cy="251460"/>
          </a:xfrm>
          <a:prstGeom prst="rect">
            <a:avLst/>
          </a:prstGeom>
        </p:spPr>
      </p:pic>
      <p:sp>
        <p:nvSpPr>
          <p:cNvPr id="8" name="Text 5"/>
          <p:cNvSpPr txBox="1"/>
          <p:nvPr/>
        </p:nvSpPr>
        <p:spPr>
          <a:xfrm>
            <a:off x="731520" y="3200400"/>
            <a:ext cx="3154680" cy="1143000"/>
          </a:xfrm>
          <a:prstGeom prst="rect">
            <a:avLst/>
          </a:prstGeom>
          <a:noFill/>
          <a:ln/>
        </p:spPr>
        <p:txBody>
          <a:bodyPr wrap="square" lIns="0" tIns="0" rIns="0" bIns="0" rtlCol="0" anchor="t"/>
          <a:lstStyle/>
          <a:p>
            <a:pPr indent="0" marL="0">
              <a:buNone/>
            </a:pPr>
            <a:r>
              <a:rPr lang="en-US" sz="1300" dirty="0">
                <a:solidFill>
                  <a:schemeClr val="tx1"/>
                </a:solidFill>
              </a:rPr>
              <a:t>We draw the client’s day on the wall in five steps, as on slide 14.</a:t>
            </a:r>
            <a:endParaRPr lang="en-US" sz="1300" dirty="0"/>
          </a:p>
        </p:txBody>
      </p:sp>
      <p:sp>
        <p:nvSpPr>
          <p:cNvPr id="9" name="Shape 6"/>
          <p:cNvSpPr/>
          <p:nvPr/>
        </p:nvSpPr>
        <p:spPr>
          <a:xfrm>
            <a:off x="4297680" y="1508760"/>
            <a:ext cx="3611880" cy="777240"/>
          </a:xfrm>
          <a:prstGeom prst="homePlate">
            <a:avLst/>
          </a:prstGeom>
          <a:solidFill>
            <a:schemeClr val="accent2"/>
          </a:solidFill>
          <a:ln/>
        </p:spPr>
      </p:sp>
      <p:sp>
        <p:nvSpPr>
          <p:cNvPr id="10" name="Text 7"/>
          <p:cNvSpPr txBox="1"/>
          <p:nvPr/>
        </p:nvSpPr>
        <p:spPr>
          <a:xfrm>
            <a:off x="4480560" y="1508760"/>
            <a:ext cx="2926080" cy="777240"/>
          </a:xfrm>
          <a:prstGeom prst="rect">
            <a:avLst/>
          </a:prstGeom>
          <a:noFill/>
          <a:ln/>
        </p:spPr>
        <p:txBody>
          <a:bodyPr wrap="square" lIns="0" tIns="0" rIns="0" bIns="0" rtlCol="0" anchor="ctr"/>
          <a:lstStyle/>
          <a:p>
            <a:pPr indent="0" marL="0">
              <a:buNone/>
            </a:pPr>
            <a:r>
              <a:rPr lang="en-US" sz="1600" b="1" dirty="0">
                <a:solidFill>
                  <a:schemeClr val="bg1"/>
                </a:solidFill>
              </a:rPr>
              <a:t>2  Mark the moments</a:t>
            </a:r>
            <a:endParaRPr lang="en-US" sz="1600" dirty="0"/>
          </a:p>
          <a:p>
            <a:pPr indent="0" marL="0">
              <a:buNone/>
            </a:pPr>
            <a:r>
              <a:rPr lang="en-US" sz="1200" dirty="0">
                <a:solidFill>
                  <a:schemeClr val="bg1"/>
                </a:solidFill>
              </a:rPr>
              <a:t>5 min</a:t>
            </a:r>
            <a:endParaRPr lang="en-US" sz="1600" dirty="0"/>
          </a:p>
        </p:txBody>
      </p:sp>
      <p:sp>
        <p:nvSpPr>
          <p:cNvPr id="11" name="Step card 2"/>
          <p:cNvSpPr/>
          <p:nvPr/>
        </p:nvSpPr>
        <p:spPr>
          <a:xfrm>
            <a:off x="4297680" y="2468880"/>
            <a:ext cx="3520440" cy="1920240"/>
          </a:xfrm>
          <a:prstGeom prst="rect">
            <a:avLst/>
          </a:prstGeom>
          <a:solidFill>
            <a:schemeClr val="bg2"/>
          </a:solidFill>
          <a:ln/>
        </p:spPr>
      </p:sp>
      <p:sp>
        <p:nvSpPr>
          <p:cNvPr id="12" name="Shape 9"/>
          <p:cNvSpPr/>
          <p:nvPr/>
        </p:nvSpPr>
        <p:spPr>
          <a:xfrm>
            <a:off x="4480560" y="2606040"/>
            <a:ext cx="502920" cy="502920"/>
          </a:xfrm>
          <a:prstGeom prst="ellipse">
            <a:avLst/>
          </a:prstGeom>
          <a:solidFill>
            <a:srgbClr val="D52B1E"/>
          </a:solidFill>
          <a:ln/>
        </p:spPr>
      </p:sp>
      <p:pic>
        <p:nvPicPr>
          <p:cNvPr id="13" name="Image 1" descr="icon">    </p:cNvPr>
          <p:cNvPicPr>
            <a:picLocks noChangeAspect="1"/>
          </p:cNvPicPr>
          <p:nvPr/>
        </p:nvPicPr>
        <p:blipFill>
          <a:blip r:embed="rId2"/>
          <a:stretch>
            <a:fillRect/>
          </a:stretch>
        </p:blipFill>
        <p:spPr>
          <a:xfrm>
            <a:off x="4606290" y="2731770"/>
            <a:ext cx="251460" cy="251460"/>
          </a:xfrm>
          <a:prstGeom prst="rect">
            <a:avLst/>
          </a:prstGeom>
        </p:spPr>
      </p:pic>
      <p:sp>
        <p:nvSpPr>
          <p:cNvPr id="14" name="Text 10"/>
          <p:cNvSpPr txBox="1"/>
          <p:nvPr/>
        </p:nvSpPr>
        <p:spPr>
          <a:xfrm>
            <a:off x="4480560" y="3200400"/>
            <a:ext cx="3154680" cy="1143000"/>
          </a:xfrm>
          <a:prstGeom prst="rect">
            <a:avLst/>
          </a:prstGeom>
          <a:noFill/>
          <a:ln/>
        </p:spPr>
        <p:txBody>
          <a:bodyPr wrap="square" lIns="0" tIns="0" rIns="0" bIns="0" rtlCol="0" anchor="t"/>
          <a:lstStyle/>
          <a:p>
            <a:pPr indent="0" marL="0">
              <a:buNone/>
            </a:pPr>
            <a:r>
              <a:rPr lang="en-US" sz="1300" dirty="0">
                <a:solidFill>
                  <a:schemeClr val="tx1"/>
                </a:solidFill>
              </a:rPr>
              <a:t>You add notes where V&amp;S delights the client and where it loses her, next to four data cards: value per sale, 982,000 visits, help-page views, logistics cost.</a:t>
            </a:r>
            <a:endParaRPr lang="en-US" sz="1300" dirty="0"/>
          </a:p>
        </p:txBody>
      </p:sp>
      <p:sp>
        <p:nvSpPr>
          <p:cNvPr id="15" name="Shape 11"/>
          <p:cNvSpPr/>
          <p:nvPr/>
        </p:nvSpPr>
        <p:spPr>
          <a:xfrm>
            <a:off x="8046720" y="1508760"/>
            <a:ext cx="3611880" cy="777240"/>
          </a:xfrm>
          <a:prstGeom prst="homePlate">
            <a:avLst/>
          </a:prstGeom>
          <a:solidFill>
            <a:schemeClr val="accent3"/>
          </a:solidFill>
          <a:ln/>
        </p:spPr>
      </p:sp>
      <p:sp>
        <p:nvSpPr>
          <p:cNvPr id="16" name="Text 12"/>
          <p:cNvSpPr txBox="1"/>
          <p:nvPr/>
        </p:nvSpPr>
        <p:spPr>
          <a:xfrm>
            <a:off x="8229600" y="1508760"/>
            <a:ext cx="2926080" cy="777240"/>
          </a:xfrm>
          <a:prstGeom prst="rect">
            <a:avLst/>
          </a:prstGeom>
          <a:noFill/>
          <a:ln/>
        </p:spPr>
        <p:txBody>
          <a:bodyPr wrap="square" lIns="0" tIns="0" rIns="0" bIns="0" rtlCol="0" anchor="ctr"/>
          <a:lstStyle/>
          <a:p>
            <a:pPr indent="0" marL="0">
              <a:buNone/>
            </a:pPr>
            <a:r>
              <a:rPr lang="en-US" sz="1600" b="1" dirty="0">
                <a:solidFill>
                  <a:schemeClr val="tx1"/>
                </a:solidFill>
              </a:rPr>
              <a:t>3  Pick the pilot</a:t>
            </a:r>
            <a:endParaRPr lang="en-US" sz="1600" dirty="0"/>
          </a:p>
          <a:p>
            <a:pPr indent="0" marL="0">
              <a:buNone/>
            </a:pPr>
            <a:r>
              <a:rPr lang="en-US" sz="1200" dirty="0">
                <a:solidFill>
                  <a:schemeClr val="tx1"/>
                </a:solidFill>
              </a:rPr>
              <a:t>5 min</a:t>
            </a:r>
            <a:endParaRPr lang="en-US" sz="1600" dirty="0"/>
          </a:p>
        </p:txBody>
      </p:sp>
      <p:sp>
        <p:nvSpPr>
          <p:cNvPr id="17" name="Step card 3"/>
          <p:cNvSpPr/>
          <p:nvPr/>
        </p:nvSpPr>
        <p:spPr>
          <a:xfrm>
            <a:off x="8046720" y="2468880"/>
            <a:ext cx="3520440" cy="1920240"/>
          </a:xfrm>
          <a:prstGeom prst="rect">
            <a:avLst/>
          </a:prstGeom>
          <a:solidFill>
            <a:schemeClr val="bg2"/>
          </a:solidFill>
          <a:ln/>
        </p:spPr>
      </p:sp>
      <p:sp>
        <p:nvSpPr>
          <p:cNvPr id="18" name="Shape 14"/>
          <p:cNvSpPr/>
          <p:nvPr/>
        </p:nvSpPr>
        <p:spPr>
          <a:xfrm>
            <a:off x="8229600" y="2606040"/>
            <a:ext cx="502920" cy="502920"/>
          </a:xfrm>
          <a:prstGeom prst="ellipse">
            <a:avLst/>
          </a:prstGeom>
          <a:solidFill>
            <a:srgbClr val="D52B1E"/>
          </a:solidFill>
          <a:ln/>
        </p:spPr>
      </p:sp>
      <p:pic>
        <p:nvPicPr>
          <p:cNvPr id="19" name="Image 2" descr="icon">    </p:cNvPr>
          <p:cNvPicPr>
            <a:picLocks noChangeAspect="1"/>
          </p:cNvPicPr>
          <p:nvPr/>
        </p:nvPicPr>
        <p:blipFill>
          <a:blip r:embed="rId3"/>
          <a:stretch>
            <a:fillRect/>
          </a:stretch>
        </p:blipFill>
        <p:spPr>
          <a:xfrm>
            <a:off x="8355330" y="2731770"/>
            <a:ext cx="251460" cy="251460"/>
          </a:xfrm>
          <a:prstGeom prst="rect">
            <a:avLst/>
          </a:prstGeom>
        </p:spPr>
      </p:pic>
      <p:sp>
        <p:nvSpPr>
          <p:cNvPr id="20" name="Text 15"/>
          <p:cNvSpPr txBox="1"/>
          <p:nvPr/>
        </p:nvSpPr>
        <p:spPr>
          <a:xfrm>
            <a:off x="8229600" y="3200400"/>
            <a:ext cx="3154680" cy="1143000"/>
          </a:xfrm>
          <a:prstGeom prst="rect">
            <a:avLst/>
          </a:prstGeom>
          <a:noFill/>
          <a:ln/>
        </p:spPr>
        <p:txBody>
          <a:bodyPr wrap="square" lIns="0" tIns="0" rIns="0" bIns="0" rtlCol="0" anchor="t"/>
          <a:lstStyle/>
          <a:p>
            <a:pPr indent="0" marL="0">
              <a:buNone/>
            </a:pPr>
            <a:r>
              <a:rPr lang="en-US" sz="1300" dirty="0">
                <a:solidFill>
                  <a:schemeClr val="tx1"/>
                </a:solidFill>
              </a:rPr>
              <a:t>Each of you places three dots on the moments to prototype first in London and Birmingham.</a:t>
            </a:r>
            <a:endParaRPr lang="en-US" sz="1300" dirty="0"/>
          </a:p>
        </p:txBody>
      </p:sp>
      <p:sp>
        <p:nvSpPr>
          <p:cNvPr id="21" name="Outcome card"/>
          <p:cNvSpPr/>
          <p:nvPr/>
        </p:nvSpPr>
        <p:spPr>
          <a:xfrm>
            <a:off x="548640" y="4617720"/>
            <a:ext cx="5440680" cy="1600200"/>
          </a:xfrm>
          <a:prstGeom prst="rect">
            <a:avLst/>
          </a:prstGeom>
          <a:solidFill>
            <a:schemeClr val="tx1"/>
          </a:solidFill>
          <a:ln/>
        </p:spPr>
      </p:sp>
      <p:sp>
        <p:nvSpPr>
          <p:cNvPr id="22" name="Text 17"/>
          <p:cNvSpPr txBox="1"/>
          <p:nvPr/>
        </p:nvSpPr>
        <p:spPr>
          <a:xfrm>
            <a:off x="777240" y="4709160"/>
            <a:ext cx="493776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WHAT WE GET</a:t>
            </a:r>
            <a:endParaRPr lang="en-US" sz="1100" dirty="0"/>
          </a:p>
        </p:txBody>
      </p:sp>
      <p:sp>
        <p:nvSpPr>
          <p:cNvPr id="23" name="Text 18"/>
          <p:cNvSpPr txBox="1"/>
          <p:nvPr/>
        </p:nvSpPr>
        <p:spPr>
          <a:xfrm>
            <a:off x="777240" y="5029200"/>
            <a:ext cx="4983480" cy="1097280"/>
          </a:xfrm>
          <a:prstGeom prst="rect">
            <a:avLst/>
          </a:prstGeom>
          <a:noFill/>
          <a:ln/>
        </p:spPr>
        <p:txBody>
          <a:bodyPr wrap="square" lIns="0" tIns="0" rIns="0" bIns="0" rtlCol="0" anchor="t"/>
          <a:lstStyle/>
          <a:p>
            <a:pPr indent="0" marL="0">
              <a:buNone/>
            </a:pPr>
            <a:r>
              <a:rPr lang="en-US" sz="1500" dirty="0">
                <a:solidFill>
                  <a:schemeClr val="bg1"/>
                </a:solidFill>
              </a:rPr>
              <a:t>Your priorities, tested assumptions and an agreed first pilot, with the people who will own it.</a:t>
            </a:r>
            <a:endParaRPr lang="en-US" sz="1500" dirty="0"/>
          </a:p>
        </p:txBody>
      </p:sp>
      <p:sp>
        <p:nvSpPr>
          <p:cNvPr id="24" name="Colleague card"/>
          <p:cNvSpPr/>
          <p:nvPr/>
        </p:nvSpPr>
        <p:spPr>
          <a:xfrm>
            <a:off x="6172200" y="4617720"/>
            <a:ext cx="5440680" cy="1600200"/>
          </a:xfrm>
          <a:prstGeom prst="rect">
            <a:avLst/>
          </a:prstGeom>
          <a:solidFill>
            <a:schemeClr val="accent1"/>
          </a:solidFill>
          <a:ln/>
        </p:spPr>
      </p:sp>
      <p:sp>
        <p:nvSpPr>
          <p:cNvPr id="25" name="Text 20"/>
          <p:cNvSpPr txBox="1"/>
          <p:nvPr/>
        </p:nvSpPr>
        <p:spPr>
          <a:xfrm>
            <a:off x="6400800" y="4709160"/>
            <a:ext cx="4937760" cy="274320"/>
          </a:xfrm>
          <a:prstGeom prst="rect">
            <a:avLst/>
          </a:prstGeom>
          <a:noFill/>
          <a:ln/>
        </p:spPr>
        <p:txBody>
          <a:bodyPr wrap="square" lIns="0" tIns="0" rIns="0" bIns="0" rtlCol="0" anchor="t"/>
          <a:lstStyle/>
          <a:p>
            <a:pPr indent="0" marL="0">
              <a:buNone/>
            </a:pPr>
            <a:r>
              <a:rPr lang="en-US" sz="1100" b="1" spc="200" kern="0" dirty="0">
                <a:solidFill>
                  <a:schemeClr val="bg1"/>
                </a:solidFill>
              </a:rPr>
              <a:t>FOR YOUR TEAMS</a:t>
            </a:r>
            <a:endParaRPr lang="en-US" sz="1100" dirty="0"/>
          </a:p>
        </p:txBody>
      </p:sp>
      <p:sp>
        <p:nvSpPr>
          <p:cNvPr id="26" name="Text 21"/>
          <p:cNvSpPr txBox="1"/>
          <p:nvPr/>
        </p:nvSpPr>
        <p:spPr>
          <a:xfrm>
            <a:off x="6400800" y="5029200"/>
            <a:ext cx="4983480" cy="1097280"/>
          </a:xfrm>
          <a:prstGeom prst="rect">
            <a:avLst/>
          </a:prstGeom>
          <a:noFill/>
          <a:ln/>
        </p:spPr>
        <p:txBody>
          <a:bodyPr wrap="square" lIns="0" tIns="0" rIns="0" bIns="0" rtlCol="0" anchor="t"/>
          <a:lstStyle/>
          <a:p>
            <a:pPr indent="0" marL="0">
              <a:buNone/>
            </a:pPr>
            <a:r>
              <a:rPr lang="en-US" sz="1500" dirty="0">
                <a:solidFill>
                  <a:schemeClr val="bg1"/>
                </a:solidFill>
              </a:rPr>
              <a:t>Store and online colleagues can run the same session on their own day, so the pilot is built with the people who deliver it.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A phased roadmap delivers visible results within the first year</a:t>
            </a:r>
            <a:endParaRPr lang="en-US" sz="2800" dirty="0"/>
          </a:p>
        </p:txBody>
      </p:sp>
      <p:sp>
        <p:nvSpPr>
          <p:cNvPr id="3" name="Shape 1"/>
          <p:cNvSpPr/>
          <p:nvPr/>
        </p:nvSpPr>
        <p:spPr>
          <a:xfrm>
            <a:off x="548640" y="1508760"/>
            <a:ext cx="3657600" cy="914400"/>
          </a:xfrm>
          <a:prstGeom prst="homePlate">
            <a:avLst/>
          </a:prstGeom>
          <a:solidFill>
            <a:schemeClr val="accent1"/>
          </a:solidFill>
          <a:ln/>
        </p:spPr>
      </p:sp>
      <p:sp>
        <p:nvSpPr>
          <p:cNvPr id="4" name="Text 2"/>
          <p:cNvSpPr txBox="1"/>
          <p:nvPr/>
        </p:nvSpPr>
        <p:spPr>
          <a:xfrm>
            <a:off x="731520" y="1508760"/>
            <a:ext cx="2926080" cy="914400"/>
          </a:xfrm>
          <a:prstGeom prst="rect">
            <a:avLst/>
          </a:prstGeom>
          <a:noFill/>
          <a:ln/>
        </p:spPr>
        <p:txBody>
          <a:bodyPr wrap="square" lIns="0" tIns="0" rIns="0" bIns="0" rtlCol="0" anchor="ctr"/>
          <a:lstStyle/>
          <a:p>
            <a:pPr indent="0" marL="0">
              <a:buNone/>
            </a:pPr>
            <a:r>
              <a:rPr lang="en-US" sz="1200" dirty="0">
                <a:solidFill>
                  <a:schemeClr val="bg1"/>
                </a:solidFill>
              </a:rPr>
              <a:t>First 100 days</a:t>
            </a:r>
            <a:endParaRPr lang="en-US" sz="1200" dirty="0"/>
          </a:p>
          <a:p>
            <a:pPr indent="0" marL="0">
              <a:buNone/>
            </a:pPr>
            <a:r>
              <a:rPr lang="en-US" sz="2000" b="1" dirty="0">
                <a:solidFill>
                  <a:schemeClr val="bg1"/>
                </a:solidFill>
              </a:rPr>
              <a:t>Foundations</a:t>
            </a:r>
            <a:endParaRPr lang="en-US" sz="1200" dirty="0"/>
          </a:p>
        </p:txBody>
      </p:sp>
      <p:sp>
        <p:nvSpPr>
          <p:cNvPr id="5" name="Phase 1 card"/>
          <p:cNvSpPr/>
          <p:nvPr/>
        </p:nvSpPr>
        <p:spPr>
          <a:xfrm>
            <a:off x="548640" y="2606040"/>
            <a:ext cx="3566160" cy="2926080"/>
          </a:xfrm>
          <a:prstGeom prst="rect">
            <a:avLst/>
          </a:prstGeom>
          <a:solidFill>
            <a:schemeClr val="bg2"/>
          </a:solidFill>
          <a:ln/>
        </p:spPr>
      </p:sp>
      <p:sp>
        <p:nvSpPr>
          <p:cNvPr id="6" name="Text 4"/>
          <p:cNvSpPr txBox="1"/>
          <p:nvPr/>
        </p:nvSpPr>
        <p:spPr>
          <a:xfrm>
            <a:off x="731520" y="2788920"/>
            <a:ext cx="324612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Benchmark V&amp;S against peers and size each lever</a:t>
            </a:r>
            <a:endParaRPr lang="en-US" sz="1300" dirty="0"/>
          </a:p>
          <a:p>
            <a:pPr marL="342900" indent="-342900">
              <a:spcAft>
                <a:spcPts val="600"/>
              </a:spcAft>
              <a:buSzPct val="100000"/>
              <a:buChar char="•"/>
            </a:pPr>
            <a:r>
              <a:rPr lang="en-US" sz="1300" dirty="0">
                <a:solidFill>
                  <a:schemeClr val="tx1"/>
                </a:solidFill>
              </a:rPr>
              <a:t>Appoint an interim IT leader</a:t>
            </a:r>
            <a:endParaRPr lang="en-US" sz="1300" dirty="0"/>
          </a:p>
          <a:p>
            <a:pPr marL="342900" indent="-342900">
              <a:spcAft>
                <a:spcPts val="600"/>
              </a:spcAft>
              <a:buSzPct val="100000"/>
              <a:buChar char="•"/>
            </a:pPr>
            <a:r>
              <a:rPr lang="en-US" sz="1300" dirty="0">
                <a:solidFill>
                  <a:schemeClr val="tx1"/>
                </a:solidFill>
              </a:rPr>
              <a:t>Design one stock view, including the Edinburgh feed</a:t>
            </a:r>
            <a:endParaRPr lang="en-US" sz="1300" dirty="0"/>
          </a:p>
          <a:p>
            <a:pPr marL="342900" indent="-342900">
              <a:spcAft>
                <a:spcPts val="600"/>
              </a:spcAft>
              <a:buSzPct val="100000"/>
              <a:buChar char="•"/>
            </a:pPr>
            <a:r>
              <a:rPr lang="en-US" sz="1300" dirty="0">
                <a:solidFill>
                  <a:schemeClr val="tx1"/>
                </a:solidFill>
              </a:rPr>
              <a:t>Co-create the pilot with store and online teams</a:t>
            </a:r>
            <a:endParaRPr lang="en-US" sz="1300" dirty="0"/>
          </a:p>
        </p:txBody>
      </p:sp>
      <p:sp>
        <p:nvSpPr>
          <p:cNvPr id="7" name="Shape 5"/>
          <p:cNvSpPr/>
          <p:nvPr/>
        </p:nvSpPr>
        <p:spPr>
          <a:xfrm>
            <a:off x="4297680" y="1508760"/>
            <a:ext cx="3657600" cy="914400"/>
          </a:xfrm>
          <a:prstGeom prst="homePlate">
            <a:avLst/>
          </a:prstGeom>
          <a:solidFill>
            <a:schemeClr val="accent2"/>
          </a:solidFill>
          <a:ln/>
        </p:spPr>
      </p:sp>
      <p:sp>
        <p:nvSpPr>
          <p:cNvPr id="8" name="Text 6"/>
          <p:cNvSpPr txBox="1"/>
          <p:nvPr/>
        </p:nvSpPr>
        <p:spPr>
          <a:xfrm>
            <a:off x="4480560" y="1508760"/>
            <a:ext cx="2926080" cy="914400"/>
          </a:xfrm>
          <a:prstGeom prst="rect">
            <a:avLst/>
          </a:prstGeom>
          <a:noFill/>
          <a:ln/>
        </p:spPr>
        <p:txBody>
          <a:bodyPr wrap="square" lIns="0" tIns="0" rIns="0" bIns="0" rtlCol="0" anchor="ctr"/>
          <a:lstStyle/>
          <a:p>
            <a:pPr indent="0" marL="0">
              <a:buNone/>
            </a:pPr>
            <a:r>
              <a:rPr lang="en-US" sz="1200" dirty="0">
                <a:solidFill>
                  <a:schemeClr val="bg1"/>
                </a:solidFill>
              </a:rPr>
              <a:t>Months 4 to 12</a:t>
            </a:r>
            <a:endParaRPr lang="en-US" sz="1200" dirty="0"/>
          </a:p>
          <a:p>
            <a:pPr indent="0" marL="0">
              <a:buNone/>
            </a:pPr>
            <a:r>
              <a:rPr lang="en-US" sz="2000" b="1" dirty="0">
                <a:solidFill>
                  <a:schemeClr val="bg1"/>
                </a:solidFill>
              </a:rPr>
              <a:t>Prove</a:t>
            </a:r>
            <a:endParaRPr lang="en-US" sz="1200" dirty="0"/>
          </a:p>
        </p:txBody>
      </p:sp>
      <p:sp>
        <p:nvSpPr>
          <p:cNvPr id="9" name="Phase 2 card"/>
          <p:cNvSpPr/>
          <p:nvPr/>
        </p:nvSpPr>
        <p:spPr>
          <a:xfrm>
            <a:off x="4297680" y="2606040"/>
            <a:ext cx="3566160" cy="2926080"/>
          </a:xfrm>
          <a:prstGeom prst="rect">
            <a:avLst/>
          </a:prstGeom>
          <a:solidFill>
            <a:schemeClr val="bg2"/>
          </a:solidFill>
          <a:ln/>
        </p:spPr>
      </p:sp>
      <p:sp>
        <p:nvSpPr>
          <p:cNvPr id="10" name="Text 8"/>
          <p:cNvSpPr txBox="1"/>
          <p:nvPr/>
        </p:nvSpPr>
        <p:spPr>
          <a:xfrm>
            <a:off x="4480560" y="2788920"/>
            <a:ext cx="324612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Pilot clienteling and the international client desk in London</a:t>
            </a:r>
            <a:endParaRPr lang="en-US" sz="1300" dirty="0"/>
          </a:p>
          <a:p>
            <a:pPr marL="342900" indent="-342900">
              <a:spcAft>
                <a:spcPts val="600"/>
              </a:spcAft>
              <a:buSzPct val="100000"/>
              <a:buChar char="•"/>
            </a:pPr>
            <a:r>
              <a:rPr lang="en-US" sz="1300" dirty="0">
                <a:solidFill>
                  <a:schemeClr val="tx1"/>
                </a:solidFill>
              </a:rPr>
              <a:t>Pilot online fulfilment from Birmingham</a:t>
            </a:r>
            <a:endParaRPr lang="en-US" sz="1300" dirty="0"/>
          </a:p>
          <a:p>
            <a:pPr marL="342900" indent="-342900">
              <a:spcAft>
                <a:spcPts val="600"/>
              </a:spcAft>
              <a:buSzPct val="100000"/>
              <a:buChar char="•"/>
            </a:pPr>
            <a:r>
              <a:rPr lang="en-US" sz="1300" dirty="0">
                <a:solidFill>
                  <a:schemeClr val="tx1"/>
                </a:solidFill>
              </a:rPr>
              <a:t>Test a golf capsule; cut help-page load</a:t>
            </a:r>
            <a:endParaRPr lang="en-US" sz="1300" dirty="0"/>
          </a:p>
          <a:p>
            <a:pPr marL="342900" indent="-342900">
              <a:spcAft>
                <a:spcPts val="600"/>
              </a:spcAft>
              <a:buSzPct val="100000"/>
              <a:buChar char="•"/>
            </a:pPr>
            <a:r>
              <a:rPr lang="en-US" sz="1300" dirty="0">
                <a:solidFill>
                  <a:schemeClr val="tx1"/>
                </a:solidFill>
              </a:rPr>
              <a:t>Track Edinburgh and Orlando milestones</a:t>
            </a:r>
            <a:endParaRPr lang="en-US" sz="1300" dirty="0"/>
          </a:p>
        </p:txBody>
      </p:sp>
      <p:sp>
        <p:nvSpPr>
          <p:cNvPr id="11" name="Shape 9"/>
          <p:cNvSpPr/>
          <p:nvPr/>
        </p:nvSpPr>
        <p:spPr>
          <a:xfrm>
            <a:off x="8046720" y="1508760"/>
            <a:ext cx="3657600" cy="914400"/>
          </a:xfrm>
          <a:prstGeom prst="homePlate">
            <a:avLst/>
          </a:prstGeom>
          <a:solidFill>
            <a:schemeClr val="accent3"/>
          </a:solidFill>
          <a:ln/>
        </p:spPr>
      </p:sp>
      <p:sp>
        <p:nvSpPr>
          <p:cNvPr id="12" name="Text 10"/>
          <p:cNvSpPr txBox="1"/>
          <p:nvPr/>
        </p:nvSpPr>
        <p:spPr>
          <a:xfrm>
            <a:off x="8229600" y="1508760"/>
            <a:ext cx="2926080" cy="914400"/>
          </a:xfrm>
          <a:prstGeom prst="rect">
            <a:avLst/>
          </a:prstGeom>
          <a:noFill/>
          <a:ln/>
        </p:spPr>
        <p:txBody>
          <a:bodyPr wrap="square" lIns="0" tIns="0" rIns="0" bIns="0" rtlCol="0" anchor="ctr"/>
          <a:lstStyle/>
          <a:p>
            <a:pPr indent="0" marL="0">
              <a:buNone/>
            </a:pPr>
            <a:r>
              <a:rPr lang="en-US" sz="1200" dirty="0">
                <a:solidFill>
                  <a:schemeClr val="tx1"/>
                </a:solidFill>
              </a:rPr>
              <a:t>Year 2</a:t>
            </a:r>
            <a:endParaRPr lang="en-US" sz="1200" dirty="0"/>
          </a:p>
          <a:p>
            <a:pPr indent="0" marL="0">
              <a:buNone/>
            </a:pPr>
            <a:r>
              <a:rPr lang="en-US" sz="2000" b="1" dirty="0">
                <a:solidFill>
                  <a:schemeClr val="tx1"/>
                </a:solidFill>
              </a:rPr>
              <a:t>Scale</a:t>
            </a:r>
            <a:endParaRPr lang="en-US" sz="1200" dirty="0"/>
          </a:p>
        </p:txBody>
      </p:sp>
      <p:sp>
        <p:nvSpPr>
          <p:cNvPr id="13" name="Phase 3 card"/>
          <p:cNvSpPr/>
          <p:nvPr/>
        </p:nvSpPr>
        <p:spPr>
          <a:xfrm>
            <a:off x="8046720" y="2606040"/>
            <a:ext cx="3566160" cy="2926080"/>
          </a:xfrm>
          <a:prstGeom prst="rect">
            <a:avLst/>
          </a:prstGeom>
          <a:solidFill>
            <a:schemeClr val="bg2"/>
          </a:solidFill>
          <a:ln/>
        </p:spPr>
      </p:sp>
      <p:sp>
        <p:nvSpPr>
          <p:cNvPr id="14" name="Text 12"/>
          <p:cNvSpPr txBox="1"/>
          <p:nvPr/>
        </p:nvSpPr>
        <p:spPr>
          <a:xfrm>
            <a:off x="8229600" y="2788920"/>
            <a:ext cx="324612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Extend proven formats to other stores</a:t>
            </a:r>
            <a:endParaRPr lang="en-US" sz="1300" dirty="0"/>
          </a:p>
          <a:p>
            <a:pPr marL="342900" indent="-342900">
              <a:spcAft>
                <a:spcPts val="600"/>
              </a:spcAft>
              <a:buSzPct val="100000"/>
              <a:buChar char="•"/>
            </a:pPr>
            <a:r>
              <a:rPr lang="en-US" sz="1300" dirty="0">
                <a:solidFill>
                  <a:schemeClr val="tx1"/>
                </a:solidFill>
              </a:rPr>
              <a:t>Decide on a web-only acquisition</a:t>
            </a:r>
            <a:endParaRPr lang="en-US" sz="1300" dirty="0"/>
          </a:p>
          <a:p>
            <a:pPr marL="342900" indent="-342900">
              <a:spcAft>
                <a:spcPts val="600"/>
              </a:spcAft>
              <a:buSzPct val="100000"/>
              <a:buChar char="•"/>
            </a:pPr>
            <a:r>
              <a:rPr lang="en-US" sz="1300" dirty="0">
                <a:solidFill>
                  <a:schemeClr val="tx1"/>
                </a:solidFill>
              </a:rPr>
              <a:t>Consider flagships in other major cities</a:t>
            </a:r>
            <a:endParaRPr lang="en-US" sz="1300" dirty="0"/>
          </a:p>
          <a:p>
            <a:pPr marL="342900" indent="-342900">
              <a:spcAft>
                <a:spcPts val="600"/>
              </a:spcAft>
              <a:buSzPct val="100000"/>
              <a:buChar char="•"/>
            </a:pPr>
            <a:r>
              <a:rPr lang="en-US" sz="1300" dirty="0">
                <a:solidFill>
                  <a:schemeClr val="tx1"/>
                </a:solidFill>
              </a:rPr>
              <a:t>Review progress against £2bn and 10%</a:t>
            </a:r>
            <a:endParaRPr lang="en-US" sz="1300" dirty="0"/>
          </a:p>
        </p:txBody>
      </p:sp>
      <p:sp>
        <p:nvSpPr>
          <p:cNvPr id="15" name="Text 13"/>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400" i="1" dirty="0">
                <a:solidFill>
                  <a:schemeClr val="tx2"/>
                </a:solidFill>
              </a:rPr>
              <a:t>Phasing is indicative and will be refined once benchmarking and store-level data are in.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Each leader gets what they need, with no channel crowned</a:t>
            </a:r>
            <a:endParaRPr lang="en-US" sz="2800" dirty="0"/>
          </a:p>
        </p:txBody>
      </p:sp>
      <p:sp>
        <p:nvSpPr>
          <p:cNvPr id="3" name="Card Jack, CEO"/>
          <p:cNvSpPr/>
          <p:nvPr/>
        </p:nvSpPr>
        <p:spPr>
          <a:xfrm>
            <a:off x="548640" y="1508760"/>
            <a:ext cx="2697480" cy="3566160"/>
          </a:xfrm>
          <a:prstGeom prst="rect">
            <a:avLst/>
          </a:prstGeom>
          <a:solidFill>
            <a:schemeClr val="bg2"/>
          </a:solidFill>
          <a:ln/>
        </p:spPr>
      </p:sp>
      <p:sp>
        <p:nvSpPr>
          <p:cNvPr id="4" name="Card header Jack, CEO"/>
          <p:cNvSpPr/>
          <p:nvPr/>
        </p:nvSpPr>
        <p:spPr>
          <a:xfrm>
            <a:off x="548640" y="1508760"/>
            <a:ext cx="2697480" cy="502920"/>
          </a:xfrm>
          <a:prstGeom prst="rect">
            <a:avLst/>
          </a:prstGeom>
          <a:solidFill>
            <a:schemeClr val="accent1"/>
          </a:solidFill>
          <a:ln/>
        </p:spPr>
      </p:sp>
      <p:sp>
        <p:nvSpPr>
          <p:cNvPr id="5" name="Text 3"/>
          <p:cNvSpPr txBox="1"/>
          <p:nvPr/>
        </p:nvSpPr>
        <p:spPr>
          <a:xfrm>
            <a:off x="685800" y="1508760"/>
            <a:ext cx="2423160" cy="502920"/>
          </a:xfrm>
          <a:prstGeom prst="rect">
            <a:avLst/>
          </a:prstGeom>
          <a:noFill/>
          <a:ln/>
        </p:spPr>
        <p:txBody>
          <a:bodyPr wrap="square" lIns="0" tIns="0" rIns="0" bIns="0" rtlCol="0" anchor="ctr"/>
          <a:lstStyle/>
          <a:p>
            <a:pPr indent="0" marL="0">
              <a:buNone/>
            </a:pPr>
            <a:r>
              <a:rPr lang="en-US" sz="1500" b="1" dirty="0">
                <a:solidFill>
                  <a:schemeClr val="bg1"/>
                </a:solidFill>
              </a:rPr>
              <a:t>Jack, CEO</a:t>
            </a:r>
            <a:endParaRPr lang="en-US" sz="1500" dirty="0"/>
          </a:p>
        </p:txBody>
      </p:sp>
      <p:sp>
        <p:nvSpPr>
          <p:cNvPr id="6" name="Text 4"/>
          <p:cNvSpPr txBox="1"/>
          <p:nvPr/>
        </p:nvSpPr>
        <p:spPr>
          <a:xfrm>
            <a:off x="685800" y="2194560"/>
            <a:ext cx="246888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A growth story anchored in online, with delivery fixed first</a:t>
            </a:r>
            <a:endParaRPr lang="en-US" sz="1200" dirty="0"/>
          </a:p>
          <a:p>
            <a:pPr marL="342900" indent="-342900">
              <a:spcAft>
                <a:spcPts val="600"/>
              </a:spcAft>
              <a:buSzPct val="100000"/>
              <a:buChar char="•"/>
            </a:pPr>
            <a:r>
              <a:rPr lang="en-US" sz="1200" dirty="0">
                <a:solidFill>
                  <a:schemeClr val="tx1"/>
                </a:solidFill>
              </a:rPr>
              <a:t>Fact-based benchmarking of where V&amp;S underperforms</a:t>
            </a:r>
            <a:endParaRPr lang="en-US" sz="1200" dirty="0"/>
          </a:p>
          <a:p>
            <a:pPr marL="342900" indent="-342900">
              <a:spcAft>
                <a:spcPts val="600"/>
              </a:spcAft>
              <a:buSzPct val="100000"/>
              <a:buChar char="•"/>
            </a:pPr>
            <a:r>
              <a:rPr lang="en-US" sz="1200" dirty="0">
                <a:solidFill>
                  <a:schemeClr val="tx1"/>
                </a:solidFill>
              </a:rPr>
              <a:t>Advice on the timing of a web-only acquisition</a:t>
            </a:r>
            <a:endParaRPr lang="en-US" sz="1200" dirty="0"/>
          </a:p>
        </p:txBody>
      </p:sp>
      <p:sp>
        <p:nvSpPr>
          <p:cNvPr id="7" name="Card Ashley, COO"/>
          <p:cNvSpPr/>
          <p:nvPr/>
        </p:nvSpPr>
        <p:spPr>
          <a:xfrm>
            <a:off x="3360420" y="1508760"/>
            <a:ext cx="2697480" cy="3566160"/>
          </a:xfrm>
          <a:prstGeom prst="rect">
            <a:avLst/>
          </a:prstGeom>
          <a:solidFill>
            <a:schemeClr val="bg2"/>
          </a:solidFill>
          <a:ln/>
        </p:spPr>
      </p:sp>
      <p:sp>
        <p:nvSpPr>
          <p:cNvPr id="8" name="Card header Ashley, COO"/>
          <p:cNvSpPr/>
          <p:nvPr/>
        </p:nvSpPr>
        <p:spPr>
          <a:xfrm>
            <a:off x="3360420" y="1508760"/>
            <a:ext cx="2697480" cy="502920"/>
          </a:xfrm>
          <a:prstGeom prst="rect">
            <a:avLst/>
          </a:prstGeom>
          <a:solidFill>
            <a:schemeClr val="accent1"/>
          </a:solidFill>
          <a:ln/>
        </p:spPr>
      </p:sp>
      <p:sp>
        <p:nvSpPr>
          <p:cNvPr id="9" name="Text 7"/>
          <p:cNvSpPr txBox="1"/>
          <p:nvPr/>
        </p:nvSpPr>
        <p:spPr>
          <a:xfrm>
            <a:off x="3497580" y="1508760"/>
            <a:ext cx="2423160" cy="502920"/>
          </a:xfrm>
          <a:prstGeom prst="rect">
            <a:avLst/>
          </a:prstGeom>
          <a:noFill/>
          <a:ln/>
        </p:spPr>
        <p:txBody>
          <a:bodyPr wrap="square" lIns="0" tIns="0" rIns="0" bIns="0" rtlCol="0" anchor="ctr"/>
          <a:lstStyle/>
          <a:p>
            <a:pPr indent="0" marL="0">
              <a:buNone/>
            </a:pPr>
            <a:r>
              <a:rPr lang="en-US" sz="1500" b="1" dirty="0">
                <a:solidFill>
                  <a:schemeClr val="bg1"/>
                </a:solidFill>
              </a:rPr>
              <a:t>Ashley, COO</a:t>
            </a:r>
            <a:endParaRPr lang="en-US" sz="1500" dirty="0"/>
          </a:p>
        </p:txBody>
      </p:sp>
      <p:sp>
        <p:nvSpPr>
          <p:cNvPr id="10" name="Text 8"/>
          <p:cNvSpPr txBox="1"/>
          <p:nvPr/>
        </p:nvSpPr>
        <p:spPr>
          <a:xfrm>
            <a:off x="3497580" y="2194560"/>
            <a:ext cx="246888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Investment in in-store technology, with London as the flagship</a:t>
            </a:r>
            <a:endParaRPr lang="en-US" sz="1200" dirty="0"/>
          </a:p>
          <a:p>
            <a:pPr marL="342900" indent="-342900">
              <a:spcAft>
                <a:spcPts val="600"/>
              </a:spcAft>
              <a:buSzPct val="100000"/>
              <a:buChar char="•"/>
            </a:pPr>
            <a:r>
              <a:rPr lang="en-US" sz="1200" dirty="0">
                <a:solidFill>
                  <a:schemeClr val="tx1"/>
                </a:solidFill>
              </a:rPr>
              <a:t>One stock view and less manual reconciling</a:t>
            </a:r>
            <a:endParaRPr lang="en-US" sz="1200" dirty="0"/>
          </a:p>
          <a:p>
            <a:pPr marL="342900" indent="-342900">
              <a:spcAft>
                <a:spcPts val="600"/>
              </a:spcAft>
              <a:buSzPct val="100000"/>
              <a:buChar char="•"/>
            </a:pPr>
            <a:r>
              <a:rPr lang="en-US" sz="1200" dirty="0">
                <a:solidFill>
                  <a:schemeClr val="tx1"/>
                </a:solidFill>
              </a:rPr>
              <a:t>A clear role for each store, so Edinburgh and Orlando both get attention</a:t>
            </a:r>
            <a:endParaRPr lang="en-US" sz="1200" dirty="0"/>
          </a:p>
        </p:txBody>
      </p:sp>
      <p:sp>
        <p:nvSpPr>
          <p:cNvPr id="11" name="Card Jesse and Anshu"/>
          <p:cNvSpPr/>
          <p:nvPr/>
        </p:nvSpPr>
        <p:spPr>
          <a:xfrm>
            <a:off x="6172200" y="1508760"/>
            <a:ext cx="2697480" cy="3566160"/>
          </a:xfrm>
          <a:prstGeom prst="rect">
            <a:avLst/>
          </a:prstGeom>
          <a:solidFill>
            <a:schemeClr val="bg2"/>
          </a:solidFill>
          <a:ln/>
        </p:spPr>
      </p:sp>
      <p:sp>
        <p:nvSpPr>
          <p:cNvPr id="12" name="Card header Jesse and Anshu"/>
          <p:cNvSpPr/>
          <p:nvPr/>
        </p:nvSpPr>
        <p:spPr>
          <a:xfrm>
            <a:off x="6172200" y="1508760"/>
            <a:ext cx="2697480" cy="502920"/>
          </a:xfrm>
          <a:prstGeom prst="rect">
            <a:avLst/>
          </a:prstGeom>
          <a:solidFill>
            <a:schemeClr val="tx2"/>
          </a:solidFill>
          <a:ln/>
        </p:spPr>
      </p:sp>
      <p:sp>
        <p:nvSpPr>
          <p:cNvPr id="13" name="Text 11"/>
          <p:cNvSpPr txBox="1"/>
          <p:nvPr/>
        </p:nvSpPr>
        <p:spPr>
          <a:xfrm>
            <a:off x="6309360" y="1508760"/>
            <a:ext cx="2423160" cy="502920"/>
          </a:xfrm>
          <a:prstGeom prst="rect">
            <a:avLst/>
          </a:prstGeom>
          <a:noFill/>
          <a:ln/>
        </p:spPr>
        <p:txBody>
          <a:bodyPr wrap="square" lIns="0" tIns="0" rIns="0" bIns="0" rtlCol="0" anchor="ctr"/>
          <a:lstStyle/>
          <a:p>
            <a:pPr indent="0" marL="0">
              <a:buNone/>
            </a:pPr>
            <a:r>
              <a:rPr lang="en-US" sz="1500" b="1" dirty="0">
                <a:solidFill>
                  <a:schemeClr val="bg1"/>
                </a:solidFill>
              </a:rPr>
              <a:t>Jesse and Anshu</a:t>
            </a:r>
            <a:endParaRPr lang="en-US" sz="1500" dirty="0"/>
          </a:p>
        </p:txBody>
      </p:sp>
      <p:sp>
        <p:nvSpPr>
          <p:cNvPr id="14" name="Text 12"/>
          <p:cNvSpPr txBox="1"/>
          <p:nvPr/>
        </p:nvSpPr>
        <p:spPr>
          <a:xfrm>
            <a:off x="6309360" y="2194560"/>
            <a:ext cx="246888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Jesse: buying that serves margin and the client together</a:t>
            </a:r>
            <a:endParaRPr lang="en-US" sz="1200" dirty="0"/>
          </a:p>
          <a:p>
            <a:pPr marL="342900" indent="-342900">
              <a:spcAft>
                <a:spcPts val="600"/>
              </a:spcAft>
              <a:buSzPct val="100000"/>
              <a:buChar char="•"/>
            </a:pPr>
            <a:r>
              <a:rPr lang="en-US" sz="1200" dirty="0">
                <a:solidFill>
                  <a:schemeClr val="tx1"/>
                </a:solidFill>
              </a:rPr>
              <a:t>Anshu: discovery beyond paid search and brand terms</a:t>
            </a:r>
            <a:endParaRPr lang="en-US" sz="1200" dirty="0"/>
          </a:p>
          <a:p>
            <a:pPr marL="342900" indent="-342900">
              <a:spcAft>
                <a:spcPts val="600"/>
              </a:spcAft>
              <a:buSzPct val="100000"/>
              <a:buChar char="•"/>
            </a:pPr>
            <a:r>
              <a:rPr lang="en-US" sz="1200" dirty="0">
                <a:solidFill>
                  <a:schemeClr val="tx1"/>
                </a:solidFill>
              </a:rPr>
              <a:t>Both co-own the pilot priorities</a:t>
            </a:r>
            <a:endParaRPr lang="en-US" sz="1200" dirty="0"/>
          </a:p>
        </p:txBody>
      </p:sp>
      <p:sp>
        <p:nvSpPr>
          <p:cNvPr id="15" name="Card The board"/>
          <p:cNvSpPr/>
          <p:nvPr/>
        </p:nvSpPr>
        <p:spPr>
          <a:xfrm>
            <a:off x="8983980" y="1508760"/>
            <a:ext cx="2697480" cy="3566160"/>
          </a:xfrm>
          <a:prstGeom prst="rect">
            <a:avLst/>
          </a:prstGeom>
          <a:solidFill>
            <a:schemeClr val="bg2"/>
          </a:solidFill>
          <a:ln/>
        </p:spPr>
      </p:sp>
      <p:sp>
        <p:nvSpPr>
          <p:cNvPr id="16" name="Card header The board"/>
          <p:cNvSpPr/>
          <p:nvPr/>
        </p:nvSpPr>
        <p:spPr>
          <a:xfrm>
            <a:off x="8983980" y="1508760"/>
            <a:ext cx="2697480" cy="502920"/>
          </a:xfrm>
          <a:prstGeom prst="rect">
            <a:avLst/>
          </a:prstGeom>
          <a:solidFill>
            <a:schemeClr val="tx2"/>
          </a:solidFill>
          <a:ln/>
        </p:spPr>
      </p:sp>
      <p:sp>
        <p:nvSpPr>
          <p:cNvPr id="17" name="Text 15"/>
          <p:cNvSpPr txBox="1"/>
          <p:nvPr/>
        </p:nvSpPr>
        <p:spPr>
          <a:xfrm>
            <a:off x="9121140" y="1508760"/>
            <a:ext cx="2423160" cy="502920"/>
          </a:xfrm>
          <a:prstGeom prst="rect">
            <a:avLst/>
          </a:prstGeom>
          <a:noFill/>
          <a:ln/>
        </p:spPr>
        <p:txBody>
          <a:bodyPr wrap="square" lIns="0" tIns="0" rIns="0" bIns="0" rtlCol="0" anchor="ctr"/>
          <a:lstStyle/>
          <a:p>
            <a:pPr indent="0" marL="0">
              <a:buNone/>
            </a:pPr>
            <a:r>
              <a:rPr lang="en-US" sz="1500" b="1" dirty="0">
                <a:solidFill>
                  <a:schemeClr val="bg1"/>
                </a:solidFill>
              </a:rPr>
              <a:t>The board</a:t>
            </a:r>
            <a:endParaRPr lang="en-US" sz="1500" dirty="0"/>
          </a:p>
        </p:txBody>
      </p:sp>
      <p:sp>
        <p:nvSpPr>
          <p:cNvPr id="18" name="Text 16"/>
          <p:cNvSpPr txBox="1"/>
          <p:nvPr/>
        </p:nvSpPr>
        <p:spPr>
          <a:xfrm>
            <a:off x="9121140" y="2194560"/>
            <a:ext cx="246888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One shared fact base to settle the strategy debate</a:t>
            </a:r>
            <a:endParaRPr lang="en-US" sz="1200" dirty="0"/>
          </a:p>
          <a:p>
            <a:pPr marL="342900" indent="-342900">
              <a:spcAft>
                <a:spcPts val="600"/>
              </a:spcAft>
              <a:buSzPct val="100000"/>
              <a:buChar char="•"/>
            </a:pPr>
            <a:r>
              <a:rPr lang="en-US" sz="1200" dirty="0">
                <a:solidFill>
                  <a:schemeClr val="tx1"/>
                </a:solidFill>
              </a:rPr>
              <a:t>Shared KPIs that balance sales and margin</a:t>
            </a:r>
            <a:endParaRPr lang="en-US" sz="1200" dirty="0"/>
          </a:p>
          <a:p>
            <a:pPr marL="342900" indent="-342900">
              <a:spcAft>
                <a:spcPts val="600"/>
              </a:spcAft>
              <a:buSzPct val="100000"/>
              <a:buChar char="•"/>
            </a:pPr>
            <a:r>
              <a:rPr lang="en-US" sz="1200" dirty="0">
                <a:solidFill>
                  <a:schemeClr val="tx1"/>
                </a:solidFill>
              </a:rPr>
              <a:t>A named owner for each initiative</a:t>
            </a:r>
            <a:endParaRPr lang="en-US" sz="1200" dirty="0"/>
          </a:p>
        </p:txBody>
      </p:sp>
      <p:sp>
        <p:nvSpPr>
          <p:cNvPr id="19" name="Risks"/>
          <p:cNvSpPr/>
          <p:nvPr/>
        </p:nvSpPr>
        <p:spPr>
          <a:xfrm>
            <a:off x="548640" y="5349240"/>
            <a:ext cx="11064240" cy="822960"/>
          </a:xfrm>
          <a:prstGeom prst="rect">
            <a:avLst/>
          </a:prstGeom>
          <a:solidFill>
            <a:schemeClr val="bg1"/>
          </a:solidFill>
          <a:ln w="12700">
            <a:solidFill>
              <a:srgbClr val="D52B1E"/>
            </a:solidFill>
            <a:prstDash val="solid"/>
          </a:ln>
        </p:spPr>
      </p:sp>
      <p:sp>
        <p:nvSpPr>
          <p:cNvPr id="20" name="Text 18"/>
          <p:cNvSpPr txBox="1"/>
          <p:nvPr/>
        </p:nvSpPr>
        <p:spPr>
          <a:xfrm>
            <a:off x="777240" y="5349240"/>
            <a:ext cx="10607040" cy="822960"/>
          </a:xfrm>
          <a:prstGeom prst="rect">
            <a:avLst/>
          </a:prstGeom>
          <a:noFill/>
          <a:ln/>
        </p:spPr>
        <p:txBody>
          <a:bodyPr wrap="square" lIns="0" tIns="0" rIns="0" bIns="0" rtlCol="0" anchor="ctr"/>
          <a:lstStyle/>
          <a:p>
            <a:pPr indent="0" marL="0">
              <a:buNone/>
            </a:pPr>
            <a:r>
              <a:rPr lang="en-US" sz="1500" b="1" dirty="0">
                <a:solidFill>
                  <a:schemeClr val="accent1"/>
                </a:solidFill>
              </a:rPr>
              <a:t>Biggest risks: </a:t>
            </a:r>
            <a:pPr indent="0" marL="0">
              <a:buNone/>
            </a:pPr>
            <a:r>
              <a:rPr lang="en-US" sz="1500" dirty="0">
                <a:solidFill>
                  <a:schemeClr val="tx1"/>
                </a:solidFill>
              </a:rPr>
              <a:t>leadership disagreement on stores versus online, the IT leadership gap, and change fatigue across sites.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bg1"/>
                </a:solidFill>
              </a:rPr>
              <a:t>We ask for three decisions today and will deliver facts in 30 days</a:t>
            </a:r>
            <a:endParaRPr lang="en-US" sz="2800" dirty="0"/>
          </a:p>
        </p:txBody>
      </p:sp>
      <p:sp>
        <p:nvSpPr>
          <p:cNvPr id="3" name="Decisions card"/>
          <p:cNvSpPr/>
          <p:nvPr/>
        </p:nvSpPr>
        <p:spPr>
          <a:xfrm>
            <a:off x="548640" y="1645920"/>
            <a:ext cx="5486400" cy="4206240"/>
          </a:xfrm>
          <a:prstGeom prst="rect">
            <a:avLst/>
          </a:prstGeom>
          <a:solidFill>
            <a:schemeClr val="accent1"/>
          </a:solidFill>
          <a:ln/>
        </p:spPr>
      </p:sp>
      <p:sp>
        <p:nvSpPr>
          <p:cNvPr id="4" name="Text 2"/>
          <p:cNvSpPr txBox="1"/>
          <p:nvPr/>
        </p:nvSpPr>
        <p:spPr>
          <a:xfrm>
            <a:off x="822960" y="1874520"/>
            <a:ext cx="493776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Decisions today</a:t>
            </a:r>
            <a:endParaRPr lang="en-US" sz="2200" dirty="0"/>
          </a:p>
        </p:txBody>
      </p:sp>
      <p:sp>
        <p:nvSpPr>
          <p:cNvPr id="5" name="Shape 3"/>
          <p:cNvSpPr/>
          <p:nvPr/>
        </p:nvSpPr>
        <p:spPr>
          <a:xfrm>
            <a:off x="822960" y="2606040"/>
            <a:ext cx="502920" cy="502920"/>
          </a:xfrm>
          <a:prstGeom prst="ellipse">
            <a:avLst/>
          </a:prstGeom>
          <a:solidFill>
            <a:schemeClr val="bg1"/>
          </a:solidFill>
          <a:ln/>
        </p:spPr>
      </p:sp>
      <p:sp>
        <p:nvSpPr>
          <p:cNvPr id="6" name="Text 4"/>
          <p:cNvSpPr txBox="1"/>
          <p:nvPr/>
        </p:nvSpPr>
        <p:spPr>
          <a:xfrm>
            <a:off x="822960" y="260604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 name="Text 5"/>
          <p:cNvSpPr txBox="1"/>
          <p:nvPr/>
        </p:nvSpPr>
        <p:spPr>
          <a:xfrm>
            <a:off x="1508760" y="2560320"/>
            <a:ext cx="4297680" cy="914400"/>
          </a:xfrm>
          <a:prstGeom prst="rect">
            <a:avLst/>
          </a:prstGeom>
          <a:noFill/>
          <a:ln/>
        </p:spPr>
        <p:txBody>
          <a:bodyPr wrap="square" lIns="0" tIns="0" rIns="0" bIns="0" rtlCol="0" anchor="t"/>
          <a:lstStyle/>
          <a:p>
            <a:pPr indent="0" marL="0">
              <a:buNone/>
            </a:pPr>
            <a:r>
              <a:rPr lang="en-US" sz="1600" dirty="0">
                <a:solidFill>
                  <a:schemeClr val="bg1"/>
                </a:solidFill>
              </a:rPr>
              <a:t>Endorse the reframe: one Virley experience in every channel</a:t>
            </a:r>
            <a:endParaRPr lang="en-US" sz="1600" dirty="0"/>
          </a:p>
        </p:txBody>
      </p:sp>
      <p:sp>
        <p:nvSpPr>
          <p:cNvPr id="8" name="Shape 6"/>
          <p:cNvSpPr/>
          <p:nvPr/>
        </p:nvSpPr>
        <p:spPr>
          <a:xfrm>
            <a:off x="822960" y="3657600"/>
            <a:ext cx="502920" cy="502920"/>
          </a:xfrm>
          <a:prstGeom prst="ellipse">
            <a:avLst/>
          </a:prstGeom>
          <a:solidFill>
            <a:schemeClr val="bg1"/>
          </a:solidFill>
          <a:ln/>
        </p:spPr>
      </p:sp>
      <p:sp>
        <p:nvSpPr>
          <p:cNvPr id="9" name="Text 7"/>
          <p:cNvSpPr txBox="1"/>
          <p:nvPr/>
        </p:nvSpPr>
        <p:spPr>
          <a:xfrm>
            <a:off x="822960" y="365760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0" name="Text 8"/>
          <p:cNvSpPr txBox="1"/>
          <p:nvPr/>
        </p:nvSpPr>
        <p:spPr>
          <a:xfrm>
            <a:off x="1508760" y="3611880"/>
            <a:ext cx="4297680" cy="914400"/>
          </a:xfrm>
          <a:prstGeom prst="rect">
            <a:avLst/>
          </a:prstGeom>
          <a:noFill/>
          <a:ln/>
        </p:spPr>
        <p:txBody>
          <a:bodyPr wrap="square" lIns="0" tIns="0" rIns="0" bIns="0" rtlCol="0" anchor="t"/>
          <a:lstStyle/>
          <a:p>
            <a:pPr indent="0" marL="0">
              <a:buNone/>
            </a:pPr>
            <a:r>
              <a:rPr lang="en-US" sz="1600" dirty="0">
                <a:solidFill>
                  <a:schemeClr val="bg1"/>
                </a:solidFill>
              </a:rPr>
              <a:t>Agree to prove the model in London and Birmingham</a:t>
            </a:r>
            <a:endParaRPr lang="en-US" sz="1600" dirty="0"/>
          </a:p>
        </p:txBody>
      </p:sp>
      <p:sp>
        <p:nvSpPr>
          <p:cNvPr id="11" name="Shape 9"/>
          <p:cNvSpPr/>
          <p:nvPr/>
        </p:nvSpPr>
        <p:spPr>
          <a:xfrm>
            <a:off x="822960" y="4709160"/>
            <a:ext cx="502920" cy="502920"/>
          </a:xfrm>
          <a:prstGeom prst="ellipse">
            <a:avLst/>
          </a:prstGeom>
          <a:solidFill>
            <a:schemeClr val="bg1"/>
          </a:solidFill>
          <a:ln/>
        </p:spPr>
      </p:sp>
      <p:sp>
        <p:nvSpPr>
          <p:cNvPr id="12" name="Text 10"/>
          <p:cNvSpPr txBox="1"/>
          <p:nvPr/>
        </p:nvSpPr>
        <p:spPr>
          <a:xfrm>
            <a:off x="822960" y="470916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3" name="Text 11"/>
          <p:cNvSpPr txBox="1"/>
          <p:nvPr/>
        </p:nvSpPr>
        <p:spPr>
          <a:xfrm>
            <a:off x="1508760" y="4663440"/>
            <a:ext cx="4297680" cy="914400"/>
          </a:xfrm>
          <a:prstGeom prst="rect">
            <a:avLst/>
          </a:prstGeom>
          <a:noFill/>
          <a:ln/>
        </p:spPr>
        <p:txBody>
          <a:bodyPr wrap="square" lIns="0" tIns="0" rIns="0" bIns="0" rtlCol="0" anchor="t"/>
          <a:lstStyle/>
          <a:p>
            <a:pPr indent="0" marL="0">
              <a:buNone/>
            </a:pPr>
            <a:r>
              <a:rPr lang="en-US" sz="1600" dirty="0">
                <a:solidFill>
                  <a:schemeClr val="bg1"/>
                </a:solidFill>
              </a:rPr>
              <a:t>Name sponsors and an interim IT leader</a:t>
            </a:r>
            <a:endParaRPr lang="en-US" sz="1600" dirty="0"/>
          </a:p>
        </p:txBody>
      </p:sp>
      <p:sp>
        <p:nvSpPr>
          <p:cNvPr id="14" name="Next 30 days card"/>
          <p:cNvSpPr/>
          <p:nvPr/>
        </p:nvSpPr>
        <p:spPr>
          <a:xfrm>
            <a:off x="6309360" y="1645920"/>
            <a:ext cx="5303520" cy="4206240"/>
          </a:xfrm>
          <a:prstGeom prst="rect">
            <a:avLst/>
          </a:prstGeom>
          <a:solidFill>
            <a:schemeClr val="tx2"/>
          </a:solidFill>
          <a:ln/>
        </p:spPr>
      </p:sp>
      <p:sp>
        <p:nvSpPr>
          <p:cNvPr id="15" name="Text 13"/>
          <p:cNvSpPr txBox="1"/>
          <p:nvPr/>
        </p:nvSpPr>
        <p:spPr>
          <a:xfrm>
            <a:off x="6583680" y="1874520"/>
            <a:ext cx="475488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Next 30 days</a:t>
            </a:r>
            <a:endParaRPr lang="en-US" sz="2200" dirty="0"/>
          </a:p>
        </p:txBody>
      </p:sp>
      <p:sp>
        <p:nvSpPr>
          <p:cNvPr id="16" name="Text 14"/>
          <p:cNvSpPr txBox="1"/>
          <p:nvPr/>
        </p:nvSpPr>
        <p:spPr>
          <a:xfrm>
            <a:off x="6583680" y="260604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rPr>
              <a:t>Benchmark V&amp;S against peers and size each lever</a:t>
            </a:r>
            <a:endParaRPr lang="en-US" sz="1600" dirty="0"/>
          </a:p>
          <a:p>
            <a:pPr marL="342900" indent="-342900">
              <a:spcAft>
                <a:spcPts val="1200"/>
              </a:spcAft>
              <a:buSzPct val="100000"/>
              <a:buChar char="•"/>
            </a:pPr>
            <a:r>
              <a:rPr lang="en-US" sz="1600" dirty="0">
                <a:solidFill>
                  <a:schemeClr val="bg1"/>
                </a:solidFill>
              </a:rPr>
              <a:t>Test the four hypotheses with the directors</a:t>
            </a:r>
            <a:endParaRPr lang="en-US" sz="1600" dirty="0"/>
          </a:p>
          <a:p>
            <a:pPr marL="342900" indent="-342900">
              <a:spcAft>
                <a:spcPts val="1200"/>
              </a:spcAft>
              <a:buSzPct val="100000"/>
              <a:buChar char="•"/>
            </a:pPr>
            <a:r>
              <a:rPr lang="en-US" sz="1600" dirty="0">
                <a:solidFill>
                  <a:schemeClr val="bg1"/>
                </a:solidFill>
              </a:rPr>
              <a:t>Request online conversion and store-level P&amp;L data</a:t>
            </a:r>
            <a:endParaRPr lang="en-US" sz="1600" dirty="0"/>
          </a:p>
          <a:p>
            <a:pPr marL="342900" indent="-342900">
              <a:spcAft>
                <a:spcPts val="1200"/>
              </a:spcAft>
              <a:buSzPct val="100000"/>
              <a:buChar char="•"/>
            </a:pPr>
            <a:r>
              <a:rPr lang="en-US" sz="1600" dirty="0">
                <a:solidFill>
                  <a:schemeClr val="bg1"/>
                </a:solidFill>
              </a:rPr>
              <a:t>Hold the co-creation session with store and online teams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Appendix: we chose grouping logic because the audience is action-oriented</a:t>
            </a:r>
            <a:endParaRPr lang="en-US" sz="2800" dirty="0"/>
          </a:p>
        </p:txBody>
      </p:sp>
      <p:sp>
        <p:nvSpPr>
          <p:cNvPr id="3" name="Text 1"/>
          <p:cNvSpPr txBox="1"/>
          <p:nvPr/>
        </p:nvSpPr>
        <p:spPr>
          <a:xfrm>
            <a:off x="548640" y="1600200"/>
            <a:ext cx="3566160" cy="320040"/>
          </a:xfrm>
          <a:prstGeom prst="rect">
            <a:avLst/>
          </a:prstGeom>
          <a:noFill/>
          <a:ln/>
        </p:spPr>
        <p:txBody>
          <a:bodyPr wrap="square" lIns="0" tIns="0" rIns="0" bIns="0" rtlCol="0" anchor="t"/>
          <a:lstStyle/>
          <a:p>
            <a:pPr indent="0" marL="0">
              <a:buNone/>
            </a:pPr>
            <a:r>
              <a:rPr lang="en-US" sz="1600" b="1" dirty="0">
                <a:solidFill>
                  <a:schemeClr val="accent1"/>
                </a:solidFill>
              </a:rPr>
              <a:t>Deductive logic</a:t>
            </a:r>
            <a:endParaRPr lang="en-US" sz="1600" dirty="0"/>
          </a:p>
        </p:txBody>
      </p:sp>
      <p:sp>
        <p:nvSpPr>
          <p:cNvPr id="4" name="Shape 2"/>
          <p:cNvSpPr/>
          <p:nvPr/>
        </p:nvSpPr>
        <p:spPr>
          <a:xfrm>
            <a:off x="548640" y="2011680"/>
            <a:ext cx="3566160" cy="3291840"/>
          </a:xfrm>
          <a:prstGeom prst="rect">
            <a:avLst/>
          </a:prstGeom>
          <a:solidFill>
            <a:schemeClr val="bg1"/>
          </a:solidFill>
          <a:ln w="12700">
            <a:solidFill>
              <a:schemeClr val="accent5"/>
            </a:solidFill>
            <a:prstDash val="solid"/>
          </a:ln>
        </p:spPr>
      </p:sp>
      <p:sp>
        <p:nvSpPr>
          <p:cNvPr id="5" name="Text 3"/>
          <p:cNvSpPr txBox="1"/>
          <p:nvPr/>
        </p:nvSpPr>
        <p:spPr>
          <a:xfrm>
            <a:off x="731520" y="2148840"/>
            <a:ext cx="3200400" cy="320040"/>
          </a:xfrm>
          <a:prstGeom prst="rect">
            <a:avLst/>
          </a:prstGeom>
          <a:noFill/>
          <a:ln/>
        </p:spPr>
        <p:txBody>
          <a:bodyPr wrap="square" lIns="0" tIns="0" rIns="0" bIns="0" rtlCol="0" anchor="t"/>
          <a:lstStyle/>
          <a:p>
            <a:pPr indent="0" marL="0">
              <a:buNone/>
            </a:pPr>
            <a:r>
              <a:rPr lang="en-US" sz="1600" b="1" dirty="0">
                <a:solidFill>
                  <a:schemeClr val="tx1"/>
                </a:solidFill>
              </a:rPr>
              <a:t>Argument</a:t>
            </a:r>
            <a:endParaRPr lang="en-US" sz="1600" dirty="0"/>
          </a:p>
        </p:txBody>
      </p:sp>
      <p:sp>
        <p:nvSpPr>
          <p:cNvPr id="6" name="Text 4"/>
          <p:cNvSpPr txBox="1"/>
          <p:nvPr/>
        </p:nvSpPr>
        <p:spPr>
          <a:xfrm>
            <a:off x="731520" y="2514600"/>
            <a:ext cx="3200400" cy="548640"/>
          </a:xfrm>
          <a:prstGeom prst="rect">
            <a:avLst/>
          </a:prstGeom>
          <a:noFill/>
          <a:ln/>
        </p:spPr>
        <p:txBody>
          <a:bodyPr wrap="square" lIns="0" tIns="0" rIns="0" bIns="0" rtlCol="0" anchor="t"/>
          <a:lstStyle/>
          <a:p>
            <a:pPr indent="0" marL="0">
              <a:buNone/>
            </a:pPr>
            <a:r>
              <a:rPr lang="en-US" sz="1300" dirty="0">
                <a:solidFill>
                  <a:schemeClr val="tx2"/>
                </a:solidFill>
              </a:rPr>
              <a:t>Particularly effective with a resistive audience</a:t>
            </a:r>
            <a:endParaRPr lang="en-US" sz="1300" dirty="0"/>
          </a:p>
        </p:txBody>
      </p:sp>
      <p:sp>
        <p:nvSpPr>
          <p:cNvPr id="7" name="Core message 1"/>
          <p:cNvSpPr/>
          <p:nvPr/>
        </p:nvSpPr>
        <p:spPr>
          <a:xfrm>
            <a:off x="1417320" y="3337560"/>
            <a:ext cx="1828800" cy="548640"/>
          </a:xfrm>
          <a:prstGeom prst="rect">
            <a:avLst/>
          </a:prstGeom>
          <a:solidFill>
            <a:schemeClr val="accent1"/>
          </a:solidFill>
          <a:ln/>
        </p:spPr>
      </p:sp>
      <p:sp>
        <p:nvSpPr>
          <p:cNvPr id="8" name="Text 6"/>
          <p:cNvSpPr txBox="1"/>
          <p:nvPr/>
        </p:nvSpPr>
        <p:spPr>
          <a:xfrm>
            <a:off x="1417320" y="3337560"/>
            <a:ext cx="1828800" cy="548640"/>
          </a:xfrm>
          <a:prstGeom prst="rect">
            <a:avLst/>
          </a:prstGeom>
          <a:noFill/>
          <a:ln/>
        </p:spPr>
        <p:txBody>
          <a:bodyPr wrap="square" lIns="0" tIns="0" rIns="0" bIns="0" rtlCol="0" anchor="ctr"/>
          <a:lstStyle/>
          <a:p>
            <a:pPr algn="ctr" indent="0" marL="0">
              <a:buNone/>
            </a:pPr>
            <a:r>
              <a:rPr lang="en-US" sz="1200" b="1" dirty="0">
                <a:solidFill>
                  <a:schemeClr val="bg1"/>
                </a:solidFill>
              </a:rPr>
              <a:t>Core message</a:t>
            </a:r>
            <a:endParaRPr lang="en-US" sz="1200" dirty="0"/>
          </a:p>
        </p:txBody>
      </p:sp>
      <p:sp>
        <p:nvSpPr>
          <p:cNvPr id="9" name="Shape 7"/>
          <p:cNvSpPr/>
          <p:nvPr/>
        </p:nvSpPr>
        <p:spPr>
          <a:xfrm>
            <a:off x="2331720" y="3886200"/>
            <a:ext cx="0" cy="274320"/>
          </a:xfrm>
          <a:prstGeom prst="line">
            <a:avLst/>
          </a:prstGeom>
          <a:noFill/>
          <a:ln w="12700">
            <a:solidFill>
              <a:schemeClr val="tx2"/>
            </a:solidFill>
            <a:prstDash val="solid"/>
          </a:ln>
        </p:spPr>
      </p:sp>
      <p:sp>
        <p:nvSpPr>
          <p:cNvPr id="10" name="Shape 8"/>
          <p:cNvSpPr/>
          <p:nvPr/>
        </p:nvSpPr>
        <p:spPr>
          <a:xfrm>
            <a:off x="1188720" y="4160520"/>
            <a:ext cx="2286000" cy="0"/>
          </a:xfrm>
          <a:prstGeom prst="line">
            <a:avLst/>
          </a:prstGeom>
          <a:noFill/>
          <a:ln w="12700">
            <a:solidFill>
              <a:schemeClr val="tx2"/>
            </a:solidFill>
            <a:prstDash val="solid"/>
          </a:ln>
        </p:spPr>
      </p:sp>
      <p:sp>
        <p:nvSpPr>
          <p:cNvPr id="11" name="Shape 9"/>
          <p:cNvSpPr/>
          <p:nvPr/>
        </p:nvSpPr>
        <p:spPr>
          <a:xfrm>
            <a:off x="1234440" y="4160520"/>
            <a:ext cx="0" cy="274320"/>
          </a:xfrm>
          <a:prstGeom prst="line">
            <a:avLst/>
          </a:prstGeom>
          <a:noFill/>
          <a:ln w="12700">
            <a:solidFill>
              <a:schemeClr val="tx2"/>
            </a:solidFill>
            <a:prstDash val="solid"/>
          </a:ln>
        </p:spPr>
      </p:sp>
      <p:sp>
        <p:nvSpPr>
          <p:cNvPr id="12" name="Box 1.1"/>
          <p:cNvSpPr/>
          <p:nvPr/>
        </p:nvSpPr>
        <p:spPr>
          <a:xfrm>
            <a:off x="731520" y="4434840"/>
            <a:ext cx="1005840" cy="640080"/>
          </a:xfrm>
          <a:prstGeom prst="rect">
            <a:avLst/>
          </a:prstGeom>
          <a:solidFill>
            <a:schemeClr val="tx2"/>
          </a:solidFill>
          <a:ln/>
        </p:spPr>
      </p:sp>
      <p:sp>
        <p:nvSpPr>
          <p:cNvPr id="13" name="Text 11"/>
          <p:cNvSpPr txBox="1"/>
          <p:nvPr/>
        </p:nvSpPr>
        <p:spPr>
          <a:xfrm>
            <a:off x="75895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Statement</a:t>
            </a:r>
            <a:endParaRPr lang="en-US" sz="1000" dirty="0"/>
          </a:p>
        </p:txBody>
      </p:sp>
      <p:sp>
        <p:nvSpPr>
          <p:cNvPr id="14" name="Shape 12"/>
          <p:cNvSpPr/>
          <p:nvPr/>
        </p:nvSpPr>
        <p:spPr>
          <a:xfrm>
            <a:off x="2331720" y="4160520"/>
            <a:ext cx="0" cy="274320"/>
          </a:xfrm>
          <a:prstGeom prst="line">
            <a:avLst/>
          </a:prstGeom>
          <a:noFill/>
          <a:ln w="12700">
            <a:solidFill>
              <a:schemeClr val="tx2"/>
            </a:solidFill>
            <a:prstDash val="solid"/>
          </a:ln>
        </p:spPr>
      </p:sp>
      <p:sp>
        <p:nvSpPr>
          <p:cNvPr id="15" name="Box 1.2"/>
          <p:cNvSpPr/>
          <p:nvPr/>
        </p:nvSpPr>
        <p:spPr>
          <a:xfrm>
            <a:off x="1828800" y="4434840"/>
            <a:ext cx="1005840" cy="640080"/>
          </a:xfrm>
          <a:prstGeom prst="rect">
            <a:avLst/>
          </a:prstGeom>
          <a:solidFill>
            <a:schemeClr val="tx2"/>
          </a:solidFill>
          <a:ln/>
        </p:spPr>
      </p:sp>
      <p:sp>
        <p:nvSpPr>
          <p:cNvPr id="16" name="Text 14"/>
          <p:cNvSpPr txBox="1"/>
          <p:nvPr/>
        </p:nvSpPr>
        <p:spPr>
          <a:xfrm>
            <a:off x="185623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Comment</a:t>
            </a:r>
            <a:endParaRPr lang="en-US" sz="1000" dirty="0"/>
          </a:p>
        </p:txBody>
      </p:sp>
      <p:sp>
        <p:nvSpPr>
          <p:cNvPr id="17" name="Shape 15"/>
          <p:cNvSpPr/>
          <p:nvPr/>
        </p:nvSpPr>
        <p:spPr>
          <a:xfrm>
            <a:off x="3429000" y="4160520"/>
            <a:ext cx="0" cy="274320"/>
          </a:xfrm>
          <a:prstGeom prst="line">
            <a:avLst/>
          </a:prstGeom>
          <a:noFill/>
          <a:ln w="12700">
            <a:solidFill>
              <a:schemeClr val="tx2"/>
            </a:solidFill>
            <a:prstDash val="solid"/>
          </a:ln>
        </p:spPr>
      </p:sp>
      <p:sp>
        <p:nvSpPr>
          <p:cNvPr id="18" name="Box 1.3"/>
          <p:cNvSpPr/>
          <p:nvPr/>
        </p:nvSpPr>
        <p:spPr>
          <a:xfrm>
            <a:off x="2926080" y="4434840"/>
            <a:ext cx="1005840" cy="640080"/>
          </a:xfrm>
          <a:prstGeom prst="rect">
            <a:avLst/>
          </a:prstGeom>
          <a:solidFill>
            <a:schemeClr val="tx2"/>
          </a:solidFill>
          <a:ln/>
        </p:spPr>
      </p:sp>
      <p:sp>
        <p:nvSpPr>
          <p:cNvPr id="19" name="Text 17"/>
          <p:cNvSpPr txBox="1"/>
          <p:nvPr/>
        </p:nvSpPr>
        <p:spPr>
          <a:xfrm>
            <a:off x="295351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Recommen-dation</a:t>
            </a:r>
            <a:endParaRPr lang="en-US" sz="1000" dirty="0"/>
          </a:p>
        </p:txBody>
      </p:sp>
      <p:sp>
        <p:nvSpPr>
          <p:cNvPr id="20" name="Text 18"/>
          <p:cNvSpPr txBox="1"/>
          <p:nvPr/>
        </p:nvSpPr>
        <p:spPr>
          <a:xfrm>
            <a:off x="4297680" y="1600200"/>
            <a:ext cx="3566160" cy="320040"/>
          </a:xfrm>
          <a:prstGeom prst="rect">
            <a:avLst/>
          </a:prstGeom>
          <a:noFill/>
          <a:ln/>
        </p:spPr>
        <p:txBody>
          <a:bodyPr wrap="square" lIns="0" tIns="0" rIns="0" bIns="0" rtlCol="0" anchor="t"/>
          <a:lstStyle/>
          <a:p>
            <a:pPr indent="0" marL="0">
              <a:buNone/>
            </a:pPr>
            <a:r>
              <a:rPr lang="en-US" sz="1600" b="1" dirty="0">
                <a:solidFill>
                  <a:schemeClr val="accent1"/>
                </a:solidFill>
              </a:rPr>
              <a:t>Inductive logic  (our choice)</a:t>
            </a:r>
            <a:endParaRPr lang="en-US" sz="1600" dirty="0"/>
          </a:p>
        </p:txBody>
      </p:sp>
      <p:sp>
        <p:nvSpPr>
          <p:cNvPr id="21" name="Shape 19"/>
          <p:cNvSpPr/>
          <p:nvPr/>
        </p:nvSpPr>
        <p:spPr>
          <a:xfrm>
            <a:off x="4297680" y="2011680"/>
            <a:ext cx="3566160" cy="3291840"/>
          </a:xfrm>
          <a:prstGeom prst="rect">
            <a:avLst/>
          </a:prstGeom>
          <a:solidFill>
            <a:schemeClr val="bg2"/>
          </a:solidFill>
          <a:ln w="31750">
            <a:solidFill>
              <a:schemeClr val="accent1"/>
            </a:solidFill>
            <a:prstDash val="solid"/>
          </a:ln>
        </p:spPr>
      </p:sp>
      <p:sp>
        <p:nvSpPr>
          <p:cNvPr id="22" name="Text 20"/>
          <p:cNvSpPr txBox="1"/>
          <p:nvPr/>
        </p:nvSpPr>
        <p:spPr>
          <a:xfrm>
            <a:off x="4480560" y="2148840"/>
            <a:ext cx="3200400" cy="320040"/>
          </a:xfrm>
          <a:prstGeom prst="rect">
            <a:avLst/>
          </a:prstGeom>
          <a:noFill/>
          <a:ln/>
        </p:spPr>
        <p:txBody>
          <a:bodyPr wrap="square" lIns="0" tIns="0" rIns="0" bIns="0" rtlCol="0" anchor="t"/>
          <a:lstStyle/>
          <a:p>
            <a:pPr indent="0" marL="0">
              <a:buNone/>
            </a:pPr>
            <a:r>
              <a:rPr lang="en-US" sz="1600" b="1" dirty="0">
                <a:solidFill>
                  <a:schemeClr val="tx1"/>
                </a:solidFill>
              </a:rPr>
              <a:t>Grouping</a:t>
            </a:r>
            <a:endParaRPr lang="en-US" sz="1600" dirty="0"/>
          </a:p>
        </p:txBody>
      </p:sp>
      <p:sp>
        <p:nvSpPr>
          <p:cNvPr id="23" name="Text 21"/>
          <p:cNvSpPr txBox="1"/>
          <p:nvPr/>
        </p:nvSpPr>
        <p:spPr>
          <a:xfrm>
            <a:off x="4480560" y="2514600"/>
            <a:ext cx="3200400" cy="548640"/>
          </a:xfrm>
          <a:prstGeom prst="rect">
            <a:avLst/>
          </a:prstGeom>
          <a:noFill/>
          <a:ln/>
        </p:spPr>
        <p:txBody>
          <a:bodyPr wrap="square" lIns="0" tIns="0" rIns="0" bIns="0" rtlCol="0" anchor="t"/>
          <a:lstStyle/>
          <a:p>
            <a:pPr indent="0" marL="0">
              <a:buNone/>
            </a:pPr>
            <a:r>
              <a:rPr lang="en-US" sz="1300" dirty="0">
                <a:solidFill>
                  <a:schemeClr val="tx2"/>
                </a:solidFill>
              </a:rPr>
              <a:t>Very effective for an action-oriented audience</a:t>
            </a:r>
            <a:endParaRPr lang="en-US" sz="1300" dirty="0"/>
          </a:p>
        </p:txBody>
      </p:sp>
      <p:sp>
        <p:nvSpPr>
          <p:cNvPr id="24" name="Core message 2"/>
          <p:cNvSpPr/>
          <p:nvPr/>
        </p:nvSpPr>
        <p:spPr>
          <a:xfrm>
            <a:off x="5166360" y="3337560"/>
            <a:ext cx="1828800" cy="548640"/>
          </a:xfrm>
          <a:prstGeom prst="rect">
            <a:avLst/>
          </a:prstGeom>
          <a:solidFill>
            <a:schemeClr val="accent1"/>
          </a:solidFill>
          <a:ln/>
        </p:spPr>
      </p:sp>
      <p:sp>
        <p:nvSpPr>
          <p:cNvPr id="25" name="Text 23"/>
          <p:cNvSpPr txBox="1"/>
          <p:nvPr/>
        </p:nvSpPr>
        <p:spPr>
          <a:xfrm>
            <a:off x="5166360" y="3337560"/>
            <a:ext cx="1828800" cy="548640"/>
          </a:xfrm>
          <a:prstGeom prst="rect">
            <a:avLst/>
          </a:prstGeom>
          <a:noFill/>
          <a:ln/>
        </p:spPr>
        <p:txBody>
          <a:bodyPr wrap="square" lIns="0" tIns="0" rIns="0" bIns="0" rtlCol="0" anchor="ctr"/>
          <a:lstStyle/>
          <a:p>
            <a:pPr algn="ctr" indent="0" marL="0">
              <a:buNone/>
            </a:pPr>
            <a:r>
              <a:rPr lang="en-US" sz="1200" b="1" dirty="0">
                <a:solidFill>
                  <a:schemeClr val="bg1"/>
                </a:solidFill>
              </a:rPr>
              <a:t>Core message</a:t>
            </a:r>
            <a:endParaRPr lang="en-US" sz="1200" dirty="0"/>
          </a:p>
        </p:txBody>
      </p:sp>
      <p:sp>
        <p:nvSpPr>
          <p:cNvPr id="26" name="Shape 24"/>
          <p:cNvSpPr/>
          <p:nvPr/>
        </p:nvSpPr>
        <p:spPr>
          <a:xfrm>
            <a:off x="6080760" y="3886200"/>
            <a:ext cx="0" cy="274320"/>
          </a:xfrm>
          <a:prstGeom prst="line">
            <a:avLst/>
          </a:prstGeom>
          <a:noFill/>
          <a:ln w="12700">
            <a:solidFill>
              <a:schemeClr val="tx2"/>
            </a:solidFill>
            <a:prstDash val="solid"/>
          </a:ln>
        </p:spPr>
      </p:sp>
      <p:sp>
        <p:nvSpPr>
          <p:cNvPr id="27" name="Shape 25"/>
          <p:cNvSpPr/>
          <p:nvPr/>
        </p:nvSpPr>
        <p:spPr>
          <a:xfrm>
            <a:off x="4937760" y="4160520"/>
            <a:ext cx="2286000" cy="0"/>
          </a:xfrm>
          <a:prstGeom prst="line">
            <a:avLst/>
          </a:prstGeom>
          <a:noFill/>
          <a:ln w="12700">
            <a:solidFill>
              <a:schemeClr val="tx2"/>
            </a:solidFill>
            <a:prstDash val="solid"/>
          </a:ln>
        </p:spPr>
      </p:sp>
      <p:sp>
        <p:nvSpPr>
          <p:cNvPr id="28" name="Shape 26"/>
          <p:cNvSpPr/>
          <p:nvPr/>
        </p:nvSpPr>
        <p:spPr>
          <a:xfrm>
            <a:off x="4983480" y="4160520"/>
            <a:ext cx="0" cy="274320"/>
          </a:xfrm>
          <a:prstGeom prst="line">
            <a:avLst/>
          </a:prstGeom>
          <a:noFill/>
          <a:ln w="12700">
            <a:solidFill>
              <a:schemeClr val="tx2"/>
            </a:solidFill>
            <a:prstDash val="solid"/>
          </a:ln>
        </p:spPr>
      </p:sp>
      <p:sp>
        <p:nvSpPr>
          <p:cNvPr id="29" name="Box 2.1"/>
          <p:cNvSpPr/>
          <p:nvPr/>
        </p:nvSpPr>
        <p:spPr>
          <a:xfrm>
            <a:off x="4480560" y="4434840"/>
            <a:ext cx="1005840" cy="640080"/>
          </a:xfrm>
          <a:prstGeom prst="rect">
            <a:avLst/>
          </a:prstGeom>
          <a:solidFill>
            <a:schemeClr val="tx2"/>
          </a:solidFill>
          <a:ln/>
        </p:spPr>
      </p:sp>
      <p:sp>
        <p:nvSpPr>
          <p:cNvPr id="30" name="Text 28"/>
          <p:cNvSpPr txBox="1"/>
          <p:nvPr/>
        </p:nvSpPr>
        <p:spPr>
          <a:xfrm>
            <a:off x="450799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Reason 1</a:t>
            </a:r>
            <a:endParaRPr lang="en-US" sz="1000" dirty="0"/>
          </a:p>
        </p:txBody>
      </p:sp>
      <p:sp>
        <p:nvSpPr>
          <p:cNvPr id="31" name="Shape 29"/>
          <p:cNvSpPr/>
          <p:nvPr/>
        </p:nvSpPr>
        <p:spPr>
          <a:xfrm>
            <a:off x="6080760" y="4160520"/>
            <a:ext cx="0" cy="274320"/>
          </a:xfrm>
          <a:prstGeom prst="line">
            <a:avLst/>
          </a:prstGeom>
          <a:noFill/>
          <a:ln w="12700">
            <a:solidFill>
              <a:schemeClr val="tx2"/>
            </a:solidFill>
            <a:prstDash val="solid"/>
          </a:ln>
        </p:spPr>
      </p:sp>
      <p:sp>
        <p:nvSpPr>
          <p:cNvPr id="32" name="Box 2.2"/>
          <p:cNvSpPr/>
          <p:nvPr/>
        </p:nvSpPr>
        <p:spPr>
          <a:xfrm>
            <a:off x="5577840" y="4434840"/>
            <a:ext cx="1005840" cy="640080"/>
          </a:xfrm>
          <a:prstGeom prst="rect">
            <a:avLst/>
          </a:prstGeom>
          <a:solidFill>
            <a:schemeClr val="tx2"/>
          </a:solidFill>
          <a:ln/>
        </p:spPr>
      </p:sp>
      <p:sp>
        <p:nvSpPr>
          <p:cNvPr id="33" name="Text 31"/>
          <p:cNvSpPr txBox="1"/>
          <p:nvPr/>
        </p:nvSpPr>
        <p:spPr>
          <a:xfrm>
            <a:off x="560527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Reason 2</a:t>
            </a:r>
            <a:endParaRPr lang="en-US" sz="1000" dirty="0"/>
          </a:p>
        </p:txBody>
      </p:sp>
      <p:sp>
        <p:nvSpPr>
          <p:cNvPr id="34" name="Shape 32"/>
          <p:cNvSpPr/>
          <p:nvPr/>
        </p:nvSpPr>
        <p:spPr>
          <a:xfrm>
            <a:off x="7178040" y="4160520"/>
            <a:ext cx="0" cy="274320"/>
          </a:xfrm>
          <a:prstGeom prst="line">
            <a:avLst/>
          </a:prstGeom>
          <a:noFill/>
          <a:ln w="12700">
            <a:solidFill>
              <a:schemeClr val="tx2"/>
            </a:solidFill>
            <a:prstDash val="solid"/>
          </a:ln>
        </p:spPr>
      </p:sp>
      <p:sp>
        <p:nvSpPr>
          <p:cNvPr id="35" name="Box 2.3"/>
          <p:cNvSpPr/>
          <p:nvPr/>
        </p:nvSpPr>
        <p:spPr>
          <a:xfrm>
            <a:off x="6675120" y="4434840"/>
            <a:ext cx="1005840" cy="640080"/>
          </a:xfrm>
          <a:prstGeom prst="rect">
            <a:avLst/>
          </a:prstGeom>
          <a:solidFill>
            <a:schemeClr val="tx2"/>
          </a:solidFill>
          <a:ln/>
        </p:spPr>
      </p:sp>
      <p:sp>
        <p:nvSpPr>
          <p:cNvPr id="36" name="Text 34"/>
          <p:cNvSpPr txBox="1"/>
          <p:nvPr/>
        </p:nvSpPr>
        <p:spPr>
          <a:xfrm>
            <a:off x="670255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Reason 3</a:t>
            </a:r>
            <a:endParaRPr lang="en-US" sz="1000" dirty="0"/>
          </a:p>
        </p:txBody>
      </p:sp>
      <p:sp>
        <p:nvSpPr>
          <p:cNvPr id="37" name="Text 35"/>
          <p:cNvSpPr txBox="1"/>
          <p:nvPr/>
        </p:nvSpPr>
        <p:spPr>
          <a:xfrm>
            <a:off x="8046720" y="1600200"/>
            <a:ext cx="3566160" cy="320040"/>
          </a:xfrm>
          <a:prstGeom prst="rect">
            <a:avLst/>
          </a:prstGeom>
          <a:noFill/>
          <a:ln/>
        </p:spPr>
        <p:txBody>
          <a:bodyPr wrap="square" lIns="0" tIns="0" rIns="0" bIns="0" rtlCol="0" anchor="t"/>
          <a:lstStyle/>
          <a:p>
            <a:pPr indent="0" marL="0">
              <a:buNone/>
            </a:pPr>
            <a:r>
              <a:rPr lang="en-US" sz="1600" b="1" dirty="0">
                <a:solidFill>
                  <a:schemeClr val="accent1"/>
                </a:solidFill>
              </a:rPr>
              <a:t>Abductive logic</a:t>
            </a:r>
            <a:endParaRPr lang="en-US" sz="1600" dirty="0"/>
          </a:p>
        </p:txBody>
      </p:sp>
      <p:sp>
        <p:nvSpPr>
          <p:cNvPr id="38" name="Shape 36"/>
          <p:cNvSpPr/>
          <p:nvPr/>
        </p:nvSpPr>
        <p:spPr>
          <a:xfrm>
            <a:off x="8046720" y="2011680"/>
            <a:ext cx="3566160" cy="3291840"/>
          </a:xfrm>
          <a:prstGeom prst="rect">
            <a:avLst/>
          </a:prstGeom>
          <a:solidFill>
            <a:schemeClr val="bg1"/>
          </a:solidFill>
          <a:ln w="12700">
            <a:solidFill>
              <a:schemeClr val="accent5"/>
            </a:solidFill>
            <a:prstDash val="solid"/>
          </a:ln>
        </p:spPr>
      </p:sp>
      <p:sp>
        <p:nvSpPr>
          <p:cNvPr id="39" name="Text 37"/>
          <p:cNvSpPr txBox="1"/>
          <p:nvPr/>
        </p:nvSpPr>
        <p:spPr>
          <a:xfrm>
            <a:off x="8229600" y="2148840"/>
            <a:ext cx="3200400" cy="320040"/>
          </a:xfrm>
          <a:prstGeom prst="rect">
            <a:avLst/>
          </a:prstGeom>
          <a:noFill/>
          <a:ln/>
        </p:spPr>
        <p:txBody>
          <a:bodyPr wrap="square" lIns="0" tIns="0" rIns="0" bIns="0" rtlCol="0" anchor="t"/>
          <a:lstStyle/>
          <a:p>
            <a:pPr indent="0" marL="0">
              <a:buNone/>
            </a:pPr>
            <a:r>
              <a:rPr lang="en-US" sz="1600" b="1" dirty="0">
                <a:solidFill>
                  <a:schemeClr val="tx1"/>
                </a:solidFill>
              </a:rPr>
              <a:t>Test</a:t>
            </a:r>
            <a:endParaRPr lang="en-US" sz="1600" dirty="0"/>
          </a:p>
        </p:txBody>
      </p:sp>
      <p:sp>
        <p:nvSpPr>
          <p:cNvPr id="40" name="Text 38"/>
          <p:cNvSpPr txBox="1"/>
          <p:nvPr/>
        </p:nvSpPr>
        <p:spPr>
          <a:xfrm>
            <a:off x="8229600" y="2514600"/>
            <a:ext cx="3200400" cy="548640"/>
          </a:xfrm>
          <a:prstGeom prst="rect">
            <a:avLst/>
          </a:prstGeom>
          <a:noFill/>
          <a:ln/>
        </p:spPr>
        <p:txBody>
          <a:bodyPr wrap="square" lIns="0" tIns="0" rIns="0" bIns="0" rtlCol="0" anchor="t"/>
          <a:lstStyle/>
          <a:p>
            <a:pPr indent="0" marL="0">
              <a:buNone/>
            </a:pPr>
            <a:r>
              <a:rPr lang="en-US" sz="1300" dirty="0">
                <a:solidFill>
                  <a:schemeClr val="tx2"/>
                </a:solidFill>
              </a:rPr>
              <a:t>Effective in convincing skeptical audiences</a:t>
            </a:r>
            <a:endParaRPr lang="en-US" sz="1300" dirty="0"/>
          </a:p>
        </p:txBody>
      </p:sp>
      <p:sp>
        <p:nvSpPr>
          <p:cNvPr id="41" name="Core message 3"/>
          <p:cNvSpPr/>
          <p:nvPr/>
        </p:nvSpPr>
        <p:spPr>
          <a:xfrm>
            <a:off x="8915400" y="3337560"/>
            <a:ext cx="1828800" cy="548640"/>
          </a:xfrm>
          <a:prstGeom prst="rect">
            <a:avLst/>
          </a:prstGeom>
          <a:solidFill>
            <a:schemeClr val="accent1"/>
          </a:solidFill>
          <a:ln/>
        </p:spPr>
      </p:sp>
      <p:sp>
        <p:nvSpPr>
          <p:cNvPr id="42" name="Text 40"/>
          <p:cNvSpPr txBox="1"/>
          <p:nvPr/>
        </p:nvSpPr>
        <p:spPr>
          <a:xfrm>
            <a:off x="8915400" y="3337560"/>
            <a:ext cx="1828800" cy="548640"/>
          </a:xfrm>
          <a:prstGeom prst="rect">
            <a:avLst/>
          </a:prstGeom>
          <a:noFill/>
          <a:ln/>
        </p:spPr>
        <p:txBody>
          <a:bodyPr wrap="square" lIns="0" tIns="0" rIns="0" bIns="0" rtlCol="0" anchor="ctr"/>
          <a:lstStyle/>
          <a:p>
            <a:pPr algn="ctr" indent="0" marL="0">
              <a:buNone/>
            </a:pPr>
            <a:r>
              <a:rPr lang="en-US" sz="1200" b="1" dirty="0">
                <a:solidFill>
                  <a:schemeClr val="bg1"/>
                </a:solidFill>
              </a:rPr>
              <a:t>Core message</a:t>
            </a:r>
            <a:endParaRPr lang="en-US" sz="1200" dirty="0"/>
          </a:p>
        </p:txBody>
      </p:sp>
      <p:sp>
        <p:nvSpPr>
          <p:cNvPr id="43" name="Shape 41"/>
          <p:cNvSpPr/>
          <p:nvPr/>
        </p:nvSpPr>
        <p:spPr>
          <a:xfrm>
            <a:off x="9829800" y="3886200"/>
            <a:ext cx="0" cy="274320"/>
          </a:xfrm>
          <a:prstGeom prst="line">
            <a:avLst/>
          </a:prstGeom>
          <a:noFill/>
          <a:ln w="12700">
            <a:solidFill>
              <a:schemeClr val="tx2"/>
            </a:solidFill>
            <a:prstDash val="solid"/>
          </a:ln>
        </p:spPr>
      </p:sp>
      <p:sp>
        <p:nvSpPr>
          <p:cNvPr id="44" name="Shape 42"/>
          <p:cNvSpPr/>
          <p:nvPr/>
        </p:nvSpPr>
        <p:spPr>
          <a:xfrm>
            <a:off x="8686800" y="4160520"/>
            <a:ext cx="2286000" cy="0"/>
          </a:xfrm>
          <a:prstGeom prst="line">
            <a:avLst/>
          </a:prstGeom>
          <a:noFill/>
          <a:ln w="12700">
            <a:solidFill>
              <a:schemeClr val="tx2"/>
            </a:solidFill>
            <a:prstDash val="solid"/>
          </a:ln>
        </p:spPr>
      </p:sp>
      <p:sp>
        <p:nvSpPr>
          <p:cNvPr id="45" name="Shape 43"/>
          <p:cNvSpPr/>
          <p:nvPr/>
        </p:nvSpPr>
        <p:spPr>
          <a:xfrm>
            <a:off x="8732520" y="4160520"/>
            <a:ext cx="0" cy="274320"/>
          </a:xfrm>
          <a:prstGeom prst="line">
            <a:avLst/>
          </a:prstGeom>
          <a:noFill/>
          <a:ln w="12700">
            <a:solidFill>
              <a:schemeClr val="tx2"/>
            </a:solidFill>
            <a:prstDash val="solid"/>
          </a:ln>
        </p:spPr>
      </p:sp>
      <p:sp>
        <p:nvSpPr>
          <p:cNvPr id="46" name="Box 3.1"/>
          <p:cNvSpPr/>
          <p:nvPr/>
        </p:nvSpPr>
        <p:spPr>
          <a:xfrm>
            <a:off x="8229600" y="4434840"/>
            <a:ext cx="1005840" cy="640080"/>
          </a:xfrm>
          <a:prstGeom prst="rect">
            <a:avLst/>
          </a:prstGeom>
          <a:solidFill>
            <a:schemeClr val="tx2"/>
          </a:solidFill>
          <a:ln/>
        </p:spPr>
      </p:sp>
      <p:sp>
        <p:nvSpPr>
          <p:cNvPr id="47" name="Text 45"/>
          <p:cNvSpPr txBox="1"/>
          <p:nvPr/>
        </p:nvSpPr>
        <p:spPr>
          <a:xfrm>
            <a:off x="825703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Test 1</a:t>
            </a:r>
            <a:endParaRPr lang="en-US" sz="1000" dirty="0"/>
          </a:p>
        </p:txBody>
      </p:sp>
      <p:sp>
        <p:nvSpPr>
          <p:cNvPr id="48" name="Shape 46"/>
          <p:cNvSpPr/>
          <p:nvPr/>
        </p:nvSpPr>
        <p:spPr>
          <a:xfrm>
            <a:off x="9829800" y="4160520"/>
            <a:ext cx="0" cy="274320"/>
          </a:xfrm>
          <a:prstGeom prst="line">
            <a:avLst/>
          </a:prstGeom>
          <a:noFill/>
          <a:ln w="12700">
            <a:solidFill>
              <a:schemeClr val="tx2"/>
            </a:solidFill>
            <a:prstDash val="solid"/>
          </a:ln>
        </p:spPr>
      </p:sp>
      <p:sp>
        <p:nvSpPr>
          <p:cNvPr id="49" name="Box 3.2"/>
          <p:cNvSpPr/>
          <p:nvPr/>
        </p:nvSpPr>
        <p:spPr>
          <a:xfrm>
            <a:off x="9326880" y="4434840"/>
            <a:ext cx="1005840" cy="640080"/>
          </a:xfrm>
          <a:prstGeom prst="rect">
            <a:avLst/>
          </a:prstGeom>
          <a:solidFill>
            <a:schemeClr val="tx2"/>
          </a:solidFill>
          <a:ln/>
        </p:spPr>
      </p:sp>
      <p:sp>
        <p:nvSpPr>
          <p:cNvPr id="50" name="Text 48"/>
          <p:cNvSpPr txBox="1"/>
          <p:nvPr/>
        </p:nvSpPr>
        <p:spPr>
          <a:xfrm>
            <a:off x="935431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Test 2</a:t>
            </a:r>
            <a:endParaRPr lang="en-US" sz="1000" dirty="0"/>
          </a:p>
        </p:txBody>
      </p:sp>
      <p:sp>
        <p:nvSpPr>
          <p:cNvPr id="51" name="Shape 49"/>
          <p:cNvSpPr/>
          <p:nvPr/>
        </p:nvSpPr>
        <p:spPr>
          <a:xfrm>
            <a:off x="10927080" y="4160520"/>
            <a:ext cx="0" cy="274320"/>
          </a:xfrm>
          <a:prstGeom prst="line">
            <a:avLst/>
          </a:prstGeom>
          <a:noFill/>
          <a:ln w="12700">
            <a:solidFill>
              <a:schemeClr val="tx2"/>
            </a:solidFill>
            <a:prstDash val="solid"/>
          </a:ln>
        </p:spPr>
      </p:sp>
      <p:sp>
        <p:nvSpPr>
          <p:cNvPr id="52" name="Box 3.3"/>
          <p:cNvSpPr/>
          <p:nvPr/>
        </p:nvSpPr>
        <p:spPr>
          <a:xfrm>
            <a:off x="10424160" y="4434840"/>
            <a:ext cx="1005840" cy="640080"/>
          </a:xfrm>
          <a:prstGeom prst="rect">
            <a:avLst/>
          </a:prstGeom>
          <a:solidFill>
            <a:schemeClr val="tx2"/>
          </a:solidFill>
          <a:ln/>
        </p:spPr>
      </p:sp>
      <p:sp>
        <p:nvSpPr>
          <p:cNvPr id="53" name="Text 51"/>
          <p:cNvSpPr txBox="1"/>
          <p:nvPr/>
        </p:nvSpPr>
        <p:spPr>
          <a:xfrm>
            <a:off x="10451592" y="4434840"/>
            <a:ext cx="950976" cy="640080"/>
          </a:xfrm>
          <a:prstGeom prst="rect">
            <a:avLst/>
          </a:prstGeom>
          <a:noFill/>
          <a:ln/>
        </p:spPr>
        <p:txBody>
          <a:bodyPr wrap="square" lIns="0" tIns="0" rIns="0" bIns="0" rtlCol="0" anchor="ctr"/>
          <a:lstStyle/>
          <a:p>
            <a:pPr algn="ctr" indent="0" marL="0">
              <a:buNone/>
            </a:pPr>
            <a:r>
              <a:rPr lang="en-US" sz="1000" dirty="0">
                <a:solidFill>
                  <a:schemeClr val="bg1"/>
                </a:solidFill>
              </a:rPr>
              <a:t>Test 3</a:t>
            </a:r>
            <a:endParaRPr lang="en-US" sz="1000" dirty="0"/>
          </a:p>
        </p:txBody>
      </p:sp>
      <p:sp>
        <p:nvSpPr>
          <p:cNvPr id="54" name="Text 52"/>
          <p:cNvSpPr txBox="1"/>
          <p:nvPr/>
        </p:nvSpPr>
        <p:spPr>
          <a:xfrm>
            <a:off x="548640" y="5577840"/>
            <a:ext cx="11064240" cy="365760"/>
          </a:xfrm>
          <a:prstGeom prst="rect">
            <a:avLst/>
          </a:prstGeom>
          <a:noFill/>
          <a:ln/>
        </p:spPr>
        <p:txBody>
          <a:bodyPr wrap="square" lIns="0" tIns="0" rIns="0" bIns="0" rtlCol="0" anchor="t"/>
          <a:lstStyle/>
          <a:p>
            <a:pPr indent="0" marL="0">
              <a:buNone/>
            </a:pPr>
            <a:r>
              <a:rPr lang="en-US" sz="1400" i="1" dirty="0">
                <a:solidFill>
                  <a:schemeClr val="tx1"/>
                </a:solidFill>
              </a:rPr>
              <a:t>Our three main ideas are the three reasons that support the core message.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Appendix: sources and data notes</a:t>
            </a:r>
            <a:endParaRPr lang="en-US" sz="2800" dirty="0"/>
          </a:p>
        </p:txBody>
      </p:sp>
      <p:sp>
        <p:nvSpPr>
          <p:cNvPr id="3" name="Appendix card 1"/>
          <p:cNvSpPr/>
          <p:nvPr/>
        </p:nvSpPr>
        <p:spPr>
          <a:xfrm>
            <a:off x="548640" y="1508760"/>
            <a:ext cx="5394960" cy="4480560"/>
          </a:xfrm>
          <a:prstGeom prst="rect">
            <a:avLst/>
          </a:prstGeom>
          <a:solidFill>
            <a:schemeClr val="bg2"/>
          </a:solidFill>
          <a:ln/>
        </p:spPr>
      </p:sp>
      <p:sp>
        <p:nvSpPr>
          <p:cNvPr id="4" name="Text 2"/>
          <p:cNvSpPr txBox="1"/>
          <p:nvPr/>
        </p:nvSpPr>
        <p:spPr>
          <a:xfrm>
            <a:off x="777240" y="1691640"/>
            <a:ext cx="4937760" cy="365760"/>
          </a:xfrm>
          <a:prstGeom prst="rect">
            <a:avLst/>
          </a:prstGeom>
          <a:noFill/>
          <a:ln/>
        </p:spPr>
        <p:txBody>
          <a:bodyPr wrap="square" lIns="0" tIns="0" rIns="0" bIns="0" rtlCol="0" anchor="t"/>
          <a:lstStyle/>
          <a:p>
            <a:pPr indent="0" marL="0">
              <a:buNone/>
            </a:pPr>
            <a:r>
              <a:rPr lang="en-US" sz="1600" b="1" dirty="0">
                <a:solidFill>
                  <a:schemeClr val="accent1"/>
                </a:solidFill>
              </a:rPr>
              <a:t>Sources</a:t>
            </a:r>
            <a:endParaRPr lang="en-US" sz="1600" dirty="0"/>
          </a:p>
        </p:txBody>
      </p:sp>
      <p:sp>
        <p:nvSpPr>
          <p:cNvPr id="5" name="Text 3"/>
          <p:cNvSpPr txBox="1"/>
          <p:nvPr/>
        </p:nvSpPr>
        <p:spPr>
          <a:xfrm>
            <a:off x="777240" y="2194560"/>
            <a:ext cx="4937760" cy="36576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chemeClr val="tx1"/>
                </a:solidFill>
              </a:rPr>
              <a:t>DP1_CENH sales data and V&amp;S financials (FY-1 P&amp;L)</a:t>
            </a:r>
            <a:endParaRPr lang="en-US" sz="1300" dirty="0"/>
          </a:p>
          <a:p>
            <a:pPr marL="342900" indent="-342900">
              <a:spcAft>
                <a:spcPts val="1000"/>
              </a:spcAft>
              <a:buSzPct val="100000"/>
              <a:buChar char="•"/>
            </a:pPr>
            <a:r>
              <a:rPr lang="en-US" sz="1300" dirty="0">
                <a:solidFill>
                  <a:schemeClr val="tx1"/>
                </a:solidFill>
              </a:rPr>
              <a:t>Store stock order process map; stock management memo</a:t>
            </a:r>
            <a:endParaRPr lang="en-US" sz="1300" dirty="0"/>
          </a:p>
          <a:p>
            <a:pPr marL="342900" indent="-342900">
              <a:spcAft>
                <a:spcPts val="1000"/>
              </a:spcAft>
              <a:buSzPct val="100000"/>
              <a:buChar char="•"/>
            </a:pPr>
            <a:r>
              <a:rPr lang="en-US" sz="1300" dirty="0">
                <a:solidFill>
                  <a:schemeClr val="tx1"/>
                </a:solidFill>
              </a:rPr>
              <a:t>Structure map; DP1_CENH website data</a:t>
            </a:r>
            <a:endParaRPr lang="en-US" sz="1300" dirty="0"/>
          </a:p>
          <a:p>
            <a:pPr marL="342900" indent="-342900">
              <a:spcAft>
                <a:spcPts val="1000"/>
              </a:spcAft>
              <a:buSzPct val="100000"/>
              <a:buChar char="•"/>
            </a:pPr>
            <a:r>
              <a:rPr lang="en-US" sz="1300" dirty="0">
                <a:solidFill>
                  <a:schemeClr val="tx1"/>
                </a:solidFill>
              </a:rPr>
              <a:t>Clarkston Consulting, 2026 Luxury Retail Trends</a:t>
            </a:r>
            <a:endParaRPr lang="en-US" sz="1300" dirty="0"/>
          </a:p>
          <a:p>
            <a:pPr marL="342900" indent="-342900">
              <a:spcAft>
                <a:spcPts val="1000"/>
              </a:spcAft>
              <a:buSzPct val="100000"/>
              <a:buChar char="•"/>
            </a:pPr>
            <a:r>
              <a:rPr lang="en-US" sz="1300" dirty="0">
                <a:solidFill>
                  <a:schemeClr val="tx1"/>
                </a:solidFill>
              </a:rPr>
              <a:t>Cegid, luxury omnichannel strategies, citing HUB Institute 2024</a:t>
            </a:r>
            <a:endParaRPr lang="en-US" sz="1300" dirty="0"/>
          </a:p>
        </p:txBody>
      </p:sp>
      <p:sp>
        <p:nvSpPr>
          <p:cNvPr id="6" name="Appendix card 2"/>
          <p:cNvSpPr/>
          <p:nvPr/>
        </p:nvSpPr>
        <p:spPr>
          <a:xfrm>
            <a:off x="6217920" y="1508760"/>
            <a:ext cx="5394960" cy="4480560"/>
          </a:xfrm>
          <a:prstGeom prst="rect">
            <a:avLst/>
          </a:prstGeom>
          <a:solidFill>
            <a:schemeClr val="bg2"/>
          </a:solidFill>
          <a:ln/>
        </p:spPr>
      </p:sp>
      <p:sp>
        <p:nvSpPr>
          <p:cNvPr id="7" name="Text 5"/>
          <p:cNvSpPr txBox="1"/>
          <p:nvPr/>
        </p:nvSpPr>
        <p:spPr>
          <a:xfrm>
            <a:off x="6446520" y="1691640"/>
            <a:ext cx="4937760" cy="365760"/>
          </a:xfrm>
          <a:prstGeom prst="rect">
            <a:avLst/>
          </a:prstGeom>
          <a:noFill/>
          <a:ln/>
        </p:spPr>
        <p:txBody>
          <a:bodyPr wrap="square" lIns="0" tIns="0" rIns="0" bIns="0" rtlCol="0" anchor="t"/>
          <a:lstStyle/>
          <a:p>
            <a:pPr indent="0" marL="0">
              <a:buNone/>
            </a:pPr>
            <a:r>
              <a:rPr lang="en-US" sz="1600" b="1" dirty="0">
                <a:solidFill>
                  <a:schemeClr val="accent1"/>
                </a:solidFill>
              </a:rPr>
              <a:t>Data notes to confirm</a:t>
            </a:r>
            <a:endParaRPr lang="en-US" sz="1600" dirty="0"/>
          </a:p>
        </p:txBody>
      </p:sp>
      <p:sp>
        <p:nvSpPr>
          <p:cNvPr id="8" name="Text 6"/>
          <p:cNvSpPr txBox="1"/>
          <p:nvPr/>
        </p:nvSpPr>
        <p:spPr>
          <a:xfrm>
            <a:off x="6446520" y="2194560"/>
            <a:ext cx="4937760" cy="36576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chemeClr val="tx1"/>
                </a:solidFill>
              </a:rPr>
              <a:t>Store sales sum to UK sales; traffic, country and keyword data each sum to 982,145</a:t>
            </a:r>
            <a:endParaRPr lang="en-US" sz="1300" dirty="0"/>
          </a:p>
          <a:p>
            <a:pPr marL="342900" indent="-342900">
              <a:spcAft>
                <a:spcPts val="1000"/>
              </a:spcAft>
              <a:buSzPct val="100000"/>
              <a:buChar char="•"/>
            </a:pPr>
            <a:r>
              <a:rPr lang="en-US" sz="1300" dirty="0">
                <a:solidFill>
                  <a:schemeClr val="tx1"/>
                </a:solidFill>
              </a:rPr>
              <a:t>‘Profit’ in the sales sheet does not reconcile to the P&amp;L; definition to confirm</a:t>
            </a:r>
            <a:endParaRPr lang="en-US" sz="1300" dirty="0"/>
          </a:p>
          <a:p>
            <a:pPr marL="342900" indent="-342900">
              <a:spcAft>
                <a:spcPts val="1000"/>
              </a:spcAft>
              <a:buSzPct val="100000"/>
              <a:buChar char="•"/>
            </a:pPr>
            <a:r>
              <a:rPr lang="en-US" sz="1300" dirty="0">
                <a:solidFill>
                  <a:schemeClr val="tx1"/>
                </a:solidFill>
              </a:rPr>
              <a:t>Currency assumed £; Orlando presumably converted. Orlando acquired in FY-2</a:t>
            </a:r>
            <a:endParaRPr lang="en-US" sz="1300" dirty="0"/>
          </a:p>
          <a:p>
            <a:pPr marL="342900" indent="-342900">
              <a:spcAft>
                <a:spcPts val="1000"/>
              </a:spcAft>
              <a:buSzPct val="100000"/>
              <a:buChar char="•"/>
            </a:pPr>
            <a:r>
              <a:rPr lang="en-US" sz="1300" dirty="0">
                <a:solidFill>
                  <a:schemeClr val="tx1"/>
                </a:solidFill>
              </a:rPr>
              <a:t>‘Number of sales’ assumed to mean transactions. Page figures are views, keywords are visits</a:t>
            </a:r>
            <a:endParaRPr lang="en-US" sz="1300" dirty="0"/>
          </a:p>
          <a:p>
            <a:pPr marL="342900" indent="-342900">
              <a:spcAft>
                <a:spcPts val="1000"/>
              </a:spcAft>
              <a:buSzPct val="100000"/>
              <a:buChar char="•"/>
            </a:pPr>
            <a:r>
              <a:rPr lang="en-US" sz="1300" dirty="0">
                <a:solidFill>
                  <a:schemeClr val="tx1"/>
                </a:solidFill>
              </a:rPr>
              <a:t>Referral-site visits are blank. Online revenue is FY-1 only; conversion not provided</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VS Pitch">
  <a:themeElements>
    <a:clrScheme name="VS Pitch">
      <a:dk1>
        <a:srgbClr val="222222"/>
      </a:dk1>
      <a:lt1>
        <a:srgbClr val="FFFFFF"/>
      </a:lt1>
      <a:dk2>
        <a:srgbClr val="6E625E"/>
      </a:dk2>
      <a:lt2>
        <a:srgbClr val="F8E6E1"/>
      </a:lt2>
      <a:accent1>
        <a:srgbClr val="D52B1E"/>
      </a:accent1>
      <a:accent2>
        <a:srgbClr val="D04A02"/>
      </a:accent2>
      <a:accent3>
        <a:srgbClr val="EB8C00"/>
      </a:accent3>
      <a:accent4>
        <a:srgbClr val="DB536A"/>
      </a:accent4>
      <a:accent5>
        <a:srgbClr val="7D7D7D"/>
      </a:accent5>
      <a:accent6>
        <a:srgbClr val="A32020"/>
      </a:accent6>
      <a:hlink>
        <a:srgbClr val="D52B1E"/>
      </a:hlink>
      <a:folHlink>
        <a:srgbClr val="6E625E"/>
      </a:folHlink>
    </a:clrScheme>
    <a:fontScheme name="VS Pitch">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Virley &amp; Sons: One Virley experience</dc:title>
  <dc:subject>PptxGenJS Presentation</dc:subject>
  <dc:creator>Consulting team</dc:creator>
  <cp:lastModifiedBy>Consulting team</cp:lastModifiedBy>
  <cp:revision>1</cp:revision>
  <dcterms:created xsi:type="dcterms:W3CDTF">2026-10-22T03:47:22Z</dcterms:created>
  <dcterms:modified xsi:type="dcterms:W3CDTF">2026-10-22T03:47:22Z</dcterms:modified>
</cp:coreProperties>
</file>