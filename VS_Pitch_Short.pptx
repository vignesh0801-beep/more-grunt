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1.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2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1.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2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9" r:id="rId5"/>
    <p:sldId id="260" r:id="rId6"/>
    <p:sldId id="261" r:id="rId7"/>
    <p:sldId id="266" r:id="rId12"/>
    <p:sldId id="268" r:id="rId14"/>
    <p:sldId id="269" r:id="rId15"/>
    <p:sldId id="272" r:id="rId18"/>
    <p:sldId id="273" r:id="rId19"/>
    <p:sldId id="276" r:id="rId22"/>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12" Type="http://schemas.openxmlformats.org/officeDocument/2006/relationships/slide" Target="slides/slide11.xml"/><Relationship Id="rId14" Type="http://schemas.openxmlformats.org/officeDocument/2006/relationships/slide" Target="slides/slide13.xml"/><Relationship Id="rId15" Type="http://schemas.openxmlformats.org/officeDocument/2006/relationships/slide" Target="slides/slide14.xml"/><Relationship Id="rId18" Type="http://schemas.openxmlformats.org/officeDocument/2006/relationships/slide" Target="slides/slide17.xml"/><Relationship Id="rId19" Type="http://schemas.openxmlformats.org/officeDocument/2006/relationships/slide" Target="slides/slide18.xml"/><Relationship Id="rId22" Type="http://schemas.openxmlformats.org/officeDocument/2006/relationships/slide" Target="slides/slide21.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22222"/>
                </a:solidFill>
                <a:latin typeface="+mn-lt"/>
              </a:defRPr>
            </a:pPr>
            <a:r>
              <a:rPr sz="1400" b="0" i="0" u="none" strike="noStrike">
                <a:solidFill>
                  <a:srgbClr val="222222"/>
                </a:solidFill>
                <a:latin typeface="+mn-lt"/>
              </a:rPr>
              <a:t>Store sales (£ million)</a:t>
            </a:r>
          </a:p>
        </c:rich>
      </c:tx>
      <c:layout/>
      <c:overlay val="0"/>
    </c:title>
    <c:autoTitleDeleted val="0"/>
    <c:plotArea>
      <c:layout/>
      <c:barChart>
        <c:barDir val="col"/>
        <c:grouping val="clustered"/>
        <c:varyColors val="0"/>
        <c:ser>
          <c:idx val="0"/>
          <c:order val="0"/>
          <c:tx>
            <c:strRef>
              <c:f>Sheet1!$B$1</c:f>
              <c:strCache>
                <c:ptCount val="1"/>
                <c:pt idx="0">
                  <c:v>FY-4</c:v>
                </c:pt>
              </c:strCache>
            </c:strRef>
          </c:tx>
          <c:spPr>
            <a:solidFill>
              <a:srgbClr val="D9D4CC"/>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London</c:v>
                  </c:pt>
                  <c:pt idx="1">
                    <c:v>Birmingham</c:v>
                  </c:pt>
                  <c:pt idx="2">
                    <c:v>Edinburgh</c:v>
                  </c:pt>
                  <c:pt idx="3">
                    <c:v>Orlando</c:v>
                  </c:pt>
                </c:lvl>
              </c:multiLvlStrCache>
            </c:multiLvlStrRef>
          </c:cat>
          <c:val>
            <c:numRef>
              <c:f>Sheet1!$B$2:$B$5</c:f>
              <c:numCache>
                <c:formatCode>General</c:formatCode>
                <c:ptCount val="4"/>
                <c:pt idx="0">
                  <c:v>367.2</c:v>
                </c:pt>
                <c:pt idx="1">
                  <c:v>305.1</c:v>
                </c:pt>
                <c:pt idx="2">
                  <c:v>92.4</c:v>
                </c:pt>
                <c:pt idx="3">
                  <c:v>0</c:v>
                </c:pt>
              </c:numCache>
            </c:numRef>
          </c:val>
        </c:ser>
        <c:ser>
          <c:idx val="1"/>
          <c:order val="1"/>
          <c:tx>
            <c:strRef>
              <c:f>Sheet1!$C$1</c:f>
              <c:strCache>
                <c:ptCount val="1"/>
                <c:pt idx="0">
                  <c:v>FY-3</c:v>
                </c:pt>
              </c:strCache>
            </c:strRef>
          </c:tx>
          <c:spPr>
            <a:solidFill>
              <a:srgbClr val="A8A29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London</c:v>
                  </c:pt>
                  <c:pt idx="1">
                    <c:v>Birmingham</c:v>
                  </c:pt>
                  <c:pt idx="2">
                    <c:v>Edinburgh</c:v>
                  </c:pt>
                  <c:pt idx="3">
                    <c:v>Orlando</c:v>
                  </c:pt>
                </c:lvl>
              </c:multiLvlStrCache>
            </c:multiLvlStrRef>
          </c:cat>
          <c:val>
            <c:numRef>
              <c:f>Sheet1!$C$2:$C$5</c:f>
              <c:numCache>
                <c:formatCode>General</c:formatCode>
                <c:ptCount val="4"/>
                <c:pt idx="0">
                  <c:v>389.2</c:v>
                </c:pt>
                <c:pt idx="1">
                  <c:v>320.5</c:v>
                </c:pt>
                <c:pt idx="2">
                  <c:v>120.3</c:v>
                </c:pt>
                <c:pt idx="3">
                  <c:v>0</c:v>
                </c:pt>
              </c:numCache>
            </c:numRef>
          </c:val>
        </c:ser>
        <c:ser>
          <c:idx val="2"/>
          <c:order val="2"/>
          <c:tx>
            <c:strRef>
              <c:f>Sheet1!$D$1</c:f>
              <c:strCache>
                <c:ptCount val="1"/>
                <c:pt idx="0">
                  <c:v>FY-2</c:v>
                </c:pt>
              </c:strCache>
            </c:strRef>
          </c:tx>
          <c:spPr>
            <a:solidFill>
              <a:srgbClr val="6E625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London</c:v>
                  </c:pt>
                  <c:pt idx="1">
                    <c:v>Birmingham</c:v>
                  </c:pt>
                  <c:pt idx="2">
                    <c:v>Edinburgh</c:v>
                  </c:pt>
                  <c:pt idx="3">
                    <c:v>Orlando</c:v>
                  </c:pt>
                </c:lvl>
              </c:multiLvlStrCache>
            </c:multiLvlStrRef>
          </c:cat>
          <c:val>
            <c:numRef>
              <c:f>Sheet1!$D$2:$D$5</c:f>
              <c:numCache>
                <c:formatCode>General</c:formatCode>
                <c:ptCount val="4"/>
                <c:pt idx="0">
                  <c:v>602.7</c:v>
                </c:pt>
                <c:pt idx="1">
                  <c:v>433.8</c:v>
                </c:pt>
                <c:pt idx="2">
                  <c:v>134.2</c:v>
                </c:pt>
                <c:pt idx="3">
                  <c:v>100</c:v>
                </c:pt>
              </c:numCache>
            </c:numRef>
          </c:val>
        </c:ser>
        <c:ser>
          <c:idx val="3"/>
          <c:order val="3"/>
          <c:tx>
            <c:strRef>
              <c:f>Sheet1!$E$1</c:f>
              <c:strCache>
                <c:ptCount val="1"/>
                <c:pt idx="0">
                  <c:v>FY-1</c:v>
                </c:pt>
              </c:strCache>
            </c:strRef>
          </c:tx>
          <c:spPr>
            <a:solidFill>
              <a:srgbClr val="D52B1E"/>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Sheet1!$A$2:$A$5</c:f>
              <c:multiLvlStrCache>
                <c:ptCount val="4"/>
                <c:lvl>
                  <c:pt idx="0">
                    <c:v>London</c:v>
                  </c:pt>
                  <c:pt idx="1">
                    <c:v>Birmingham</c:v>
                  </c:pt>
                  <c:pt idx="2">
                    <c:v>Edinburgh</c:v>
                  </c:pt>
                  <c:pt idx="3">
                    <c:v>Orlando</c:v>
                  </c:pt>
                </c:lvl>
              </c:multiLvlStrCache>
            </c:multiLvlStrRef>
          </c:cat>
          <c:val>
            <c:numRef>
              <c:f>Sheet1!$E$2:$E$5</c:f>
              <c:numCache>
                <c:formatCode>General</c:formatCode>
                <c:ptCount val="4"/>
                <c:pt idx="0">
                  <c:v>563.8</c:v>
                </c:pt>
                <c:pt idx="1">
                  <c:v>470.3</c:v>
                </c:pt>
                <c:pt idx="2">
                  <c:v>131.8</c:v>
                </c:pt>
                <c:pt idx="3">
                  <c:v>91</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22222"/>
                </a:solidFill>
                <a:latin typeface="+mn-lt"/>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5E0D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222222"/>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222222"/>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22222"/>
                </a:solidFill>
                <a:latin typeface="+mn-lt"/>
              </a:defRPr>
            </a:pPr>
            <a:r>
              <a:rPr sz="1400" b="0" i="0" u="none" strike="noStrike">
                <a:solidFill>
                  <a:srgbClr val="222222"/>
                </a:solidFill>
                <a:latin typeface="+mn-lt"/>
              </a:rPr>
              <a:t>Value per sale (£)</a:t>
            </a:r>
          </a:p>
        </c:rich>
      </c:tx>
      <c:layout/>
      <c:overlay val="0"/>
    </c:title>
    <c:autoTitleDeleted val="0"/>
    <c:plotArea>
      <c:layout/>
      <c:barChart>
        <c:barDir val="col"/>
        <c:grouping val="clustered"/>
        <c:varyColors val="0"/>
        <c:ser>
          <c:idx val="0"/>
          <c:order val="0"/>
          <c:tx>
            <c:strRef>
              <c:f>Sheet1!$B$1</c:f>
              <c:strCache>
                <c:ptCount val="1"/>
                <c:pt idx="0">
                  <c:v>FY-2</c:v>
                </c:pt>
              </c:strCache>
            </c:strRef>
          </c:tx>
          <c:spPr>
            <a:solidFill>
              <a:srgbClr val="A8A29E"/>
            </a:solidFill>
            <a:effectLst/>
          </c:spPr>
          <c:invertIfNegative val="0"/>
          <c:dLbls>
            <c:numFmt formatCode="0" sourceLinked="0"/>
            <c:txPr>
              <a:bodyPr/>
              <a:lstStyle/>
              <a:p>
                <a:pPr>
                  <a:defRPr b="0" i="0" strike="noStrike" sz="1200" u="none">
                    <a:solidFill>
                      <a:srgbClr val="222222"/>
                    </a:solidFill>
                    <a:latin typeface="+mn-lt"/>
                  </a:defRPr>
                </a:pPr>
              </a:p>
            </c:txPr>
            <c:showLegendKey val="0"/>
            <c:showVal val="1"/>
            <c:showCatName val="0"/>
            <c:showSerName val="0"/>
            <c:showPercent val="0"/>
            <c:showBubbleSize val="0"/>
            <c:showLeaderLines val="0"/>
          </c:dLbls>
          <c:cat>
            <c:multiLvlStrRef>
              <c:f>Sheet1!$A$2:$A$5</c:f>
              <c:multiLvlStrCache>
                <c:ptCount val="4"/>
                <c:lvl>
                  <c:pt idx="0">
                    <c:v>London</c:v>
                  </c:pt>
                  <c:pt idx="1">
                    <c:v>Birmingham</c:v>
                  </c:pt>
                  <c:pt idx="2">
                    <c:v>Edinburgh</c:v>
                  </c:pt>
                  <c:pt idx="3">
                    <c:v>Orlando</c:v>
                  </c:pt>
                </c:lvl>
              </c:multiLvlStrCache>
            </c:multiLvlStrRef>
          </c:cat>
          <c:val>
            <c:numRef>
              <c:f>Sheet1!$B$2:$B$5</c:f>
              <c:numCache>
                <c:formatCode>General</c:formatCode>
                <c:ptCount val="4"/>
                <c:pt idx="0">
                  <c:v>71.8</c:v>
                </c:pt>
                <c:pt idx="1">
                  <c:v>114.2</c:v>
                </c:pt>
                <c:pt idx="2">
                  <c:v>67.1</c:v>
                </c:pt>
                <c:pt idx="3">
                  <c:v>35.7</c:v>
                </c:pt>
              </c:numCache>
            </c:numRef>
          </c:val>
        </c:ser>
        <c:ser>
          <c:idx val="1"/>
          <c:order val="1"/>
          <c:tx>
            <c:strRef>
              <c:f>Sheet1!$C$1</c:f>
              <c:strCache>
                <c:ptCount val="1"/>
                <c:pt idx="0">
                  <c:v>FY-1</c:v>
                </c:pt>
              </c:strCache>
            </c:strRef>
          </c:tx>
          <c:spPr>
            <a:solidFill>
              <a:srgbClr val="D52B1E"/>
            </a:solidFill>
            <a:effectLst/>
          </c:spPr>
          <c:invertIfNegative val="0"/>
          <c:dLbls>
            <c:numFmt formatCode="0" sourceLinked="0"/>
            <c:txPr>
              <a:bodyPr/>
              <a:lstStyle/>
              <a:p>
                <a:pPr>
                  <a:defRPr b="0" i="0" strike="noStrike" sz="1200" u="none">
                    <a:solidFill>
                      <a:srgbClr val="222222"/>
                    </a:solidFill>
                    <a:latin typeface="+mn-lt"/>
                  </a:defRPr>
                </a:pPr>
              </a:p>
            </c:txPr>
            <c:showLegendKey val="0"/>
            <c:showVal val="1"/>
            <c:showCatName val="0"/>
            <c:showSerName val="0"/>
            <c:showPercent val="0"/>
            <c:showBubbleSize val="0"/>
            <c:showLeaderLines val="0"/>
          </c:dLbls>
          <c:cat>
            <c:multiLvlStrRef>
              <c:f>Sheet1!$A$2:$A$5</c:f>
              <c:multiLvlStrCache>
                <c:ptCount val="4"/>
                <c:lvl>
                  <c:pt idx="0">
                    <c:v>London</c:v>
                  </c:pt>
                  <c:pt idx="1">
                    <c:v>Birmingham</c:v>
                  </c:pt>
                  <c:pt idx="2">
                    <c:v>Edinburgh</c:v>
                  </c:pt>
                  <c:pt idx="3">
                    <c:v>Orlando</c:v>
                  </c:pt>
                </c:lvl>
              </c:multiLvlStrCache>
            </c:multiLvlStrRef>
          </c:cat>
          <c:val>
            <c:numRef>
              <c:f>Sheet1!$C$2:$C$5</c:f>
              <c:numCache>
                <c:formatCode>General</c:formatCode>
                <c:ptCount val="4"/>
                <c:pt idx="0">
                  <c:v>62.6</c:v>
                </c:pt>
                <c:pt idx="1">
                  <c:v>114.7</c:v>
                </c:pt>
                <c:pt idx="2">
                  <c:v>59.9</c:v>
                </c:pt>
                <c:pt idx="3">
                  <c:v>30.3</c:v>
                </c:pt>
              </c:numCache>
            </c:numRef>
          </c:val>
        </c:ser>
        <c:dLbls>
          <c:numFmt formatCode="0" sourceLinked="0"/>
          <c:txPr>
            <a:bodyPr/>
            <a:lstStyle/>
            <a:p>
              <a:pPr>
                <a:defRPr b="0" i="0" strike="noStrike" sz="1200" u="none">
                  <a:solidFill>
                    <a:srgbClr val="222222"/>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22222"/>
                </a:solidFill>
                <a:latin typeface="+mn-lt"/>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222222"/>
              </a:solidFill>
              <a:latin typeface="+mn-lt"/>
              <a:cs typeface="+mn-lt"/>
            </a:defRPr>
          </a:pPr>
          <a:endParaRPr lang="en-US"/>
        </a:p>
      </c:txPr>
    </c:legend>
    <c:plotVisOnly val="1"/>
    <c:dispBlanksAs val="span"/>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22222"/>
                </a:solidFill>
                <a:latin typeface="+mn-lt"/>
              </a:defRPr>
            </a:pPr>
            <a:r>
              <a:rPr sz="1400" b="0" i="0" u="none" strike="noStrike">
                <a:solidFill>
                  <a:srgbClr val="222222"/>
                </a:solidFill>
                <a:latin typeface="+mn-lt"/>
              </a:rPr>
              <a:t>Operating profit (EBIT, £ million)</a:t>
            </a:r>
          </a:p>
        </c:rich>
      </c:tx>
      <c:layout/>
      <c:overlay val="0"/>
    </c:title>
    <c:autoTitleDeleted val="0"/>
    <c:plotArea>
      <c:layout/>
      <c:barChart>
        <c:barDir val="col"/>
        <c:grouping val="clustered"/>
        <c:varyColors val="0"/>
        <c:ser>
          <c:idx val="0"/>
          <c:order val="0"/>
          <c:tx>
            <c:strRef>
              <c:f>Sheet1!$B$1</c:f>
              <c:strCache>
                <c:ptCount val="1"/>
                <c:pt idx="0">
                  <c:v>EBIT (£ million)</c:v>
                </c:pt>
              </c:strCache>
            </c:strRef>
          </c:tx>
          <c:spPr>
            <a:solidFill>
              <a:srgbClr val="6E625E"/>
            </a:solidFill>
            <a:effectLst/>
          </c:spPr>
          <c:invertIfNegative val="0"/>
          <c:dLbls>
            <c:numFmt formatCode="0.0" sourceLinked="0"/>
            <c:txPr>
              <a:bodyPr/>
              <a:lstStyle/>
              <a:p>
                <a:pPr>
                  <a:defRPr b="0" i="0" strike="noStrike" sz="1300" u="none">
                    <a:solidFill>
                      <a:srgbClr val="222222"/>
                    </a:solidFill>
                    <a:latin typeface="+mn-lt"/>
                  </a:defRPr>
                </a:pPr>
              </a:p>
            </c:txPr>
            <c:showLegendKey val="0"/>
            <c:showVal val="1"/>
            <c:showCatName val="0"/>
            <c:showSerName val="0"/>
            <c:showPercent val="0"/>
            <c:showBubbleSize val="0"/>
            <c:showLeaderLines val="0"/>
          </c:dLbls>
          <c:dPt>
            <c:idx val="0"/>
            <c:invertIfNegative val="0"/>
            <c:bubble3D val="0"/>
            <c:spPr>
              <a:solidFill>
                <a:srgbClr val="6E625E"/>
              </a:solidFill>
              <a:effectLst/>
            </c:spPr>
          </c:dPt>
          <c:dPt>
            <c:idx val="1"/>
            <c:invertIfNegative val="0"/>
            <c:bubble3D val="0"/>
            <c:spPr>
              <a:solidFill>
                <a:srgbClr val="D52B1E"/>
              </a:solidFill>
              <a:effectLst/>
            </c:spPr>
          </c:dPt>
          <c:cat>
            <c:multiLvlStrRef>
              <c:f>Sheet1!$A$2:$A$3</c:f>
              <c:multiLvlStrCache>
                <c:ptCount val="2"/>
                <c:lvl>
                  <c:pt idx="0">
                    <c:v>FY-1 actual (8.0%)</c:v>
                  </c:pt>
                  <c:pt idx="1">
                    <c:v>10% target at FY-1 revenue</c:v>
                  </c:pt>
                </c:lvl>
              </c:multiLvlStrCache>
            </c:multiLvlStrRef>
          </c:cat>
          <c:val>
            <c:numRef>
              <c:f>Sheet1!$B$2:$B$3</c:f>
              <c:numCache>
                <c:formatCode>General</c:formatCode>
                <c:ptCount val="2"/>
                <c:pt idx="0">
                  <c:v>101.5</c:v>
                </c:pt>
                <c:pt idx="1">
                  <c:v>126.2</c:v>
                </c:pt>
              </c:numCache>
            </c:numRef>
          </c:val>
        </c:ser>
        <c:dLbls>
          <c:numFmt formatCode="0.0" sourceLinked="0"/>
          <c:txPr>
            <a:bodyPr/>
            <a:lstStyle/>
            <a:p>
              <a:pPr>
                <a:defRPr b="0" i="0" strike="noStrike" sz="1300" u="none">
                  <a:solidFill>
                    <a:srgbClr val="222222"/>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22222"/>
                </a:solidFill>
                <a:latin typeface="+mn-lt"/>
              </a:defRPr>
            </a:pPr>
            <a:endParaRPr lang="en-US"/>
          </a:p>
        </c:txPr>
        <c:crossAx val="2094734552"/>
        <c:crosses val="autoZero"/>
        <c:auto val="1"/>
        <c:lblAlgn val="ctr"/>
        <c:noMultiLvlLbl val="1"/>
      </c:catAx>
      <c:valAx>
        <c:axId val="2094734552"/>
        <c:scaling>
          <c:orientation val="minMax"/>
          <c:max val="15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222222"/>
                </a:solidFill>
                <a:latin typeface="+mn-lt"/>
              </a:defRPr>
            </a:pPr>
            <a:r>
              <a:rPr sz="1400" b="0" i="0" u="none" strike="noStrike">
                <a:solidFill>
                  <a:srgbClr val="222222"/>
                </a:solidFill>
                <a:latin typeface="+mn-lt"/>
              </a:rPr>
              <a:t>Revenue (£ million)</a:t>
            </a:r>
          </a:p>
        </c:rich>
      </c:tx>
      <c:layout/>
      <c:overlay val="0"/>
    </c:title>
    <c:autoTitleDeleted val="0"/>
    <c:plotArea>
      <c:layout/>
      <c:barChart>
        <c:barDir val="col"/>
        <c:grouping val="clustered"/>
        <c:varyColors val="0"/>
        <c:ser>
          <c:idx val="0"/>
          <c:order val="0"/>
          <c:tx>
            <c:strRef>
              <c:f>Sheet1!$B$1</c:f>
              <c:strCache>
                <c:ptCount val="1"/>
                <c:pt idx="0">
                  <c:v>Revenue (£ million)</c:v>
                </c:pt>
              </c:strCache>
            </c:strRef>
          </c:tx>
          <c:spPr>
            <a:solidFill>
              <a:srgbClr val="6E625E"/>
            </a:solidFill>
            <a:effectLst/>
          </c:spPr>
          <c:invertIfNegative val="0"/>
          <c:dLbls>
            <c:numFmt formatCode="#,##0" sourceLinked="0"/>
            <c:txPr>
              <a:bodyPr/>
              <a:lstStyle/>
              <a:p>
                <a:pPr>
                  <a:defRPr b="0" i="0" strike="noStrike" sz="1300" u="none">
                    <a:solidFill>
                      <a:srgbClr val="222222"/>
                    </a:solidFill>
                    <a:latin typeface="+mn-lt"/>
                  </a:defRPr>
                </a:pPr>
              </a:p>
            </c:txPr>
            <c:showLegendKey val="0"/>
            <c:showVal val="1"/>
            <c:showCatName val="0"/>
            <c:showSerName val="0"/>
            <c:showPercent val="0"/>
            <c:showBubbleSize val="0"/>
            <c:showLeaderLines val="0"/>
          </c:dLbls>
          <c:dPt>
            <c:idx val="0"/>
            <c:invertIfNegative val="0"/>
            <c:bubble3D val="0"/>
            <c:spPr>
              <a:solidFill>
                <a:srgbClr val="6E625E"/>
              </a:solidFill>
              <a:effectLst/>
            </c:spPr>
          </c:dPt>
          <c:dPt>
            <c:idx val="1"/>
            <c:invertIfNegative val="0"/>
            <c:bubble3D val="0"/>
            <c:spPr>
              <a:solidFill>
                <a:srgbClr val="D52B1E"/>
              </a:solidFill>
              <a:effectLst/>
            </c:spPr>
          </c:dPt>
          <c:cat>
            <c:multiLvlStrRef>
              <c:f>Sheet1!$A$2:$A$3</c:f>
              <c:multiLvlStrCache>
                <c:ptCount val="2"/>
                <c:lvl>
                  <c:pt idx="0">
                    <c:v>FY-1 actual</c:v>
                  </c:pt>
                  <c:pt idx="1">
                    <c:v>Owners’ goal in five years</c:v>
                  </c:pt>
                </c:lvl>
              </c:multiLvlStrCache>
            </c:multiLvlStrRef>
          </c:cat>
          <c:val>
            <c:numRef>
              <c:f>Sheet1!$B$2:$B$3</c:f>
              <c:numCache>
                <c:formatCode>General</c:formatCode>
                <c:ptCount val="2"/>
                <c:pt idx="0">
                  <c:v>1262.5</c:v>
                </c:pt>
                <c:pt idx="1">
                  <c:v>2000</c:v>
                </c:pt>
              </c:numCache>
            </c:numRef>
          </c:val>
        </c:ser>
        <c:dLbls>
          <c:numFmt formatCode="#,##0" sourceLinked="0"/>
          <c:txPr>
            <a:bodyPr/>
            <a:lstStyle/>
            <a:p>
              <a:pPr>
                <a:defRPr b="0" i="0" strike="noStrike" sz="1300" u="none">
                  <a:solidFill>
                    <a:srgbClr val="222222"/>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222222"/>
                </a:solidFill>
                <a:latin typeface="+mn-lt"/>
              </a:defRPr>
            </a:pPr>
            <a:endParaRPr lang="en-US"/>
          </a:p>
        </c:txPr>
        <c:crossAx val="2094734552"/>
        <c:crosses val="autoZero"/>
        <c:auto val="1"/>
        <c:lblAlgn val="ctr"/>
        <c:noMultiLvlLbl val="1"/>
      </c:catAx>
      <c:valAx>
        <c:axId val="2094734552"/>
        <c:scaling>
          <c:orientation val="minMax"/>
          <c:max val="2400"/>
          <c:min val="0"/>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headline: V&amp;S does not have to choose between stores and online. The data pack shows customers are coming; each visit is worth less. The opportunity is to deliver George Virley's original promise, an exciting shopping experience open to everyone, in every channel.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Lead with the conclusion. Four points: the challenge, the reframe, the idea and the path. All figures come from the data pack: store sales, the FY-1 P&amp;L, and the website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Play back what Jack and Ashley told us, then anchor it in the FY-1 P&amp;L and the sales sheet. 10% of FY-1 revenue is £126.2m against £101.5m EBIT today. Profit figures in the sales sheet are as labelled there and do not reconcile to the P&amp;L (see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Store sales fell from £1,270.7m to £1,256.9m. London dropped £38.9m, Orlando £9.0m, Edinburgh £2.4m. Birmingham grew £36.5m. Ask Ashley and Jesse what changed in London between FY-2 and FY-1.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 of sales is assumed to mean transactions; confirm with the client. Orlando values are presumably converted to the reporting currency. Birmingham is out of town with a large stock room and the highest value per sale. Ask Jesse and Ashley what drives that gap.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this with Jack and Ashley as initial thoughts on reframing, as the email asks, and invite them to challenge it. The test is whether both see their own view in it: Jack’s online growth and Ashley’s in-store experience are two halves of the same client.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asks for a bold idea that brings experience to life, integrates technology and is underpinned by business strategy: the B, the X and the T. Virley Everywhere sits where the three overlap. If any one circle is missing it fails: experience without technology is a promise, technology without business is a cost.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brief asks how the experience translates to employees and customers. Top row is the client; bottom row is the colleague. Ashley reported frustration from staff reconciling data and moving information between systems, and this is the same fix. Tell it as a story with a named client, and scribe it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arithmetic on FY-1 figures, not a forecast: 10% of £1,262.5m is £126.2m against £101.5m EBIT, a £24.8m gap. £2bn over five years needs a 9.6% compound growth rate. Jack wants PwC to validate whether the owners’ targets are achievable; sizing each lever is the first benchmarking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experience during the pitch the email asks for: the room does the work, not the slides. Bring a wall or flipchart, sticky notes and dots, and four printed data cards. Keep to 15 minutes. The same method can be run with store teams to build employee experience and ownership.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three decisions. Everything in the next 30 days produces the facts Jack wants: benchmarking, store-level performance and a view of the client journey. Missing data to request: online conversion, store-level costs beyond FY-1 and the definition of profit in the sales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VS_TITLE">
    <p:bg>
      <p:bgPr>
        <a:solidFill>
          <a:schemeClr val="accent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645920"/>
            <a:ext cx="10515600" cy="2194560"/>
          </a:xfrm>
          <a:prstGeom prst="rect">
            <a:avLst/>
          </a:prstGeom>
          <a:noFill/>
          <a:ln/>
        </p:spPr>
        <p:txBody>
          <a:bodyPr wrap="square" rtlCol="0"/>
          <a:lstStyle>
            <a:lvl1pPr algn="l" indent="0" marL="0">
              <a:buNone/>
              <a:defRPr lang="en-US" sz="4800" b="1" dirty="0">
                <a:solidFill>
                  <a:schemeClr val="bg1"/>
                </a:solidFill>
              </a:defRPr>
            </a:lvl1pPr>
          </a:lstStyle>
          <a:p>
            <a:pPr algn="l" indent="0" marL="0">
              <a:buNone/>
            </a:pPr>
            <a:endParaRPr lang="en-US" sz="4800" dirty="0"/>
          </a:p>
        </p:txBody>
      </p:sp>
      <p:sp>
        <p:nvSpPr>
          <p:cNvPr id="3" name="Text 0"/>
          <p:cNvSpPr/>
          <p:nvPr>
            <p:ph idx="101" type="body" hasCustomPrompt="1"/>
          </p:nvPr>
        </p:nvSpPr>
        <p:spPr>
          <a:xfrm>
            <a:off x="731520" y="4114800"/>
            <a:ext cx="10515600" cy="1188720"/>
          </a:xfrm>
          <a:prstGeom prst="rect">
            <a:avLst/>
          </a:prstGeom>
          <a:noFill/>
          <a:ln/>
        </p:spPr>
        <p:txBody>
          <a:bodyPr wrap="square" rtlCol="0"/>
          <a:lstStyle>
            <a:lvl1pPr algn="l" indent="0" marL="0">
              <a:buNone/>
              <a:defRPr lang="en-US" sz="2000" dirty="0">
                <a:solidFill>
                  <a:schemeClr val="bg1"/>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VS_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rtlCol="0"/>
          <a:lstStyle>
            <a:lvl1pPr algn="l" indent="0" marL="0">
              <a:buNone/>
              <a:defRPr lang="en-US" sz="2800" b="1" dirty="0">
                <a:solidFill>
                  <a:schemeClr val="tx1"/>
                </a:solidFill>
              </a:defRPr>
            </a:lvl1pPr>
          </a:lstStyle>
          <a:p>
            <a:pPr algn="l" indent="0" marL="0">
              <a:buNone/>
            </a:pPr>
            <a:endParaRPr lang="en-US" sz="28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5"/>
                </a:solidFill>
              </a:rPr>
              <a:t>Virley &amp; Sons | Draft for discussion</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VS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rtlCol="0"/>
          <a:lstStyle>
            <a:lvl1pPr algn="l" indent="0" marL="0">
              <a:buNone/>
              <a:defRPr lang="en-US" sz="2800" b="1" dirty="0">
                <a:solidFill>
                  <a:schemeClr val="bg1"/>
                </a:solidFill>
              </a:defRPr>
            </a:lvl1pPr>
          </a:lstStyle>
          <a:p>
            <a:pPr algn="l" indent="0" marL="0">
              <a:buNone/>
            </a:pPr>
            <a:endParaRPr lang="en-US" sz="28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bg2"/>
                </a:solidFill>
              </a:rPr>
              <a:t>Virley &amp; Sons | Draft for discussion</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3.xml"/><Relationship Id="rId7"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chart" Target="../charts/chart8.xml"/><Relationship Id="rId2" Type="http://schemas.openxmlformats.org/officeDocument/2006/relationships/chart" Target="../charts/chart9.xml"/><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3.xml"/><Relationship Id="rId5"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645920"/>
            <a:ext cx="10515600" cy="2194560"/>
          </a:xfrm>
          <a:prstGeom prst="rect">
            <a:avLst/>
          </a:prstGeom>
          <a:noFill/>
          <a:ln/>
        </p:spPr>
        <p:txBody>
          <a:bodyPr wrap="square" lIns="0" tIns="0" rIns="0" bIns="0" rtlCol="0" anchor="b"/>
          <a:lstStyle/>
          <a:p>
            <a:pPr algn="l" indent="0" marL="0">
              <a:buNone/>
            </a:pPr>
            <a:r>
              <a:rPr lang="en-US" sz="4800" b="1" dirty="0">
                <a:solidFill>
                  <a:schemeClr val="bg1"/>
                </a:solidFill>
              </a:rPr>
              <a:t>One Virley experience, in every channel</a:t>
            </a:r>
            <a:endParaRPr lang="en-US" sz="4800" dirty="0"/>
          </a:p>
        </p:txBody>
      </p:sp>
      <p:sp>
        <p:nvSpPr>
          <p:cNvPr id="3" name="Text 0"/>
          <p:cNvSpPr/>
          <p:nvPr>
            <p:ph idx="101" type="body" hasCustomPrompt="1"/>
          </p:nvPr>
        </p:nvSpPr>
        <p:spPr>
          <a:xfrm>
            <a:off x="731520" y="4114800"/>
            <a:ext cx="10515600" cy="1188720"/>
          </a:xfrm>
          <a:prstGeom prst="rect">
            <a:avLst/>
          </a:prstGeom>
          <a:noFill/>
          <a:ln/>
        </p:spPr>
        <p:txBody>
          <a:bodyPr wrap="square" lIns="0" tIns="0" rIns="0" bIns="0" rtlCol="0" anchor="t"/>
          <a:lstStyle/>
          <a:p>
            <a:pPr algn="l" indent="0" marL="0">
              <a:buNone/>
            </a:pPr>
            <a:r>
              <a:rPr lang="en-US" sz="2000" dirty="0">
                <a:solidFill>
                  <a:schemeClr val="bg1"/>
                </a:solidFill>
              </a:rPr>
              <a:t>Draft solution for Jack Claybourne, CEO, and Ashley Palmer, COO</a:t>
            </a:r>
            <a:endParaRPr lang="en-US" sz="2000" dirty="0"/>
          </a:p>
          <a:p>
            <a:pPr algn="l" indent="0" marL="0">
              <a:buNone/>
            </a:pPr>
            <a:r>
              <a:rPr lang="en-US" sz="2000" dirty="0">
                <a:solidFill>
                  <a:schemeClr val="bg1"/>
                </a:solidFill>
              </a:rPr>
              <a:t>Draft for discussion</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2800" b="1" dirty="0">
                <a:solidFill>
                  <a:schemeClr val="tx1"/>
                </a:solidFill>
              </a:rPr>
              <a:t>Executive summary: one Virley experience in every channel makes each visit worth more</a:t>
            </a:r>
            <a:endParaRPr lang="en-US" sz="2800" dirty="0"/>
          </a:p>
        </p:txBody>
      </p:sp>
      <p:sp>
        <p:nvSpPr>
          <p:cNvPr id="3" name="Shape 1"/>
          <p:cNvSpPr/>
          <p:nvPr/>
        </p:nvSpPr>
        <p:spPr>
          <a:xfrm>
            <a:off x="548640" y="1600200"/>
            <a:ext cx="548640" cy="548640"/>
          </a:xfrm>
          <a:prstGeom prst="ellipse">
            <a:avLst/>
          </a:prstGeom>
          <a:solidFill>
            <a:schemeClr val="accent1"/>
          </a:solidFill>
          <a:ln/>
        </p:spPr>
      </p:sp>
      <p:sp>
        <p:nvSpPr>
          <p:cNvPr id="4" name="Text 2"/>
          <p:cNvSpPr txBox="1"/>
          <p:nvPr/>
        </p:nvSpPr>
        <p:spPr>
          <a:xfrm>
            <a:off x="548640" y="16002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1</a:t>
            </a:r>
            <a:endParaRPr lang="en-US" sz="2000" dirty="0"/>
          </a:p>
        </p:txBody>
      </p:sp>
      <p:sp>
        <p:nvSpPr>
          <p:cNvPr id="5" name="Text 3"/>
          <p:cNvSpPr txBox="1"/>
          <p:nvPr/>
        </p:nvSpPr>
        <p:spPr>
          <a:xfrm>
            <a:off x="1325880" y="1581912"/>
            <a:ext cx="6217920" cy="320040"/>
          </a:xfrm>
          <a:prstGeom prst="rect">
            <a:avLst/>
          </a:prstGeom>
          <a:noFill/>
          <a:ln/>
        </p:spPr>
        <p:txBody>
          <a:bodyPr wrap="square" lIns="0" tIns="0" rIns="0" bIns="0" rtlCol="0" anchor="t"/>
          <a:lstStyle/>
          <a:p>
            <a:pPr indent="0" marL="0">
              <a:buNone/>
            </a:pPr>
            <a:r>
              <a:rPr lang="en-US" sz="1600" b="1" dirty="0">
                <a:solidFill>
                  <a:schemeClr val="tx1"/>
                </a:solidFill>
              </a:rPr>
              <a:t>The challenge</a:t>
            </a:r>
            <a:endParaRPr lang="en-US" sz="1600" dirty="0"/>
          </a:p>
        </p:txBody>
      </p:sp>
      <p:sp>
        <p:nvSpPr>
          <p:cNvPr id="6" name="Text 4"/>
          <p:cNvSpPr txBox="1"/>
          <p:nvPr/>
        </p:nvSpPr>
        <p:spPr>
          <a:xfrm>
            <a:off x="1325880" y="1929384"/>
            <a:ext cx="6217920" cy="777240"/>
          </a:xfrm>
          <a:prstGeom prst="rect">
            <a:avLst/>
          </a:prstGeom>
          <a:noFill/>
          <a:ln/>
        </p:spPr>
        <p:txBody>
          <a:bodyPr wrap="square" lIns="0" tIns="0" rIns="0" bIns="0" rtlCol="0" anchor="t"/>
          <a:lstStyle/>
          <a:p>
            <a:pPr indent="0" marL="0">
              <a:buNone/>
            </a:pPr>
            <a:r>
              <a:rPr lang="en-US" sz="1400" dirty="0">
                <a:solidFill>
                  <a:schemeClr val="tx2"/>
                </a:solidFill>
              </a:rPr>
              <a:t>Store sales slipped 1.1% in FY-1 and operating margin is 8.0% against the owners’ 10% goal, even though the number of sales rose in every store.</a:t>
            </a:r>
            <a:endParaRPr lang="en-US" sz="1400" dirty="0"/>
          </a:p>
        </p:txBody>
      </p:sp>
      <p:sp>
        <p:nvSpPr>
          <p:cNvPr id="7" name="Shape 5"/>
          <p:cNvSpPr/>
          <p:nvPr/>
        </p:nvSpPr>
        <p:spPr>
          <a:xfrm>
            <a:off x="548640" y="2743200"/>
            <a:ext cx="548640" cy="548640"/>
          </a:xfrm>
          <a:prstGeom prst="ellipse">
            <a:avLst/>
          </a:prstGeom>
          <a:solidFill>
            <a:schemeClr val="accent1"/>
          </a:solidFill>
          <a:ln/>
        </p:spPr>
      </p:sp>
      <p:sp>
        <p:nvSpPr>
          <p:cNvPr id="8" name="Text 6"/>
          <p:cNvSpPr txBox="1"/>
          <p:nvPr/>
        </p:nvSpPr>
        <p:spPr>
          <a:xfrm>
            <a:off x="548640" y="27432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2</a:t>
            </a:r>
            <a:endParaRPr lang="en-US" sz="2000" dirty="0"/>
          </a:p>
        </p:txBody>
      </p:sp>
      <p:sp>
        <p:nvSpPr>
          <p:cNvPr id="9" name="Text 7"/>
          <p:cNvSpPr txBox="1"/>
          <p:nvPr/>
        </p:nvSpPr>
        <p:spPr>
          <a:xfrm>
            <a:off x="1325880" y="2724912"/>
            <a:ext cx="6217920" cy="320040"/>
          </a:xfrm>
          <a:prstGeom prst="rect">
            <a:avLst/>
          </a:prstGeom>
          <a:noFill/>
          <a:ln/>
        </p:spPr>
        <p:txBody>
          <a:bodyPr wrap="square" lIns="0" tIns="0" rIns="0" bIns="0" rtlCol="0" anchor="t"/>
          <a:lstStyle/>
          <a:p>
            <a:pPr indent="0" marL="0">
              <a:buNone/>
            </a:pPr>
            <a:r>
              <a:rPr lang="en-US" sz="1600" b="1" dirty="0">
                <a:solidFill>
                  <a:schemeClr val="tx1"/>
                </a:solidFill>
              </a:rPr>
              <a:t>The reframe</a:t>
            </a:r>
            <a:endParaRPr lang="en-US" sz="1600" dirty="0"/>
          </a:p>
        </p:txBody>
      </p:sp>
      <p:sp>
        <p:nvSpPr>
          <p:cNvPr id="10" name="Text 8"/>
          <p:cNvSpPr txBox="1"/>
          <p:nvPr/>
        </p:nvSpPr>
        <p:spPr>
          <a:xfrm>
            <a:off x="1325880" y="3072384"/>
            <a:ext cx="6217920" cy="777240"/>
          </a:xfrm>
          <a:prstGeom prst="rect">
            <a:avLst/>
          </a:prstGeom>
          <a:noFill/>
          <a:ln/>
        </p:spPr>
        <p:txBody>
          <a:bodyPr wrap="square" lIns="0" tIns="0" rIns="0" bIns="0" rtlCol="0" anchor="t"/>
          <a:lstStyle/>
          <a:p>
            <a:pPr indent="0" marL="0">
              <a:buNone/>
            </a:pPr>
            <a:r>
              <a:rPr lang="en-US" sz="1400" dirty="0">
                <a:solidFill>
                  <a:schemeClr val="tx2"/>
                </a:solidFill>
              </a:rPr>
              <a:t>The issue is value per visit, not traffic. Serve each client as one person in every channel, and run one joined-up operation behind it.</a:t>
            </a:r>
            <a:endParaRPr lang="en-US" sz="1400" dirty="0"/>
          </a:p>
        </p:txBody>
      </p:sp>
      <p:sp>
        <p:nvSpPr>
          <p:cNvPr id="11" name="Shape 9"/>
          <p:cNvSpPr/>
          <p:nvPr/>
        </p:nvSpPr>
        <p:spPr>
          <a:xfrm>
            <a:off x="548640" y="3886200"/>
            <a:ext cx="548640" cy="548640"/>
          </a:xfrm>
          <a:prstGeom prst="ellipse">
            <a:avLst/>
          </a:prstGeom>
          <a:solidFill>
            <a:schemeClr val="accent1"/>
          </a:solidFill>
          <a:ln/>
        </p:spPr>
      </p:sp>
      <p:sp>
        <p:nvSpPr>
          <p:cNvPr id="12" name="Text 10"/>
          <p:cNvSpPr txBox="1"/>
          <p:nvPr/>
        </p:nvSpPr>
        <p:spPr>
          <a:xfrm>
            <a:off x="548640" y="38862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3</a:t>
            </a:r>
            <a:endParaRPr lang="en-US" sz="2000" dirty="0"/>
          </a:p>
        </p:txBody>
      </p:sp>
      <p:sp>
        <p:nvSpPr>
          <p:cNvPr id="13" name="Text 11"/>
          <p:cNvSpPr txBox="1"/>
          <p:nvPr/>
        </p:nvSpPr>
        <p:spPr>
          <a:xfrm>
            <a:off x="1325880" y="3867912"/>
            <a:ext cx="6217920" cy="320040"/>
          </a:xfrm>
          <a:prstGeom prst="rect">
            <a:avLst/>
          </a:prstGeom>
          <a:noFill/>
          <a:ln/>
        </p:spPr>
        <p:txBody>
          <a:bodyPr wrap="square" lIns="0" tIns="0" rIns="0" bIns="0" rtlCol="0" anchor="t"/>
          <a:lstStyle/>
          <a:p>
            <a:pPr indent="0" marL="0">
              <a:buNone/>
            </a:pPr>
            <a:r>
              <a:rPr lang="en-US" sz="1600" b="1" dirty="0">
                <a:solidFill>
                  <a:schemeClr val="tx1"/>
                </a:solidFill>
              </a:rPr>
              <a:t>The bold idea</a:t>
            </a:r>
            <a:endParaRPr lang="en-US" sz="1600" dirty="0"/>
          </a:p>
        </p:txBody>
      </p:sp>
      <p:sp>
        <p:nvSpPr>
          <p:cNvPr id="14" name="Text 12"/>
          <p:cNvSpPr txBox="1"/>
          <p:nvPr/>
        </p:nvSpPr>
        <p:spPr>
          <a:xfrm>
            <a:off x="1325880" y="4215384"/>
            <a:ext cx="6217920" cy="777240"/>
          </a:xfrm>
          <a:prstGeom prst="rect">
            <a:avLst/>
          </a:prstGeom>
          <a:noFill/>
          <a:ln/>
        </p:spPr>
        <p:txBody>
          <a:bodyPr wrap="square" lIns="0" tIns="0" rIns="0" bIns="0" rtlCol="0" anchor="t"/>
          <a:lstStyle/>
          <a:p>
            <a:pPr indent="0" marL="0">
              <a:buNone/>
            </a:pPr>
            <a:r>
              <a:rPr lang="en-US" sz="1400" dirty="0">
                <a:solidFill>
                  <a:schemeClr val="tx2"/>
                </a:solidFill>
              </a:rPr>
              <a:t>Virley Everywhere joins business, experience and technology (BXT): one client profile, one stock view and one team across stores and online.</a:t>
            </a:r>
            <a:endParaRPr lang="en-US" sz="1400" dirty="0"/>
          </a:p>
        </p:txBody>
      </p:sp>
      <p:sp>
        <p:nvSpPr>
          <p:cNvPr id="15" name="Shape 13"/>
          <p:cNvSpPr/>
          <p:nvPr/>
        </p:nvSpPr>
        <p:spPr>
          <a:xfrm>
            <a:off x="548640" y="5029200"/>
            <a:ext cx="548640" cy="548640"/>
          </a:xfrm>
          <a:prstGeom prst="ellipse">
            <a:avLst/>
          </a:prstGeom>
          <a:solidFill>
            <a:schemeClr val="accent1"/>
          </a:solidFill>
          <a:ln/>
        </p:spPr>
      </p:sp>
      <p:sp>
        <p:nvSpPr>
          <p:cNvPr id="16" name="Text 14"/>
          <p:cNvSpPr txBox="1"/>
          <p:nvPr/>
        </p:nvSpPr>
        <p:spPr>
          <a:xfrm>
            <a:off x="548640" y="50292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mj-lt" pitchFamily="34" charset="0"/>
                <a:ea typeface="+mj-lt" pitchFamily="34" charset="-122"/>
                <a:cs typeface="+mj-lt" pitchFamily="34" charset="-120"/>
              </a:rPr>
              <a:t>4</a:t>
            </a:r>
            <a:endParaRPr lang="en-US" sz="2000" dirty="0"/>
          </a:p>
        </p:txBody>
      </p:sp>
      <p:sp>
        <p:nvSpPr>
          <p:cNvPr id="17" name="Text 15"/>
          <p:cNvSpPr txBox="1"/>
          <p:nvPr/>
        </p:nvSpPr>
        <p:spPr>
          <a:xfrm>
            <a:off x="1325880" y="5010912"/>
            <a:ext cx="6217920" cy="320040"/>
          </a:xfrm>
          <a:prstGeom prst="rect">
            <a:avLst/>
          </a:prstGeom>
          <a:noFill/>
          <a:ln/>
        </p:spPr>
        <p:txBody>
          <a:bodyPr wrap="square" lIns="0" tIns="0" rIns="0" bIns="0" rtlCol="0" anchor="t"/>
          <a:lstStyle/>
          <a:p>
            <a:pPr indent="0" marL="0">
              <a:buNone/>
            </a:pPr>
            <a:r>
              <a:rPr lang="en-US" sz="1600" b="1" dirty="0">
                <a:solidFill>
                  <a:schemeClr val="tx1"/>
                </a:solidFill>
              </a:rPr>
              <a:t>The path</a:t>
            </a:r>
            <a:endParaRPr lang="en-US" sz="1600" dirty="0"/>
          </a:p>
        </p:txBody>
      </p:sp>
      <p:sp>
        <p:nvSpPr>
          <p:cNvPr id="18" name="Text 16"/>
          <p:cNvSpPr txBox="1"/>
          <p:nvPr/>
        </p:nvSpPr>
        <p:spPr>
          <a:xfrm>
            <a:off x="1325880" y="5358384"/>
            <a:ext cx="6217920" cy="777240"/>
          </a:xfrm>
          <a:prstGeom prst="rect">
            <a:avLst/>
          </a:prstGeom>
          <a:noFill/>
          <a:ln/>
        </p:spPr>
        <p:txBody>
          <a:bodyPr wrap="square" lIns="0" tIns="0" rIns="0" bIns="0" rtlCol="0" anchor="t"/>
          <a:lstStyle/>
          <a:p>
            <a:pPr indent="0" marL="0">
              <a:buNone/>
            </a:pPr>
            <a:r>
              <a:rPr lang="en-US" sz="1400" dirty="0">
                <a:solidFill>
                  <a:schemeClr val="tx2"/>
                </a:solidFill>
              </a:rPr>
              <a:t>Fix foundations, prove the model in London and Birmingham, then scale. About two points of cost closes the margin gap.</a:t>
            </a:r>
            <a:endParaRPr lang="en-US" sz="1400" dirty="0"/>
          </a:p>
        </p:txBody>
      </p:sp>
      <p:sp>
        <p:nvSpPr>
          <p:cNvPr id="19" name="Core message card"/>
          <p:cNvSpPr/>
          <p:nvPr/>
        </p:nvSpPr>
        <p:spPr>
          <a:xfrm>
            <a:off x="7955280" y="1600200"/>
            <a:ext cx="3657600" cy="4434840"/>
          </a:xfrm>
          <a:prstGeom prst="rect">
            <a:avLst/>
          </a:prstGeom>
          <a:solidFill>
            <a:schemeClr val="accent1"/>
          </a:solidFill>
          <a:ln/>
        </p:spPr>
      </p:sp>
      <p:sp>
        <p:nvSpPr>
          <p:cNvPr id="20" name="Text 18"/>
          <p:cNvSpPr txBox="1"/>
          <p:nvPr/>
        </p:nvSpPr>
        <p:spPr>
          <a:xfrm>
            <a:off x="8229600" y="1874520"/>
            <a:ext cx="3108960" cy="274320"/>
          </a:xfrm>
          <a:prstGeom prst="rect">
            <a:avLst/>
          </a:prstGeom>
          <a:noFill/>
          <a:ln/>
        </p:spPr>
        <p:txBody>
          <a:bodyPr wrap="square" lIns="0" tIns="0" rIns="0" bIns="0" rtlCol="0" anchor="t"/>
          <a:lstStyle/>
          <a:p>
            <a:pPr indent="0" marL="0">
              <a:buNone/>
            </a:pPr>
            <a:r>
              <a:rPr lang="en-US" sz="1200" b="1" spc="200" kern="0" dirty="0">
                <a:solidFill>
                  <a:schemeClr val="bg1"/>
                </a:solidFill>
              </a:rPr>
              <a:t>CORE MESSAGE</a:t>
            </a:r>
            <a:endParaRPr lang="en-US" sz="1200" dirty="0"/>
          </a:p>
        </p:txBody>
      </p:sp>
      <p:sp>
        <p:nvSpPr>
          <p:cNvPr id="21" name="Text 19"/>
          <p:cNvSpPr txBox="1"/>
          <p:nvPr/>
        </p:nvSpPr>
        <p:spPr>
          <a:xfrm>
            <a:off x="8229600" y="2331720"/>
            <a:ext cx="3108960" cy="3474720"/>
          </a:xfrm>
          <a:prstGeom prst="rect">
            <a:avLst/>
          </a:prstGeom>
          <a:noFill/>
          <a:ln/>
        </p:spPr>
        <p:txBody>
          <a:bodyPr wrap="square" lIns="0" tIns="0" rIns="0" bIns="0" rtlCol="0" anchor="t"/>
          <a:lstStyle/>
          <a:p>
            <a:pPr indent="0" marL="0">
              <a:buNone/>
            </a:pPr>
            <a:r>
              <a:rPr lang="en-US" sz="2400" b="1" dirty="0">
                <a:solidFill>
                  <a:schemeClr val="bg1"/>
                </a:solidFill>
                <a:latin typeface="+mj-lt" pitchFamily="34" charset="0"/>
                <a:ea typeface="+mj-lt" pitchFamily="34" charset="-122"/>
                <a:cs typeface="+mj-lt" pitchFamily="34" charset="-120"/>
              </a:rPr>
              <a:t>V&amp;S can grow toward £2bn at a 10% margin by delivering one Virley experience in every channel</a:t>
            </a:r>
            <a:endParaRPr lang="en-US" sz="2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2800" b="1" dirty="0">
                <a:solidFill>
                  <a:schemeClr val="tx1"/>
                </a:solidFill>
              </a:rPr>
              <a:t>We heard a £2bn ambition and a 10% margin goal; today V&amp;S earns 8.0% on £1.26bn</a:t>
            </a:r>
            <a:endParaRPr lang="en-US" sz="2800" dirty="0"/>
          </a:p>
        </p:txBody>
      </p:sp>
      <p:sp>
        <p:nvSpPr>
          <p:cNvPr id="3" name="Stat card 1"/>
          <p:cNvSpPr/>
          <p:nvPr/>
        </p:nvSpPr>
        <p:spPr>
          <a:xfrm>
            <a:off x="548640" y="1554480"/>
            <a:ext cx="2606040" cy="1920240"/>
          </a:xfrm>
          <a:prstGeom prst="rect">
            <a:avLst/>
          </a:prstGeom>
          <a:solidFill>
            <a:schemeClr val="bg2"/>
          </a:solidFill>
          <a:ln/>
        </p:spPr>
      </p:sp>
      <p:sp>
        <p:nvSpPr>
          <p:cNvPr id="4" name="Shape 2"/>
          <p:cNvSpPr/>
          <p:nvPr/>
        </p:nvSpPr>
        <p:spPr>
          <a:xfrm>
            <a:off x="731520" y="1719072"/>
            <a:ext cx="457200" cy="457200"/>
          </a:xfrm>
          <a:prstGeom prst="ellipse">
            <a:avLst/>
          </a:prstGeom>
          <a:solidFill>
            <a:srgbClr val="D52B1E"/>
          </a:solidFill>
          <a:ln/>
        </p:spPr>
      </p:sp>
      <p:pic>
        <p:nvPicPr>
          <p:cNvPr id="5" name="Image 0" descr="icon">    </p:cNvPr>
          <p:cNvPicPr>
            <a:picLocks noChangeAspect="1"/>
          </p:cNvPicPr>
          <p:nvPr/>
        </p:nvPicPr>
        <p:blipFill>
          <a:blip r:embed="rId1"/>
          <a:stretch>
            <a:fillRect/>
          </a:stretch>
        </p:blipFill>
        <p:spPr>
          <a:xfrm>
            <a:off x="845820" y="1833372"/>
            <a:ext cx="228600" cy="228600"/>
          </a:xfrm>
          <a:prstGeom prst="rect">
            <a:avLst/>
          </a:prstGeom>
        </p:spPr>
      </p:pic>
      <p:sp>
        <p:nvSpPr>
          <p:cNvPr id="6" name="Text 3"/>
          <p:cNvSpPr txBox="1"/>
          <p:nvPr/>
        </p:nvSpPr>
        <p:spPr>
          <a:xfrm>
            <a:off x="1325880" y="1691640"/>
            <a:ext cx="1783080" cy="548640"/>
          </a:xfrm>
          <a:prstGeom prst="rect">
            <a:avLst/>
          </a:prstGeom>
          <a:noFill/>
          <a:ln/>
        </p:spPr>
        <p:txBody>
          <a:bodyPr wrap="square" lIns="0" tIns="0" rIns="0" bIns="0" rtlCol="0" anchor="ctr"/>
          <a:lstStyle/>
          <a:p>
            <a:pPr indent="0" marL="0">
              <a:buNone/>
            </a:pPr>
            <a:r>
              <a:rPr lang="en-US" sz="2800" b="1" dirty="0">
                <a:solidFill>
                  <a:schemeClr val="accent1"/>
                </a:solidFill>
                <a:latin typeface="+mj-lt" pitchFamily="34" charset="0"/>
                <a:ea typeface="+mj-lt" pitchFamily="34" charset="-122"/>
                <a:cs typeface="+mj-lt" pitchFamily="34" charset="-120"/>
              </a:rPr>
              <a:t>£1.26bn</a:t>
            </a:r>
            <a:endParaRPr lang="en-US" sz="2800" dirty="0"/>
          </a:p>
        </p:txBody>
      </p:sp>
      <p:sp>
        <p:nvSpPr>
          <p:cNvPr id="7" name="Text 4"/>
          <p:cNvSpPr txBox="1"/>
          <p:nvPr/>
        </p:nvSpPr>
        <p:spPr>
          <a:xfrm>
            <a:off x="731520" y="2377440"/>
            <a:ext cx="2286000" cy="1005840"/>
          </a:xfrm>
          <a:prstGeom prst="rect">
            <a:avLst/>
          </a:prstGeom>
          <a:noFill/>
          <a:ln/>
        </p:spPr>
        <p:txBody>
          <a:bodyPr wrap="square" lIns="0" tIns="0" rIns="0" bIns="0" rtlCol="0" anchor="t"/>
          <a:lstStyle/>
          <a:p>
            <a:pPr indent="0" marL="0">
              <a:buNone/>
            </a:pPr>
            <a:r>
              <a:rPr lang="en-US" sz="1300" dirty="0">
                <a:solidFill>
                  <a:schemeClr val="tx1"/>
                </a:solidFill>
              </a:rPr>
              <a:t>FY-1 revenue across four stores and online</a:t>
            </a:r>
            <a:endParaRPr lang="en-US" sz="1300" dirty="0"/>
          </a:p>
        </p:txBody>
      </p:sp>
      <p:sp>
        <p:nvSpPr>
          <p:cNvPr id="8" name="Stat card 2"/>
          <p:cNvSpPr/>
          <p:nvPr/>
        </p:nvSpPr>
        <p:spPr>
          <a:xfrm>
            <a:off x="3337560" y="1554480"/>
            <a:ext cx="2606040" cy="1920240"/>
          </a:xfrm>
          <a:prstGeom prst="rect">
            <a:avLst/>
          </a:prstGeom>
          <a:solidFill>
            <a:schemeClr val="bg2"/>
          </a:solidFill>
          <a:ln/>
        </p:spPr>
      </p:sp>
      <p:sp>
        <p:nvSpPr>
          <p:cNvPr id="9" name="Shape 6"/>
          <p:cNvSpPr/>
          <p:nvPr/>
        </p:nvSpPr>
        <p:spPr>
          <a:xfrm>
            <a:off x="3520440" y="1719072"/>
            <a:ext cx="457200" cy="457200"/>
          </a:xfrm>
          <a:prstGeom prst="ellipse">
            <a:avLst/>
          </a:prstGeom>
          <a:solidFill>
            <a:srgbClr val="D52B1E"/>
          </a:solidFill>
          <a:ln/>
        </p:spPr>
      </p:sp>
      <p:pic>
        <p:nvPicPr>
          <p:cNvPr id="10" name="Image 1" descr="icon">    </p:cNvPr>
          <p:cNvPicPr>
            <a:picLocks noChangeAspect="1"/>
          </p:cNvPicPr>
          <p:nvPr/>
        </p:nvPicPr>
        <p:blipFill>
          <a:blip r:embed="rId2"/>
          <a:stretch>
            <a:fillRect/>
          </a:stretch>
        </p:blipFill>
        <p:spPr>
          <a:xfrm>
            <a:off x="3634740" y="1833372"/>
            <a:ext cx="228600" cy="228600"/>
          </a:xfrm>
          <a:prstGeom prst="rect">
            <a:avLst/>
          </a:prstGeom>
        </p:spPr>
      </p:pic>
      <p:sp>
        <p:nvSpPr>
          <p:cNvPr id="11" name="Text 7"/>
          <p:cNvSpPr txBox="1"/>
          <p:nvPr/>
        </p:nvSpPr>
        <p:spPr>
          <a:xfrm>
            <a:off x="4114800" y="1691640"/>
            <a:ext cx="1783080" cy="548640"/>
          </a:xfrm>
          <a:prstGeom prst="rect">
            <a:avLst/>
          </a:prstGeom>
          <a:noFill/>
          <a:ln/>
        </p:spPr>
        <p:txBody>
          <a:bodyPr wrap="square" lIns="0" tIns="0" rIns="0" bIns="0" rtlCol="0" anchor="ctr"/>
          <a:lstStyle/>
          <a:p>
            <a:pPr indent="0" marL="0">
              <a:buNone/>
            </a:pPr>
            <a:r>
              <a:rPr lang="en-US" sz="2800" b="1" dirty="0">
                <a:solidFill>
                  <a:schemeClr val="accent1"/>
                </a:solidFill>
                <a:latin typeface="+mj-lt" pitchFamily="34" charset="0"/>
                <a:ea typeface="+mj-lt" pitchFamily="34" charset="-122"/>
                <a:cs typeface="+mj-lt" pitchFamily="34" charset="-120"/>
              </a:rPr>
              <a:t>8.0%</a:t>
            </a:r>
            <a:endParaRPr lang="en-US" sz="2800" dirty="0"/>
          </a:p>
        </p:txBody>
      </p:sp>
      <p:sp>
        <p:nvSpPr>
          <p:cNvPr id="12" name="Text 8"/>
          <p:cNvSpPr txBox="1"/>
          <p:nvPr/>
        </p:nvSpPr>
        <p:spPr>
          <a:xfrm>
            <a:off x="3520440" y="2377440"/>
            <a:ext cx="2286000" cy="1005840"/>
          </a:xfrm>
          <a:prstGeom prst="rect">
            <a:avLst/>
          </a:prstGeom>
          <a:noFill/>
          <a:ln/>
        </p:spPr>
        <p:txBody>
          <a:bodyPr wrap="square" lIns="0" tIns="0" rIns="0" bIns="0" rtlCol="0" anchor="t"/>
          <a:lstStyle/>
          <a:p>
            <a:pPr indent="0" marL="0">
              <a:buNone/>
            </a:pPr>
            <a:r>
              <a:rPr lang="en-US" sz="1300" dirty="0">
                <a:solidFill>
                  <a:schemeClr val="tx1"/>
                </a:solidFill>
              </a:rPr>
              <a:t>FY-1 operating margin (EBIT) against the owners’ 10% goal</a:t>
            </a:r>
            <a:endParaRPr lang="en-US" sz="1300" dirty="0"/>
          </a:p>
        </p:txBody>
      </p:sp>
      <p:sp>
        <p:nvSpPr>
          <p:cNvPr id="13" name="Stat card 3"/>
          <p:cNvSpPr/>
          <p:nvPr/>
        </p:nvSpPr>
        <p:spPr>
          <a:xfrm>
            <a:off x="6126480" y="1554480"/>
            <a:ext cx="2606040" cy="1920240"/>
          </a:xfrm>
          <a:prstGeom prst="rect">
            <a:avLst/>
          </a:prstGeom>
          <a:solidFill>
            <a:schemeClr val="bg2"/>
          </a:solidFill>
          <a:ln/>
        </p:spPr>
      </p:sp>
      <p:sp>
        <p:nvSpPr>
          <p:cNvPr id="14" name="Shape 10"/>
          <p:cNvSpPr/>
          <p:nvPr/>
        </p:nvSpPr>
        <p:spPr>
          <a:xfrm>
            <a:off x="6309360" y="1719072"/>
            <a:ext cx="457200" cy="457200"/>
          </a:xfrm>
          <a:prstGeom prst="ellipse">
            <a:avLst/>
          </a:prstGeom>
          <a:solidFill>
            <a:srgbClr val="D52B1E"/>
          </a:solidFill>
          <a:ln/>
        </p:spPr>
      </p:sp>
      <p:pic>
        <p:nvPicPr>
          <p:cNvPr id="15" name="Image 2" descr="icon">    </p:cNvPr>
          <p:cNvPicPr>
            <a:picLocks noChangeAspect="1"/>
          </p:cNvPicPr>
          <p:nvPr/>
        </p:nvPicPr>
        <p:blipFill>
          <a:blip r:embed="rId3"/>
          <a:stretch>
            <a:fillRect/>
          </a:stretch>
        </p:blipFill>
        <p:spPr>
          <a:xfrm>
            <a:off x="6423660" y="1833372"/>
            <a:ext cx="228600" cy="228600"/>
          </a:xfrm>
          <a:prstGeom prst="rect">
            <a:avLst/>
          </a:prstGeom>
        </p:spPr>
      </p:pic>
      <p:sp>
        <p:nvSpPr>
          <p:cNvPr id="16" name="Text 11"/>
          <p:cNvSpPr txBox="1"/>
          <p:nvPr/>
        </p:nvSpPr>
        <p:spPr>
          <a:xfrm>
            <a:off x="6903720" y="1691640"/>
            <a:ext cx="1783080" cy="548640"/>
          </a:xfrm>
          <a:prstGeom prst="rect">
            <a:avLst/>
          </a:prstGeom>
          <a:noFill/>
          <a:ln/>
        </p:spPr>
        <p:txBody>
          <a:bodyPr wrap="square" lIns="0" tIns="0" rIns="0" bIns="0" rtlCol="0" anchor="ctr"/>
          <a:lstStyle/>
          <a:p>
            <a:pPr indent="0" marL="0">
              <a:buNone/>
            </a:pPr>
            <a:r>
              <a:rPr lang="en-US" sz="2800" b="1" dirty="0">
                <a:solidFill>
                  <a:schemeClr val="accent1"/>
                </a:solidFill>
                <a:latin typeface="+mj-lt" pitchFamily="34" charset="0"/>
                <a:ea typeface="+mj-lt" pitchFamily="34" charset="-122"/>
                <a:cs typeface="+mj-lt" pitchFamily="34" charset="-120"/>
              </a:rPr>
              <a:t>−1.1%</a:t>
            </a:r>
            <a:endParaRPr lang="en-US" sz="2800" dirty="0"/>
          </a:p>
        </p:txBody>
      </p:sp>
      <p:sp>
        <p:nvSpPr>
          <p:cNvPr id="17" name="Text 12"/>
          <p:cNvSpPr txBox="1"/>
          <p:nvPr/>
        </p:nvSpPr>
        <p:spPr>
          <a:xfrm>
            <a:off x="6309360" y="2377440"/>
            <a:ext cx="2286000" cy="1005840"/>
          </a:xfrm>
          <a:prstGeom prst="rect">
            <a:avLst/>
          </a:prstGeom>
          <a:noFill/>
          <a:ln/>
        </p:spPr>
        <p:txBody>
          <a:bodyPr wrap="square" lIns="0" tIns="0" rIns="0" bIns="0" rtlCol="0" anchor="t"/>
          <a:lstStyle/>
          <a:p>
            <a:pPr indent="0" marL="0">
              <a:buNone/>
            </a:pPr>
            <a:r>
              <a:rPr lang="en-US" sz="1300" dirty="0">
                <a:solidFill>
                  <a:schemeClr val="tx1"/>
                </a:solidFill>
              </a:rPr>
              <a:t>Change in store sales in FY-1 (£1,271m to £1,257m)</a:t>
            </a:r>
            <a:endParaRPr lang="en-US" sz="1300" dirty="0"/>
          </a:p>
        </p:txBody>
      </p:sp>
      <p:sp>
        <p:nvSpPr>
          <p:cNvPr id="18" name="Stat card 4"/>
          <p:cNvSpPr/>
          <p:nvPr/>
        </p:nvSpPr>
        <p:spPr>
          <a:xfrm>
            <a:off x="8915400" y="1554480"/>
            <a:ext cx="2606040" cy="1920240"/>
          </a:xfrm>
          <a:prstGeom prst="rect">
            <a:avLst/>
          </a:prstGeom>
          <a:solidFill>
            <a:schemeClr val="bg2"/>
          </a:solidFill>
          <a:ln/>
        </p:spPr>
      </p:sp>
      <p:sp>
        <p:nvSpPr>
          <p:cNvPr id="19" name="Shape 14"/>
          <p:cNvSpPr/>
          <p:nvPr/>
        </p:nvSpPr>
        <p:spPr>
          <a:xfrm>
            <a:off x="9098280" y="1719072"/>
            <a:ext cx="457200" cy="457200"/>
          </a:xfrm>
          <a:prstGeom prst="ellipse">
            <a:avLst/>
          </a:prstGeom>
          <a:solidFill>
            <a:srgbClr val="D52B1E"/>
          </a:solidFill>
          <a:ln/>
        </p:spPr>
      </p:sp>
      <p:pic>
        <p:nvPicPr>
          <p:cNvPr id="20" name="Image 3" descr="icon">    </p:cNvPr>
          <p:cNvPicPr>
            <a:picLocks noChangeAspect="1"/>
          </p:cNvPicPr>
          <p:nvPr/>
        </p:nvPicPr>
        <p:blipFill>
          <a:blip r:embed="rId4"/>
          <a:stretch>
            <a:fillRect/>
          </a:stretch>
        </p:blipFill>
        <p:spPr>
          <a:xfrm>
            <a:off x="9212580" y="1833372"/>
            <a:ext cx="228600" cy="228600"/>
          </a:xfrm>
          <a:prstGeom prst="rect">
            <a:avLst/>
          </a:prstGeom>
        </p:spPr>
      </p:pic>
      <p:sp>
        <p:nvSpPr>
          <p:cNvPr id="21" name="Text 15"/>
          <p:cNvSpPr txBox="1"/>
          <p:nvPr/>
        </p:nvSpPr>
        <p:spPr>
          <a:xfrm>
            <a:off x="9692640" y="1691640"/>
            <a:ext cx="1783080" cy="548640"/>
          </a:xfrm>
          <a:prstGeom prst="rect">
            <a:avLst/>
          </a:prstGeom>
          <a:noFill/>
          <a:ln/>
        </p:spPr>
        <p:txBody>
          <a:bodyPr wrap="square" lIns="0" tIns="0" rIns="0" bIns="0" rtlCol="0" anchor="ctr"/>
          <a:lstStyle/>
          <a:p>
            <a:pPr indent="0" marL="0">
              <a:buNone/>
            </a:pPr>
            <a:r>
              <a:rPr lang="en-US" sz="2800" b="1" dirty="0">
                <a:solidFill>
                  <a:schemeClr val="accent1"/>
                </a:solidFill>
                <a:latin typeface="+mj-lt" pitchFamily="34" charset="0"/>
                <a:ea typeface="+mj-lt" pitchFamily="34" charset="-122"/>
                <a:cs typeface="+mj-lt" pitchFamily="34" charset="-120"/>
              </a:rPr>
              <a:t>£2bn</a:t>
            </a:r>
            <a:endParaRPr lang="en-US" sz="2800" dirty="0"/>
          </a:p>
        </p:txBody>
      </p:sp>
      <p:sp>
        <p:nvSpPr>
          <p:cNvPr id="22" name="Text 16"/>
          <p:cNvSpPr txBox="1"/>
          <p:nvPr/>
        </p:nvSpPr>
        <p:spPr>
          <a:xfrm>
            <a:off x="9098280" y="2377440"/>
            <a:ext cx="2286000" cy="1005840"/>
          </a:xfrm>
          <a:prstGeom prst="rect">
            <a:avLst/>
          </a:prstGeom>
          <a:noFill/>
          <a:ln/>
        </p:spPr>
        <p:txBody>
          <a:bodyPr wrap="square" lIns="0" tIns="0" rIns="0" bIns="0" rtlCol="0" anchor="t"/>
          <a:lstStyle/>
          <a:p>
            <a:pPr indent="0" marL="0">
              <a:buNone/>
            </a:pPr>
            <a:r>
              <a:rPr lang="en-US" sz="1300" dirty="0">
                <a:solidFill>
                  <a:schemeClr val="tx1"/>
                </a:solidFill>
              </a:rPr>
              <a:t>Owners’ revenue ambition within five years</a:t>
            </a:r>
            <a:endParaRPr lang="en-US" sz="1300" dirty="0"/>
          </a:p>
        </p:txBody>
      </p:sp>
      <p:sp>
        <p:nvSpPr>
          <p:cNvPr id="23" name="Panel 1"/>
          <p:cNvSpPr/>
          <p:nvPr/>
        </p:nvSpPr>
        <p:spPr>
          <a:xfrm>
            <a:off x="548640" y="3749040"/>
            <a:ext cx="5394960" cy="2377440"/>
          </a:xfrm>
          <a:prstGeom prst="rect">
            <a:avLst/>
          </a:prstGeom>
          <a:solidFill>
            <a:schemeClr val="bg1"/>
          </a:solidFill>
          <a:ln w="12700">
            <a:solidFill>
              <a:srgbClr val="D9D4CC"/>
            </a:solidFill>
            <a:prstDash val="solid"/>
          </a:ln>
        </p:spPr>
      </p:sp>
      <p:sp>
        <p:nvSpPr>
          <p:cNvPr id="24" name="Panel header 1"/>
          <p:cNvSpPr/>
          <p:nvPr/>
        </p:nvSpPr>
        <p:spPr>
          <a:xfrm>
            <a:off x="548640" y="3749040"/>
            <a:ext cx="5394960" cy="411480"/>
          </a:xfrm>
          <a:prstGeom prst="rect">
            <a:avLst/>
          </a:prstGeom>
          <a:solidFill>
            <a:schemeClr val="accent1"/>
          </a:solidFill>
          <a:ln/>
        </p:spPr>
      </p:sp>
      <p:sp>
        <p:nvSpPr>
          <p:cNvPr id="25" name="Text 19"/>
          <p:cNvSpPr txBox="1"/>
          <p:nvPr/>
        </p:nvSpPr>
        <p:spPr>
          <a:xfrm>
            <a:off x="731520" y="3749040"/>
            <a:ext cx="5029200" cy="411480"/>
          </a:xfrm>
          <a:prstGeom prst="rect">
            <a:avLst/>
          </a:prstGeom>
          <a:noFill/>
          <a:ln/>
        </p:spPr>
        <p:txBody>
          <a:bodyPr wrap="square" lIns="0" tIns="0" rIns="0" bIns="0" rtlCol="0" anchor="ctr"/>
          <a:lstStyle/>
          <a:p>
            <a:pPr indent="0" marL="0">
              <a:buNone/>
            </a:pPr>
            <a:r>
              <a:rPr lang="en-US" sz="1400" b="1" dirty="0">
                <a:solidFill>
                  <a:schemeClr val="bg1"/>
                </a:solidFill>
              </a:rPr>
              <a:t>What the numbers say</a:t>
            </a:r>
            <a:endParaRPr lang="en-US" sz="1400" dirty="0"/>
          </a:p>
        </p:txBody>
      </p:sp>
      <p:sp>
        <p:nvSpPr>
          <p:cNvPr id="26" name="Text 20"/>
          <p:cNvSpPr txBox="1"/>
          <p:nvPr/>
        </p:nvSpPr>
        <p:spPr>
          <a:xfrm>
            <a:off x="731520" y="4343400"/>
            <a:ext cx="5029200" cy="16459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Combined store profit fell 2.4% in FY-1; Orlando’s fell 47%</a:t>
            </a:r>
            <a:endParaRPr lang="en-US" sz="1400" dirty="0"/>
          </a:p>
          <a:p>
            <a:pPr marL="342900" indent="-342900">
              <a:spcAft>
                <a:spcPts val="600"/>
              </a:spcAft>
              <a:buSzPct val="100000"/>
              <a:buChar char="•"/>
            </a:pPr>
            <a:r>
              <a:rPr lang="en-US" sz="1400" dirty="0">
                <a:solidFill>
                  <a:schemeClr val="tx1"/>
                </a:solidFill>
              </a:rPr>
              <a:t>Edinburgh earns a 3.4% operating margin</a:t>
            </a:r>
            <a:endParaRPr lang="en-US" sz="1400" dirty="0"/>
          </a:p>
          <a:p>
            <a:pPr marL="342900" indent="-342900">
              <a:spcAft>
                <a:spcPts val="600"/>
              </a:spcAft>
              <a:buSzPct val="100000"/>
              <a:buChar char="•"/>
            </a:pPr>
            <a:r>
              <a:rPr lang="en-US" sz="1400" dirty="0">
                <a:solidFill>
                  <a:schemeClr val="tx1"/>
                </a:solidFill>
              </a:rPr>
              <a:t>Online earns £5.7m from 982,000 visits</a:t>
            </a:r>
            <a:endParaRPr lang="en-US" sz="1400" dirty="0"/>
          </a:p>
        </p:txBody>
      </p:sp>
      <p:sp>
        <p:nvSpPr>
          <p:cNvPr id="27" name="Panel 2"/>
          <p:cNvSpPr/>
          <p:nvPr/>
        </p:nvSpPr>
        <p:spPr>
          <a:xfrm>
            <a:off x="6217920" y="3749040"/>
            <a:ext cx="5394960" cy="2377440"/>
          </a:xfrm>
          <a:prstGeom prst="rect">
            <a:avLst/>
          </a:prstGeom>
          <a:solidFill>
            <a:schemeClr val="bg1"/>
          </a:solidFill>
          <a:ln w="12700">
            <a:solidFill>
              <a:srgbClr val="D9D4CC"/>
            </a:solidFill>
            <a:prstDash val="solid"/>
          </a:ln>
        </p:spPr>
      </p:sp>
      <p:sp>
        <p:nvSpPr>
          <p:cNvPr id="28" name="Panel header 2"/>
          <p:cNvSpPr/>
          <p:nvPr/>
        </p:nvSpPr>
        <p:spPr>
          <a:xfrm>
            <a:off x="6217920" y="3749040"/>
            <a:ext cx="5394960" cy="411480"/>
          </a:xfrm>
          <a:prstGeom prst="rect">
            <a:avLst/>
          </a:prstGeom>
          <a:solidFill>
            <a:schemeClr val="accent1"/>
          </a:solidFill>
          <a:ln/>
        </p:spPr>
      </p:sp>
      <p:sp>
        <p:nvSpPr>
          <p:cNvPr id="29" name="Text 23"/>
          <p:cNvSpPr txBox="1"/>
          <p:nvPr/>
        </p:nvSpPr>
        <p:spPr>
          <a:xfrm>
            <a:off x="6400800" y="3749040"/>
            <a:ext cx="5029200" cy="411480"/>
          </a:xfrm>
          <a:prstGeom prst="rect">
            <a:avLst/>
          </a:prstGeom>
          <a:noFill/>
          <a:ln/>
        </p:spPr>
        <p:txBody>
          <a:bodyPr wrap="square" lIns="0" tIns="0" rIns="0" bIns="0" rtlCol="0" anchor="ctr"/>
          <a:lstStyle/>
          <a:p>
            <a:pPr indent="0" marL="0">
              <a:buNone/>
            </a:pPr>
            <a:r>
              <a:rPr lang="en-US" sz="1400" b="1" dirty="0">
                <a:solidFill>
                  <a:schemeClr val="bg1"/>
                </a:solidFill>
              </a:rPr>
              <a:t>What we are working with</a:t>
            </a:r>
            <a:endParaRPr lang="en-US" sz="1400" dirty="0"/>
          </a:p>
        </p:txBody>
      </p:sp>
      <p:sp>
        <p:nvSpPr>
          <p:cNvPr id="30" name="Text 24"/>
          <p:cNvSpPr txBox="1"/>
          <p:nvPr/>
        </p:nvSpPr>
        <p:spPr>
          <a:xfrm>
            <a:off x="6400800" y="4343400"/>
            <a:ext cx="5029200" cy="164592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New owners are open to investment and expect a growth plan</a:t>
            </a:r>
            <a:endParaRPr lang="en-US" sz="1400" dirty="0"/>
          </a:p>
          <a:p>
            <a:pPr marL="342900" indent="-342900">
              <a:spcAft>
                <a:spcPts val="600"/>
              </a:spcAft>
              <a:buSzPct val="100000"/>
              <a:buChar char="•"/>
            </a:pPr>
            <a:r>
              <a:rPr lang="en-US" sz="1400" dirty="0">
                <a:solidFill>
                  <a:schemeClr val="tx1"/>
                </a:solidFill>
              </a:rPr>
              <a:t>Jack leans to online; Ashley to in-store technology; Jack wants changes within a year</a:t>
            </a:r>
            <a:endParaRPr lang="en-US" sz="1400" dirty="0"/>
          </a:p>
          <a:p>
            <a:pPr marL="342900" indent="-342900">
              <a:spcAft>
                <a:spcPts val="600"/>
              </a:spcAft>
              <a:buSzPct val="100000"/>
              <a:buChar char="•"/>
            </a:pPr>
            <a:r>
              <a:rPr lang="en-US" sz="1400" dirty="0">
                <a:solidFill>
                  <a:schemeClr val="tx1"/>
                </a:solidFill>
              </a:rPr>
              <a:t>IT director and Edinburgh GM roles are vacant</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2800" b="1" dirty="0">
                <a:solidFill>
                  <a:schemeClr val="tx1"/>
                </a:solidFill>
              </a:rPr>
              <a:t>Store sales slipped 1.1% in FY-1: London and Orlando fell while Birmingham kept growing</a:t>
            </a:r>
            <a:endParaRPr lang="en-US" sz="2800" dirty="0"/>
          </a:p>
        </p:txBody>
      </p:sp>
      <p:graphicFrame>
        <p:nvGraphicFramePr>
          <p:cNvPr id="3" name="Chart 0" descr=""/>
          <p:cNvGraphicFramePr/>
          <p:nvPr/>
        </p:nvGraphicFramePr>
        <p:xfrm>
          <a:off x="548640" y="1508760"/>
          <a:ext cx="6949440" cy="4434840"/>
        </p:xfrm>
        <a:graphic xmlns:a="http://schemas.openxmlformats.org/drawingml/2006/main">
          <a:graphicData uri="http://schemas.openxmlformats.org/drawingml/2006/chart">
            <c:chart xmlns:c="http://schemas.openxmlformats.org/drawingml/2006/chart" r:id="rId1"/>
          </a:graphicData>
        </a:graphic>
      </p:graphicFrame>
      <p:sp>
        <p:nvSpPr>
          <p:cNvPr id="4" name="Store card London"/>
          <p:cNvSpPr/>
          <p:nvPr/>
        </p:nvSpPr>
        <p:spPr>
          <a:xfrm>
            <a:off x="7772400" y="1508760"/>
            <a:ext cx="3840480" cy="1033272"/>
          </a:xfrm>
          <a:prstGeom prst="rect">
            <a:avLst/>
          </a:prstGeom>
          <a:solidFill>
            <a:schemeClr val="bg2"/>
          </a:solidFill>
          <a:ln/>
        </p:spPr>
      </p:sp>
      <p:sp>
        <p:nvSpPr>
          <p:cNvPr id="5" name="Text 2"/>
          <p:cNvSpPr txBox="1"/>
          <p:nvPr/>
        </p:nvSpPr>
        <p:spPr>
          <a:xfrm>
            <a:off x="7955280" y="1600200"/>
            <a:ext cx="1828800" cy="365760"/>
          </a:xfrm>
          <a:prstGeom prst="rect">
            <a:avLst/>
          </a:prstGeom>
          <a:noFill/>
          <a:ln/>
        </p:spPr>
        <p:txBody>
          <a:bodyPr wrap="square" lIns="0" tIns="0" rIns="0" bIns="0" rtlCol="0" anchor="t"/>
          <a:lstStyle/>
          <a:p>
            <a:pPr indent="0" marL="0">
              <a:buNone/>
            </a:pPr>
            <a:r>
              <a:rPr lang="en-US" sz="1600" b="1" dirty="0">
                <a:solidFill>
                  <a:schemeClr val="tx1"/>
                </a:solidFill>
              </a:rPr>
              <a:t>London</a:t>
            </a:r>
            <a:endParaRPr lang="en-US" sz="1600" dirty="0"/>
          </a:p>
        </p:txBody>
      </p:sp>
      <p:sp>
        <p:nvSpPr>
          <p:cNvPr id="6" name="Text 3"/>
          <p:cNvSpPr txBox="1"/>
          <p:nvPr/>
        </p:nvSpPr>
        <p:spPr>
          <a:xfrm>
            <a:off x="7955280" y="2011680"/>
            <a:ext cx="2377440" cy="365760"/>
          </a:xfrm>
          <a:prstGeom prst="rect">
            <a:avLst/>
          </a:prstGeom>
          <a:noFill/>
          <a:ln/>
        </p:spPr>
        <p:txBody>
          <a:bodyPr wrap="square" lIns="0" tIns="0" rIns="0" bIns="0" rtlCol="0" anchor="t"/>
          <a:lstStyle/>
          <a:p>
            <a:pPr indent="0" marL="0">
              <a:buNone/>
            </a:pPr>
            <a:r>
              <a:rPr lang="en-US" sz="1200" dirty="0">
                <a:solidFill>
                  <a:schemeClr val="tx2"/>
                </a:solidFill>
              </a:rPr>
              <a:t>£563.8m vs £602.7m</a:t>
            </a:r>
            <a:endParaRPr lang="en-US" sz="1200" dirty="0"/>
          </a:p>
        </p:txBody>
      </p:sp>
      <p:sp>
        <p:nvSpPr>
          <p:cNvPr id="7" name="Text 4"/>
          <p:cNvSpPr txBox="1"/>
          <p:nvPr/>
        </p:nvSpPr>
        <p:spPr>
          <a:xfrm>
            <a:off x="10058400" y="1508760"/>
            <a:ext cx="1463040" cy="1033272"/>
          </a:xfrm>
          <a:prstGeom prst="rect">
            <a:avLst/>
          </a:prstGeom>
          <a:noFill/>
          <a:ln/>
        </p:spPr>
        <p:txBody>
          <a:bodyPr wrap="square" lIns="0" tIns="0" rIns="0" bIns="0" rtlCol="0" anchor="ctr"/>
          <a:lstStyle/>
          <a:p>
            <a:pPr algn="r" indent="0" marL="0">
              <a:buNone/>
            </a:pPr>
            <a:r>
              <a:rPr lang="en-US" sz="2800" b="1" dirty="0">
                <a:solidFill>
                  <a:schemeClr val="accent1"/>
                </a:solidFill>
                <a:latin typeface="+mj-lt" pitchFamily="34" charset="0"/>
                <a:ea typeface="+mj-lt" pitchFamily="34" charset="-122"/>
                <a:cs typeface="+mj-lt" pitchFamily="34" charset="-120"/>
              </a:rPr>
              <a:t>−6.5%</a:t>
            </a:r>
            <a:endParaRPr lang="en-US" sz="2800" dirty="0"/>
          </a:p>
        </p:txBody>
      </p:sp>
      <p:sp>
        <p:nvSpPr>
          <p:cNvPr id="8" name="Store card Birmingham"/>
          <p:cNvSpPr/>
          <p:nvPr/>
        </p:nvSpPr>
        <p:spPr>
          <a:xfrm>
            <a:off x="7772400" y="2633472"/>
            <a:ext cx="3840480" cy="1033272"/>
          </a:xfrm>
          <a:prstGeom prst="rect">
            <a:avLst/>
          </a:prstGeom>
          <a:solidFill>
            <a:schemeClr val="bg2"/>
          </a:solidFill>
          <a:ln/>
        </p:spPr>
      </p:sp>
      <p:sp>
        <p:nvSpPr>
          <p:cNvPr id="9" name="Text 6"/>
          <p:cNvSpPr txBox="1"/>
          <p:nvPr/>
        </p:nvSpPr>
        <p:spPr>
          <a:xfrm>
            <a:off x="7955280" y="2724912"/>
            <a:ext cx="1828800" cy="365760"/>
          </a:xfrm>
          <a:prstGeom prst="rect">
            <a:avLst/>
          </a:prstGeom>
          <a:noFill/>
          <a:ln/>
        </p:spPr>
        <p:txBody>
          <a:bodyPr wrap="square" lIns="0" tIns="0" rIns="0" bIns="0" rtlCol="0" anchor="t"/>
          <a:lstStyle/>
          <a:p>
            <a:pPr indent="0" marL="0">
              <a:buNone/>
            </a:pPr>
            <a:r>
              <a:rPr lang="en-US" sz="1600" b="1" dirty="0">
                <a:solidFill>
                  <a:schemeClr val="tx1"/>
                </a:solidFill>
              </a:rPr>
              <a:t>Birmingham</a:t>
            </a:r>
            <a:endParaRPr lang="en-US" sz="1600" dirty="0"/>
          </a:p>
        </p:txBody>
      </p:sp>
      <p:sp>
        <p:nvSpPr>
          <p:cNvPr id="10" name="Text 7"/>
          <p:cNvSpPr txBox="1"/>
          <p:nvPr/>
        </p:nvSpPr>
        <p:spPr>
          <a:xfrm>
            <a:off x="7955280" y="3136392"/>
            <a:ext cx="2377440" cy="365760"/>
          </a:xfrm>
          <a:prstGeom prst="rect">
            <a:avLst/>
          </a:prstGeom>
          <a:noFill/>
          <a:ln/>
        </p:spPr>
        <p:txBody>
          <a:bodyPr wrap="square" lIns="0" tIns="0" rIns="0" bIns="0" rtlCol="0" anchor="t"/>
          <a:lstStyle/>
          <a:p>
            <a:pPr indent="0" marL="0">
              <a:buNone/>
            </a:pPr>
            <a:r>
              <a:rPr lang="en-US" sz="1200" dirty="0">
                <a:solidFill>
                  <a:schemeClr val="tx2"/>
                </a:solidFill>
              </a:rPr>
              <a:t>£470.3m vs £433.8m</a:t>
            </a:r>
            <a:endParaRPr lang="en-US" sz="1200" dirty="0"/>
          </a:p>
        </p:txBody>
      </p:sp>
      <p:sp>
        <p:nvSpPr>
          <p:cNvPr id="11" name="Text 8"/>
          <p:cNvSpPr txBox="1"/>
          <p:nvPr/>
        </p:nvSpPr>
        <p:spPr>
          <a:xfrm>
            <a:off x="10058400" y="2633472"/>
            <a:ext cx="1463040" cy="1033272"/>
          </a:xfrm>
          <a:prstGeom prst="rect">
            <a:avLst/>
          </a:prstGeom>
          <a:noFill/>
          <a:ln/>
        </p:spPr>
        <p:txBody>
          <a:bodyPr wrap="square" lIns="0" tIns="0" rIns="0" bIns="0" rtlCol="0" anchor="ctr"/>
          <a:lstStyle/>
          <a:p>
            <a:pPr algn="r" indent="0" marL="0">
              <a:buNone/>
            </a:pPr>
            <a:r>
              <a:rPr lang="en-US" sz="2800" b="1" dirty="0">
                <a:solidFill>
                  <a:schemeClr val="tx1"/>
                </a:solidFill>
                <a:latin typeface="+mj-lt" pitchFamily="34" charset="0"/>
                <a:ea typeface="+mj-lt" pitchFamily="34" charset="-122"/>
                <a:cs typeface="+mj-lt" pitchFamily="34" charset="-120"/>
              </a:rPr>
              <a:t>+8.4%</a:t>
            </a:r>
            <a:endParaRPr lang="en-US" sz="2800" dirty="0"/>
          </a:p>
        </p:txBody>
      </p:sp>
      <p:sp>
        <p:nvSpPr>
          <p:cNvPr id="12" name="Store card Edinburgh"/>
          <p:cNvSpPr/>
          <p:nvPr/>
        </p:nvSpPr>
        <p:spPr>
          <a:xfrm>
            <a:off x="7772400" y="3758184"/>
            <a:ext cx="3840480" cy="1033272"/>
          </a:xfrm>
          <a:prstGeom prst="rect">
            <a:avLst/>
          </a:prstGeom>
          <a:solidFill>
            <a:schemeClr val="bg2"/>
          </a:solidFill>
          <a:ln/>
        </p:spPr>
      </p:sp>
      <p:sp>
        <p:nvSpPr>
          <p:cNvPr id="13" name="Text 10"/>
          <p:cNvSpPr txBox="1"/>
          <p:nvPr/>
        </p:nvSpPr>
        <p:spPr>
          <a:xfrm>
            <a:off x="7955280" y="3849624"/>
            <a:ext cx="1828800" cy="365760"/>
          </a:xfrm>
          <a:prstGeom prst="rect">
            <a:avLst/>
          </a:prstGeom>
          <a:noFill/>
          <a:ln/>
        </p:spPr>
        <p:txBody>
          <a:bodyPr wrap="square" lIns="0" tIns="0" rIns="0" bIns="0" rtlCol="0" anchor="t"/>
          <a:lstStyle/>
          <a:p>
            <a:pPr indent="0" marL="0">
              <a:buNone/>
            </a:pPr>
            <a:r>
              <a:rPr lang="en-US" sz="1600" b="1" dirty="0">
                <a:solidFill>
                  <a:schemeClr val="tx1"/>
                </a:solidFill>
              </a:rPr>
              <a:t>Edinburgh</a:t>
            </a:r>
            <a:endParaRPr lang="en-US" sz="1600" dirty="0"/>
          </a:p>
        </p:txBody>
      </p:sp>
      <p:sp>
        <p:nvSpPr>
          <p:cNvPr id="14" name="Text 11"/>
          <p:cNvSpPr txBox="1"/>
          <p:nvPr/>
        </p:nvSpPr>
        <p:spPr>
          <a:xfrm>
            <a:off x="7955280" y="4261104"/>
            <a:ext cx="2377440" cy="365760"/>
          </a:xfrm>
          <a:prstGeom prst="rect">
            <a:avLst/>
          </a:prstGeom>
          <a:noFill/>
          <a:ln/>
        </p:spPr>
        <p:txBody>
          <a:bodyPr wrap="square" lIns="0" tIns="0" rIns="0" bIns="0" rtlCol="0" anchor="t"/>
          <a:lstStyle/>
          <a:p>
            <a:pPr indent="0" marL="0">
              <a:buNone/>
            </a:pPr>
            <a:r>
              <a:rPr lang="en-US" sz="1200" dirty="0">
                <a:solidFill>
                  <a:schemeClr val="tx2"/>
                </a:solidFill>
              </a:rPr>
              <a:t>£131.8m vs £134.2m</a:t>
            </a:r>
            <a:endParaRPr lang="en-US" sz="1200" dirty="0"/>
          </a:p>
        </p:txBody>
      </p:sp>
      <p:sp>
        <p:nvSpPr>
          <p:cNvPr id="15" name="Text 12"/>
          <p:cNvSpPr txBox="1"/>
          <p:nvPr/>
        </p:nvSpPr>
        <p:spPr>
          <a:xfrm>
            <a:off x="10058400" y="3758184"/>
            <a:ext cx="1463040" cy="1033272"/>
          </a:xfrm>
          <a:prstGeom prst="rect">
            <a:avLst/>
          </a:prstGeom>
          <a:noFill/>
          <a:ln/>
        </p:spPr>
        <p:txBody>
          <a:bodyPr wrap="square" lIns="0" tIns="0" rIns="0" bIns="0" rtlCol="0" anchor="ctr"/>
          <a:lstStyle/>
          <a:p>
            <a:pPr algn="r" indent="0" marL="0">
              <a:buNone/>
            </a:pPr>
            <a:r>
              <a:rPr lang="en-US" sz="2800" b="1" dirty="0">
                <a:solidFill>
                  <a:schemeClr val="accent1"/>
                </a:solidFill>
                <a:latin typeface="+mj-lt" pitchFamily="34" charset="0"/>
                <a:ea typeface="+mj-lt" pitchFamily="34" charset="-122"/>
                <a:cs typeface="+mj-lt" pitchFamily="34" charset="-120"/>
              </a:rPr>
              <a:t>−1.8%</a:t>
            </a:r>
            <a:endParaRPr lang="en-US" sz="2800" dirty="0"/>
          </a:p>
        </p:txBody>
      </p:sp>
      <p:sp>
        <p:nvSpPr>
          <p:cNvPr id="16" name="Store card Orlando"/>
          <p:cNvSpPr/>
          <p:nvPr/>
        </p:nvSpPr>
        <p:spPr>
          <a:xfrm>
            <a:off x="7772400" y="4882896"/>
            <a:ext cx="3840480" cy="1033272"/>
          </a:xfrm>
          <a:prstGeom prst="rect">
            <a:avLst/>
          </a:prstGeom>
          <a:solidFill>
            <a:schemeClr val="bg2"/>
          </a:solidFill>
          <a:ln/>
        </p:spPr>
      </p:sp>
      <p:sp>
        <p:nvSpPr>
          <p:cNvPr id="17" name="Text 14"/>
          <p:cNvSpPr txBox="1"/>
          <p:nvPr/>
        </p:nvSpPr>
        <p:spPr>
          <a:xfrm>
            <a:off x="7955280" y="4974336"/>
            <a:ext cx="1828800" cy="365760"/>
          </a:xfrm>
          <a:prstGeom prst="rect">
            <a:avLst/>
          </a:prstGeom>
          <a:noFill/>
          <a:ln/>
        </p:spPr>
        <p:txBody>
          <a:bodyPr wrap="square" lIns="0" tIns="0" rIns="0" bIns="0" rtlCol="0" anchor="t"/>
          <a:lstStyle/>
          <a:p>
            <a:pPr indent="0" marL="0">
              <a:buNone/>
            </a:pPr>
            <a:r>
              <a:rPr lang="en-US" sz="1600" b="1" dirty="0">
                <a:solidFill>
                  <a:schemeClr val="tx1"/>
                </a:solidFill>
              </a:rPr>
              <a:t>Orlando</a:t>
            </a:r>
            <a:endParaRPr lang="en-US" sz="1600" dirty="0"/>
          </a:p>
        </p:txBody>
      </p:sp>
      <p:sp>
        <p:nvSpPr>
          <p:cNvPr id="18" name="Text 15"/>
          <p:cNvSpPr txBox="1"/>
          <p:nvPr/>
        </p:nvSpPr>
        <p:spPr>
          <a:xfrm>
            <a:off x="7955280" y="5385816"/>
            <a:ext cx="2377440" cy="365760"/>
          </a:xfrm>
          <a:prstGeom prst="rect">
            <a:avLst/>
          </a:prstGeom>
          <a:noFill/>
          <a:ln/>
        </p:spPr>
        <p:txBody>
          <a:bodyPr wrap="square" lIns="0" tIns="0" rIns="0" bIns="0" rtlCol="0" anchor="t"/>
          <a:lstStyle/>
          <a:p>
            <a:pPr indent="0" marL="0">
              <a:buNone/>
            </a:pPr>
            <a:r>
              <a:rPr lang="en-US" sz="1200" dirty="0">
                <a:solidFill>
                  <a:schemeClr val="tx2"/>
                </a:solidFill>
              </a:rPr>
              <a:t>£91.0m vs £100.0m</a:t>
            </a:r>
            <a:endParaRPr lang="en-US" sz="1200" dirty="0"/>
          </a:p>
        </p:txBody>
      </p:sp>
      <p:sp>
        <p:nvSpPr>
          <p:cNvPr id="19" name="Text 16"/>
          <p:cNvSpPr txBox="1"/>
          <p:nvPr/>
        </p:nvSpPr>
        <p:spPr>
          <a:xfrm>
            <a:off x="10058400" y="4882896"/>
            <a:ext cx="1463040" cy="1033272"/>
          </a:xfrm>
          <a:prstGeom prst="rect">
            <a:avLst/>
          </a:prstGeom>
          <a:noFill/>
          <a:ln/>
        </p:spPr>
        <p:txBody>
          <a:bodyPr wrap="square" lIns="0" tIns="0" rIns="0" bIns="0" rtlCol="0" anchor="ctr"/>
          <a:lstStyle/>
          <a:p>
            <a:pPr algn="r" indent="0" marL="0">
              <a:buNone/>
            </a:pPr>
            <a:r>
              <a:rPr lang="en-US" sz="2800" b="1" dirty="0">
                <a:solidFill>
                  <a:schemeClr val="accent1"/>
                </a:solidFill>
                <a:latin typeface="+mj-lt" pitchFamily="34" charset="0"/>
                <a:ea typeface="+mj-lt" pitchFamily="34" charset="-122"/>
                <a:cs typeface="+mj-lt" pitchFamily="34" charset="-120"/>
              </a:rPr>
              <a:t>−9.0%</a:t>
            </a:r>
            <a:endParaRPr lang="en-US" sz="2800" dirty="0"/>
          </a:p>
        </p:txBody>
      </p:sp>
      <p:sp>
        <p:nvSpPr>
          <p:cNvPr id="20" name="Text 17"/>
          <p:cNvSpPr txBox="1"/>
          <p:nvPr/>
        </p:nvSpPr>
        <p:spPr>
          <a:xfrm>
            <a:off x="548640" y="6080760"/>
            <a:ext cx="11064240" cy="274320"/>
          </a:xfrm>
          <a:prstGeom prst="rect">
            <a:avLst/>
          </a:prstGeom>
          <a:noFill/>
          <a:ln/>
        </p:spPr>
        <p:txBody>
          <a:bodyPr wrap="square" lIns="0" tIns="0" rIns="0" bIns="0" rtlCol="0" anchor="t"/>
          <a:lstStyle/>
          <a:p>
            <a:pPr indent="0" marL="0">
              <a:buNone/>
            </a:pPr>
            <a:r>
              <a:rPr lang="en-US" sz="1000" dirty="0">
                <a:solidFill>
                  <a:schemeClr val="tx2"/>
                </a:solidFill>
              </a:rPr>
              <a:t>FY-1 vs FY-2, £ million. Orlando was acquired in FY-2, so it has no FY-4 or FY-3 sales. Fiscal year ends 31 December. Source: DP1_CENH sales data.</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2800" b="1" dirty="0">
                <a:solidFill>
                  <a:schemeClr val="tx1"/>
                </a:solidFill>
              </a:rPr>
              <a:t>More sales rang through every till, but value per sale fell 11% to 15% in three stores</a:t>
            </a:r>
            <a:endParaRPr lang="en-US" sz="2800" dirty="0"/>
          </a:p>
        </p:txBody>
      </p:sp>
      <p:graphicFrame>
        <p:nvGraphicFramePr>
          <p:cNvPr id="3" name="Chart 0" descr=""/>
          <p:cNvGraphicFramePr/>
          <p:nvPr/>
        </p:nvGraphicFramePr>
        <p:xfrm>
          <a:off x="548640" y="1508760"/>
          <a:ext cx="5669280" cy="3566160"/>
        </p:xfrm>
        <a:graphic xmlns:a="http://schemas.openxmlformats.org/drawingml/2006/main">
          <a:graphicData uri="http://schemas.openxmlformats.org/drawingml/2006/chart">
            <c:chart xmlns:c="http://schemas.openxmlformats.org/drawingml/2006/chart" r:id="rId1"/>
          </a:graphicData>
        </a:graphic>
      </p:graphicFrame>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92240" y="1600200"/>
          <a:ext cx="5120640" cy="914400"/>
        </p:xfrm>
        <a:graphic>
          <a:graphicData uri="http://schemas.openxmlformats.org/drawingml/2006/table">
            <a:tbl>
              <a:tblPr/>
              <a:tblGrid>
                <a:gridCol w="1280160"/>
                <a:gridCol w="1371600"/>
                <a:gridCol w="1280160"/>
                <a:gridCol w="1188720"/>
              </a:tblGrid>
              <a:tr h="548640">
                <a:tc>
                  <a:txBody>
                    <a:bodyPr/>
                    <a:lstStyle/>
                    <a:p>
                      <a:pPr algn="l" indent="0" marL="0">
                        <a:buNone/>
                      </a:pPr>
                      <a:r>
                        <a:rPr lang="en-US" sz="1300" b="1" dirty="0">
                          <a:solidFill>
                            <a:schemeClr val="bg1"/>
                          </a:solidFill>
                        </a:rPr>
                        <a:t>Store</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bg1"/>
                          </a:solidFill>
                        </a:rPr>
                        <a:t>Number of sales</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bg1"/>
                          </a:solidFill>
                        </a:rPr>
                        <a:t>Value per sale</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solidFill>
                      <a:schemeClr val="accent1"/>
                    </a:solidFill>
                  </a:tcPr>
                </a:tc>
                <a:tc>
                  <a:txBody>
                    <a:bodyPr/>
                    <a:lstStyle/>
                    <a:p>
                      <a:pPr algn="ctr" indent="0" marL="0">
                        <a:buNone/>
                      </a:pPr>
                      <a:r>
                        <a:rPr lang="en-US" sz="1300" b="1" dirty="0">
                          <a:solidFill>
                            <a:schemeClr val="bg1"/>
                          </a:solidFill>
                        </a:rPr>
                        <a:t>Net sales</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solidFill>
                      <a:schemeClr val="accent1"/>
                    </a:solidFill>
                  </a:tcPr>
                </a:tc>
              </a:tr>
              <a:tr h="566928">
                <a:tc>
                  <a:txBody>
                    <a:bodyPr/>
                    <a:lstStyle/>
                    <a:p>
                      <a:pPr indent="0" marL="0">
                        <a:buNone/>
                      </a:pPr>
                      <a:r>
                        <a:rPr lang="en-US" sz="1300" b="1" dirty="0">
                          <a:solidFill>
                            <a:schemeClr val="tx1"/>
                          </a:solidFill>
                        </a:rPr>
                        <a:t>London</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algn="ctr" indent="0" marL="0">
                        <a:buNone/>
                      </a:pPr>
                      <a:r>
                        <a:rPr lang="en-US" sz="1300" b="1" dirty="0">
                          <a:solidFill>
                            <a:schemeClr val="tx1"/>
                          </a:solidFill>
                        </a:rPr>
                        <a:t>+7.1%</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algn="ctr" indent="0" marL="0">
                        <a:buNone/>
                      </a:pPr>
                      <a:r>
                        <a:rPr lang="en-US" sz="1300" b="1" dirty="0">
                          <a:solidFill>
                            <a:schemeClr val="accent1"/>
                          </a:solidFill>
                        </a:rPr>
                        <a:t>−12.7%</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algn="ctr" indent="0" marL="0">
                        <a:buNone/>
                      </a:pPr>
                      <a:r>
                        <a:rPr lang="en-US" sz="1300" b="1" dirty="0">
                          <a:solidFill>
                            <a:schemeClr val="accent1"/>
                          </a:solidFill>
                        </a:rPr>
                        <a:t>−6.5%</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r>
              <a:tr h="566928">
                <a:tc>
                  <a:txBody>
                    <a:bodyPr/>
                    <a:lstStyle/>
                    <a:p>
                      <a:pPr indent="0" marL="0">
                        <a:buNone/>
                      </a:pPr>
                      <a:r>
                        <a:rPr lang="en-US" sz="1300" b="1" dirty="0">
                          <a:solidFill>
                            <a:schemeClr val="tx1"/>
                          </a:solidFill>
                        </a:rPr>
                        <a:t>Birmingham</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algn="ctr" indent="0" marL="0">
                        <a:buNone/>
                      </a:pPr>
                      <a:r>
                        <a:rPr lang="en-US" sz="1300" b="1" dirty="0">
                          <a:solidFill>
                            <a:schemeClr val="tx1"/>
                          </a:solidFill>
                        </a:rPr>
                        <a:t>+7.9%</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algn="ctr" indent="0" marL="0">
                        <a:buNone/>
                      </a:pPr>
                      <a:r>
                        <a:rPr lang="en-US" sz="1300" b="1" dirty="0">
                          <a:solidFill>
                            <a:schemeClr val="tx1"/>
                          </a:solidFill>
                        </a:rPr>
                        <a:t>+0.5%</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algn="ctr" indent="0" marL="0">
                        <a:buNone/>
                      </a:pPr>
                      <a:r>
                        <a:rPr lang="en-US" sz="1300" b="1" dirty="0">
                          <a:solidFill>
                            <a:schemeClr val="tx1"/>
                          </a:solidFill>
                        </a:rPr>
                        <a:t>+8.4%</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r>
              <a:tr h="566928">
                <a:tc>
                  <a:txBody>
                    <a:bodyPr/>
                    <a:lstStyle/>
                    <a:p>
                      <a:pPr indent="0" marL="0">
                        <a:buNone/>
                      </a:pPr>
                      <a:r>
                        <a:rPr lang="en-US" sz="1300" b="1" dirty="0">
                          <a:solidFill>
                            <a:schemeClr val="tx1"/>
                          </a:solidFill>
                        </a:rPr>
                        <a:t>Edinburgh</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algn="ctr" indent="0" marL="0">
                        <a:buNone/>
                      </a:pPr>
                      <a:r>
                        <a:rPr lang="en-US" sz="1300" b="1" dirty="0">
                          <a:solidFill>
                            <a:schemeClr val="tx1"/>
                          </a:solidFill>
                        </a:rPr>
                        <a:t>+10.0%</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algn="ctr" indent="0" marL="0">
                        <a:buNone/>
                      </a:pPr>
                      <a:r>
                        <a:rPr lang="en-US" sz="1300" b="1" dirty="0">
                          <a:solidFill>
                            <a:schemeClr val="accent1"/>
                          </a:solidFill>
                        </a:rPr>
                        <a:t>−10.7%</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algn="ctr" indent="0" marL="0">
                        <a:buNone/>
                      </a:pPr>
                      <a:r>
                        <a:rPr lang="en-US" sz="1300" b="1" dirty="0">
                          <a:solidFill>
                            <a:schemeClr val="accent1"/>
                          </a:solidFill>
                        </a:rPr>
                        <a:t>−1.8%</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r>
              <a:tr h="566928">
                <a:tc>
                  <a:txBody>
                    <a:bodyPr/>
                    <a:lstStyle/>
                    <a:p>
                      <a:pPr indent="0" marL="0">
                        <a:buNone/>
                      </a:pPr>
                      <a:r>
                        <a:rPr lang="en-US" sz="1300" b="1" dirty="0">
                          <a:solidFill>
                            <a:schemeClr val="tx1"/>
                          </a:solidFill>
                        </a:rPr>
                        <a:t>Orlando</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algn="ctr" indent="0" marL="0">
                        <a:buNone/>
                      </a:pPr>
                      <a:r>
                        <a:rPr lang="en-US" sz="1300" b="1" dirty="0">
                          <a:solidFill>
                            <a:schemeClr val="tx1"/>
                          </a:solidFill>
                        </a:rPr>
                        <a:t>+7.1%</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algn="ctr" indent="0" marL="0">
                        <a:buNone/>
                      </a:pPr>
                      <a:r>
                        <a:rPr lang="en-US" sz="1300" b="1" dirty="0">
                          <a:solidFill>
                            <a:schemeClr val="accent1"/>
                          </a:solidFill>
                        </a:rPr>
                        <a:t>−15.1%</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c>
                  <a:txBody>
                    <a:bodyPr/>
                    <a:lstStyle/>
                    <a:p>
                      <a:pPr algn="ctr" indent="0" marL="0">
                        <a:buNone/>
                      </a:pPr>
                      <a:r>
                        <a:rPr lang="en-US" sz="1300" b="1" dirty="0">
                          <a:solidFill>
                            <a:schemeClr val="accent1"/>
                          </a:solidFill>
                        </a:rPr>
                        <a:t>−9.0%</a:t>
                      </a:r>
                      <a:endParaRPr lang="en-US" sz="1300" dirty="0"/>
                    </a:p>
                  </a:txBody>
                  <a:tcPr marL="91440" marR="91440" marT="45720" marB="45720" anchor="ctr">
                    <a:lnL w="9525" cap="flat" cmpd="sng" algn="ctr">
                      <a:solidFill>
                        <a:srgbClr val="D9D4CC"/>
                      </a:solidFill>
                      <a:prstDash val="solid"/>
                      <a:round/>
                      <a:headEnd type="none" w="med" len="med"/>
                      <a:tailEnd type="none" w="med" len="med"/>
                    </a:lnL>
                    <a:lnR w="9525" cap="flat" cmpd="sng" algn="ctr">
                      <a:solidFill>
                        <a:srgbClr val="D9D4CC"/>
                      </a:solidFill>
                      <a:prstDash val="solid"/>
                      <a:round/>
                      <a:headEnd type="none" w="med" len="med"/>
                      <a:tailEnd type="none" w="med" len="med"/>
                    </a:lnR>
                    <a:lnT w="9525" cap="flat" cmpd="sng" algn="ctr">
                      <a:solidFill>
                        <a:srgbClr val="D9D4CC"/>
                      </a:solidFill>
                      <a:prstDash val="solid"/>
                      <a:round/>
                      <a:headEnd type="none" w="med" len="med"/>
                      <a:tailEnd type="none" w="med" len="med"/>
                    </a:lnT>
                    <a:lnB w="9525" cap="flat" cmpd="sng" algn="ctr">
                      <a:solidFill>
                        <a:srgbClr val="D9D4CC"/>
                      </a:solidFill>
                      <a:prstDash val="solid"/>
                      <a:round/>
                      <a:headEnd type="none" w="med" len="med"/>
                      <a:tailEnd type="none" w="med" len="med"/>
                    </a:lnB>
                  </a:tcPr>
                </a:tc>
              </a:tr>
            </a:tbl>
          </a:graphicData>
        </a:graphic>
      </p:graphicFrame>
      <p:sp>
        <p:nvSpPr>
          <p:cNvPr id="5" name="Text 1"/>
          <p:cNvSpPr txBox="1"/>
          <p:nvPr/>
        </p:nvSpPr>
        <p:spPr>
          <a:xfrm>
            <a:off x="6492240" y="4572000"/>
            <a:ext cx="5120640" cy="457200"/>
          </a:xfrm>
          <a:prstGeom prst="rect">
            <a:avLst/>
          </a:prstGeom>
          <a:noFill/>
          <a:ln/>
        </p:spPr>
        <p:txBody>
          <a:bodyPr wrap="square" lIns="0" tIns="0" rIns="0" bIns="0" rtlCol="0" anchor="t"/>
          <a:lstStyle/>
          <a:p>
            <a:pPr indent="0" marL="0">
              <a:buNone/>
            </a:pPr>
            <a:r>
              <a:rPr lang="en-US" sz="1100" dirty="0">
                <a:solidFill>
                  <a:schemeClr val="tx2"/>
                </a:solidFill>
              </a:rPr>
              <a:t>FY-1 vs FY-2. Value per sale = store sales ÷ number of sales.</a:t>
            </a:r>
            <a:endParaRPr lang="en-US" sz="1100" dirty="0"/>
          </a:p>
        </p:txBody>
      </p:sp>
      <p:sp>
        <p:nvSpPr>
          <p:cNvPr id="6" name="Takeaway"/>
          <p:cNvSpPr/>
          <p:nvPr/>
        </p:nvSpPr>
        <p:spPr>
          <a:xfrm>
            <a:off x="548640" y="5303520"/>
            <a:ext cx="11064240" cy="868680"/>
          </a:xfrm>
          <a:prstGeom prst="rect">
            <a:avLst/>
          </a:prstGeom>
          <a:solidFill>
            <a:schemeClr val="tx1"/>
          </a:solidFill>
          <a:ln/>
        </p:spPr>
      </p:sp>
      <p:sp>
        <p:nvSpPr>
          <p:cNvPr id="7" name="Text 3"/>
          <p:cNvSpPr txBox="1"/>
          <p:nvPr/>
        </p:nvSpPr>
        <p:spPr>
          <a:xfrm>
            <a:off x="777240" y="5303520"/>
            <a:ext cx="10607040" cy="868680"/>
          </a:xfrm>
          <a:prstGeom prst="rect">
            <a:avLst/>
          </a:prstGeom>
          <a:noFill/>
          <a:ln/>
        </p:spPr>
        <p:txBody>
          <a:bodyPr wrap="square" lIns="0" tIns="0" rIns="0" bIns="0" rtlCol="0" anchor="ctr"/>
          <a:lstStyle/>
          <a:p>
            <a:pPr indent="0" marL="0">
              <a:buNone/>
            </a:pPr>
            <a:r>
              <a:rPr lang="en-US" sz="1400" b="1" dirty="0">
                <a:solidFill>
                  <a:schemeClr val="accent3"/>
                </a:solidFill>
              </a:rPr>
              <a:t>So what: </a:t>
            </a:r>
            <a:pPr indent="0" marL="0">
              <a:buNone/>
            </a:pPr>
            <a:r>
              <a:rPr lang="en-US" sz="1400" dirty="0">
                <a:solidFill>
                  <a:schemeClr val="bg1"/>
                </a:solidFill>
              </a:rPr>
              <a:t>traffic is not the problem, value per visit is. Birmingham holds £115 per sale, almost double London’s £63, which shows what a larger, more personal basket looks like.</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2800" b="1" dirty="0">
                <a:solidFill>
                  <a:schemeClr val="tx1"/>
                </a:solidFill>
              </a:rPr>
              <a:t>Problem statement: customers are coming, but each visit is worth less</a:t>
            </a:r>
            <a:endParaRPr lang="en-US" sz="2800" dirty="0"/>
          </a:p>
        </p:txBody>
      </p:sp>
      <p:sp>
        <p:nvSpPr>
          <p:cNvPr id="3" name="Problem card"/>
          <p:cNvSpPr/>
          <p:nvPr/>
        </p:nvSpPr>
        <p:spPr>
          <a:xfrm>
            <a:off x="548640" y="1554480"/>
            <a:ext cx="5394960" cy="3200400"/>
          </a:xfrm>
          <a:prstGeom prst="rect">
            <a:avLst/>
          </a:prstGeom>
          <a:solidFill>
            <a:schemeClr val="tx2"/>
          </a:solidFill>
          <a:ln/>
        </p:spPr>
      </p:sp>
      <p:sp>
        <p:nvSpPr>
          <p:cNvPr id="4" name="Text 2"/>
          <p:cNvSpPr txBox="1"/>
          <p:nvPr/>
        </p:nvSpPr>
        <p:spPr>
          <a:xfrm>
            <a:off x="822960" y="1783080"/>
            <a:ext cx="4846320" cy="274320"/>
          </a:xfrm>
          <a:prstGeom prst="rect">
            <a:avLst/>
          </a:prstGeom>
          <a:noFill/>
          <a:ln/>
        </p:spPr>
        <p:txBody>
          <a:bodyPr wrap="square" lIns="0" tIns="0" rIns="0" bIns="0" rtlCol="0" anchor="t"/>
          <a:lstStyle/>
          <a:p>
            <a:pPr indent="0" marL="0">
              <a:buNone/>
            </a:pPr>
            <a:r>
              <a:rPr lang="en-US" sz="1200" b="1" spc="200" kern="0" dirty="0">
                <a:solidFill>
                  <a:schemeClr val="bg1"/>
                </a:solidFill>
              </a:rPr>
              <a:t>THE PROBLEM WE SEE</a:t>
            </a:r>
            <a:endParaRPr lang="en-US" sz="1200" dirty="0"/>
          </a:p>
        </p:txBody>
      </p:sp>
      <p:sp>
        <p:nvSpPr>
          <p:cNvPr id="5" name="Text 3"/>
          <p:cNvSpPr txBox="1"/>
          <p:nvPr/>
        </p:nvSpPr>
        <p:spPr>
          <a:xfrm>
            <a:off x="822960" y="2194560"/>
            <a:ext cx="4846320" cy="2468880"/>
          </a:xfrm>
          <a:prstGeom prst="rect">
            <a:avLst/>
          </a:prstGeom>
          <a:noFill/>
          <a:ln/>
        </p:spPr>
        <p:txBody>
          <a:bodyPr wrap="square" lIns="0" tIns="0" rIns="0" bIns="0" rtlCol="0" anchor="t"/>
          <a:lstStyle/>
          <a:p>
            <a:pPr indent="0" marL="0">
              <a:buNone/>
            </a:pPr>
            <a:r>
              <a:rPr lang="en-US" sz="2000" dirty="0">
                <a:solidFill>
                  <a:schemeClr val="bg1"/>
                </a:solidFill>
                <a:latin typeface="+mj-lt" pitchFamily="34" charset="0"/>
                <a:ea typeface="+mj-lt" pitchFamily="34" charset="-122"/>
                <a:cs typeface="+mj-lt" pitchFamily="34" charset="-120"/>
              </a:rPr>
              <a:t>Sales counts are up 7–10% in every store, yet value per sale is down 11–15% in three, margin is 8.0% and online turns 982,000 visits into £5.7m.</a:t>
            </a:r>
            <a:endParaRPr lang="en-US" sz="2000" dirty="0"/>
          </a:p>
        </p:txBody>
      </p:sp>
      <p:sp>
        <p:nvSpPr>
          <p:cNvPr id="6" name="Shape 4"/>
          <p:cNvSpPr/>
          <p:nvPr/>
        </p:nvSpPr>
        <p:spPr>
          <a:xfrm>
            <a:off x="6035040" y="2834640"/>
            <a:ext cx="822960" cy="548640"/>
          </a:xfrm>
          <a:prstGeom prst="rightArrow">
            <a:avLst/>
          </a:prstGeom>
          <a:solidFill>
            <a:schemeClr val="accent3"/>
          </a:solidFill>
          <a:ln/>
        </p:spPr>
      </p:sp>
      <p:sp>
        <p:nvSpPr>
          <p:cNvPr id="7" name="Reframed opportunity card"/>
          <p:cNvSpPr/>
          <p:nvPr/>
        </p:nvSpPr>
        <p:spPr>
          <a:xfrm>
            <a:off x="6949440" y="1554480"/>
            <a:ext cx="4663440" cy="3200400"/>
          </a:xfrm>
          <a:prstGeom prst="rect">
            <a:avLst/>
          </a:prstGeom>
          <a:solidFill>
            <a:schemeClr val="accent1"/>
          </a:solidFill>
          <a:ln/>
        </p:spPr>
      </p:sp>
      <p:sp>
        <p:nvSpPr>
          <p:cNvPr id="8" name="Text 6"/>
          <p:cNvSpPr txBox="1"/>
          <p:nvPr/>
        </p:nvSpPr>
        <p:spPr>
          <a:xfrm>
            <a:off x="7223760" y="1783080"/>
            <a:ext cx="4114800" cy="274320"/>
          </a:xfrm>
          <a:prstGeom prst="rect">
            <a:avLst/>
          </a:prstGeom>
          <a:noFill/>
          <a:ln/>
        </p:spPr>
        <p:txBody>
          <a:bodyPr wrap="square" lIns="0" tIns="0" rIns="0" bIns="0" rtlCol="0" anchor="t"/>
          <a:lstStyle/>
          <a:p>
            <a:pPr indent="0" marL="0">
              <a:buNone/>
            </a:pPr>
            <a:r>
              <a:rPr lang="en-US" sz="1200" b="1" spc="200" kern="0" dirty="0">
                <a:solidFill>
                  <a:schemeClr val="bg1"/>
                </a:solidFill>
              </a:rPr>
              <a:t>THE REFRAMED OPPORTUNITY</a:t>
            </a:r>
            <a:endParaRPr lang="en-US" sz="1200" dirty="0"/>
          </a:p>
        </p:txBody>
      </p:sp>
      <p:sp>
        <p:nvSpPr>
          <p:cNvPr id="9" name="Text 7"/>
          <p:cNvSpPr txBox="1"/>
          <p:nvPr/>
        </p:nvSpPr>
        <p:spPr>
          <a:xfrm>
            <a:off x="7223760" y="2194560"/>
            <a:ext cx="4114800" cy="2468880"/>
          </a:xfrm>
          <a:prstGeom prst="rect">
            <a:avLst/>
          </a:prstGeom>
          <a:noFill/>
          <a:ln/>
        </p:spPr>
        <p:txBody>
          <a:bodyPr wrap="square" lIns="0" tIns="0" rIns="0" bIns="0" rtlCol="0" anchor="t"/>
          <a:lstStyle/>
          <a:p>
            <a:pPr indent="0" marL="0">
              <a:buNone/>
            </a:pPr>
            <a:r>
              <a:rPr lang="en-US" sz="2000" dirty="0">
                <a:solidFill>
                  <a:schemeClr val="bg1"/>
                </a:solidFill>
                <a:latin typeface="+mj-lt" pitchFamily="34" charset="0"/>
                <a:ea typeface="+mj-lt" pitchFamily="34" charset="-122"/>
                <a:cs typeface="+mj-lt" pitchFamily="34" charset="-120"/>
              </a:rPr>
              <a:t>How might V&amp;S make every visit worth more, in store or online, by serving each client as one person and running one joined-up operation behind it?</a:t>
            </a:r>
            <a:endParaRPr lang="en-US" sz="2000" dirty="0"/>
          </a:p>
        </p:txBody>
      </p:sp>
      <p:sp>
        <p:nvSpPr>
          <p:cNvPr id="10" name="Shift"/>
          <p:cNvSpPr/>
          <p:nvPr/>
        </p:nvSpPr>
        <p:spPr>
          <a:xfrm>
            <a:off x="548640" y="5029200"/>
            <a:ext cx="11064240" cy="1097280"/>
          </a:xfrm>
          <a:prstGeom prst="rect">
            <a:avLst/>
          </a:prstGeom>
          <a:solidFill>
            <a:schemeClr val="bg2"/>
          </a:solidFill>
          <a:ln/>
        </p:spPr>
      </p:sp>
      <p:sp>
        <p:nvSpPr>
          <p:cNvPr id="11" name="Text 9"/>
          <p:cNvSpPr txBox="1"/>
          <p:nvPr/>
        </p:nvSpPr>
        <p:spPr>
          <a:xfrm>
            <a:off x="822960" y="5029200"/>
            <a:ext cx="10515600" cy="1097280"/>
          </a:xfrm>
          <a:prstGeom prst="rect">
            <a:avLst/>
          </a:prstGeom>
          <a:noFill/>
          <a:ln/>
        </p:spPr>
        <p:txBody>
          <a:bodyPr wrap="square" lIns="0" tIns="0" rIns="0" bIns="0" rtlCol="0" anchor="ctr"/>
          <a:lstStyle/>
          <a:p>
            <a:pPr indent="0" marL="0">
              <a:buNone/>
            </a:pPr>
            <a:r>
              <a:rPr lang="en-US" sz="1800" b="1" dirty="0">
                <a:solidFill>
                  <a:schemeClr val="accent1"/>
                </a:solidFill>
              </a:rPr>
              <a:t>From: </a:t>
            </a:r>
            <a:pPr indent="0" marL="0">
              <a:buNone/>
            </a:pPr>
            <a:r>
              <a:rPr lang="en-US" sz="1800" dirty="0">
                <a:solidFill>
                  <a:schemeClr val="tx1"/>
                </a:solidFill>
              </a:rPr>
              <a:t>stores or online, and sell harder.   </a:t>
            </a:r>
            <a:pPr indent="0" marL="0">
              <a:buNone/>
            </a:pPr>
            <a:r>
              <a:rPr lang="en-US" sz="1800" b="1" dirty="0">
                <a:solidFill>
                  <a:schemeClr val="accent1"/>
                </a:solidFill>
              </a:rPr>
              <a:t>To: </a:t>
            </a:r>
            <a:pPr indent="0" marL="0">
              <a:buNone/>
            </a:pPr>
            <a:r>
              <a:rPr lang="en-US" sz="1800" dirty="0">
                <a:solidFill>
                  <a:schemeClr val="tx1"/>
                </a:solidFill>
              </a:rPr>
              <a:t>one Virley experience in every channel, funded by a leaner operation.</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2800" b="1" dirty="0">
                <a:solidFill>
                  <a:schemeClr val="tx1"/>
                </a:solidFill>
              </a:rPr>
              <a:t>Virley Everywhere joins business, experience and technology in one bold idea</a:t>
            </a:r>
            <a:endParaRPr lang="en-US" sz="2800" dirty="0"/>
          </a:p>
        </p:txBody>
      </p:sp>
      <p:sp>
        <p:nvSpPr>
          <p:cNvPr id="3" name="Business circle"/>
          <p:cNvSpPr/>
          <p:nvPr/>
        </p:nvSpPr>
        <p:spPr>
          <a:xfrm>
            <a:off x="2788920" y="1508760"/>
            <a:ext cx="2560320" cy="2560320"/>
          </a:xfrm>
          <a:prstGeom prst="ellipse">
            <a:avLst/>
          </a:prstGeom>
          <a:solidFill>
            <a:srgbClr val="D52B1E">
              <a:alpha val="35000"/>
            </a:srgbClr>
          </a:solidFill>
          <a:ln w="19050">
            <a:solidFill>
              <a:srgbClr val="D52B1E"/>
            </a:solidFill>
            <a:prstDash val="solid"/>
          </a:ln>
        </p:spPr>
      </p:sp>
      <p:sp>
        <p:nvSpPr>
          <p:cNvPr id="4" name="Experience circle"/>
          <p:cNvSpPr/>
          <p:nvPr/>
        </p:nvSpPr>
        <p:spPr>
          <a:xfrm>
            <a:off x="1691640" y="3383280"/>
            <a:ext cx="2560320" cy="2560320"/>
          </a:xfrm>
          <a:prstGeom prst="ellipse">
            <a:avLst/>
          </a:prstGeom>
          <a:solidFill>
            <a:srgbClr val="6E625E">
              <a:alpha val="35000"/>
            </a:srgbClr>
          </a:solidFill>
          <a:ln w="19050">
            <a:solidFill>
              <a:srgbClr val="6E625E"/>
            </a:solidFill>
            <a:prstDash val="solid"/>
          </a:ln>
        </p:spPr>
      </p:sp>
      <p:sp>
        <p:nvSpPr>
          <p:cNvPr id="5" name="Technology circle"/>
          <p:cNvSpPr/>
          <p:nvPr/>
        </p:nvSpPr>
        <p:spPr>
          <a:xfrm>
            <a:off x="3886200" y="3383280"/>
            <a:ext cx="2560320" cy="2560320"/>
          </a:xfrm>
          <a:prstGeom prst="ellipse">
            <a:avLst/>
          </a:prstGeom>
          <a:solidFill>
            <a:srgbClr val="EB8C00">
              <a:alpha val="35000"/>
            </a:srgbClr>
          </a:solidFill>
          <a:ln w="19050">
            <a:solidFill>
              <a:srgbClr val="EB8C00"/>
            </a:solidFill>
            <a:prstDash val="solid"/>
          </a:ln>
        </p:spPr>
      </p:sp>
      <p:sp>
        <p:nvSpPr>
          <p:cNvPr id="6" name="Text 4"/>
          <p:cNvSpPr txBox="1"/>
          <p:nvPr/>
        </p:nvSpPr>
        <p:spPr>
          <a:xfrm>
            <a:off x="3337560" y="1691640"/>
            <a:ext cx="1463040" cy="731520"/>
          </a:xfrm>
          <a:prstGeom prst="rect">
            <a:avLst/>
          </a:prstGeom>
          <a:noFill/>
          <a:ln/>
        </p:spPr>
        <p:txBody>
          <a:bodyPr wrap="square" lIns="0" tIns="0" rIns="0" bIns="0" rtlCol="0" anchor="t"/>
          <a:lstStyle/>
          <a:p>
            <a:pPr algn="ctr" indent="0" marL="0">
              <a:buNone/>
            </a:pPr>
            <a:r>
              <a:rPr lang="en-US" sz="2400" b="1" dirty="0">
                <a:solidFill>
                  <a:schemeClr val="tx1"/>
                </a:solidFill>
              </a:rPr>
              <a:t>B</a:t>
            </a:r>
            <a:endParaRPr lang="en-US" sz="2400" dirty="0"/>
          </a:p>
          <a:p>
            <a:pPr algn="ctr" indent="0" marL="0">
              <a:buNone/>
            </a:pPr>
            <a:r>
              <a:rPr lang="en-US" sz="1300" dirty="0">
                <a:solidFill>
                  <a:schemeClr val="tx1"/>
                </a:solidFill>
              </a:rPr>
              <a:t>Business</a:t>
            </a:r>
            <a:endParaRPr lang="en-US" sz="2400" dirty="0"/>
          </a:p>
        </p:txBody>
      </p:sp>
      <p:sp>
        <p:nvSpPr>
          <p:cNvPr id="7" name="Text 5"/>
          <p:cNvSpPr txBox="1"/>
          <p:nvPr/>
        </p:nvSpPr>
        <p:spPr>
          <a:xfrm>
            <a:off x="1874520" y="4663440"/>
            <a:ext cx="1371600" cy="731520"/>
          </a:xfrm>
          <a:prstGeom prst="rect">
            <a:avLst/>
          </a:prstGeom>
          <a:noFill/>
          <a:ln/>
        </p:spPr>
        <p:txBody>
          <a:bodyPr wrap="square" lIns="0" tIns="0" rIns="0" bIns="0" rtlCol="0" anchor="t"/>
          <a:lstStyle/>
          <a:p>
            <a:pPr algn="ctr" indent="0" marL="0">
              <a:buNone/>
            </a:pPr>
            <a:r>
              <a:rPr lang="en-US" sz="2400" b="1" dirty="0">
                <a:solidFill>
                  <a:schemeClr val="tx1"/>
                </a:solidFill>
              </a:rPr>
              <a:t>X</a:t>
            </a:r>
            <a:endParaRPr lang="en-US" sz="2400" dirty="0"/>
          </a:p>
          <a:p>
            <a:pPr algn="ctr" indent="0" marL="0">
              <a:buNone/>
            </a:pPr>
            <a:r>
              <a:rPr lang="en-US" sz="1300" dirty="0">
                <a:solidFill>
                  <a:schemeClr val="tx1"/>
                </a:solidFill>
              </a:rPr>
              <a:t>eXperience</a:t>
            </a:r>
            <a:endParaRPr lang="en-US" sz="2400" dirty="0"/>
          </a:p>
        </p:txBody>
      </p:sp>
      <p:sp>
        <p:nvSpPr>
          <p:cNvPr id="8" name="Text 6"/>
          <p:cNvSpPr txBox="1"/>
          <p:nvPr/>
        </p:nvSpPr>
        <p:spPr>
          <a:xfrm>
            <a:off x="4526280" y="4663440"/>
            <a:ext cx="1371600" cy="731520"/>
          </a:xfrm>
          <a:prstGeom prst="rect">
            <a:avLst/>
          </a:prstGeom>
          <a:noFill/>
          <a:ln/>
        </p:spPr>
        <p:txBody>
          <a:bodyPr wrap="square" lIns="0" tIns="0" rIns="0" bIns="0" rtlCol="0" anchor="t"/>
          <a:lstStyle/>
          <a:p>
            <a:pPr algn="ctr" indent="0" marL="0">
              <a:buNone/>
            </a:pPr>
            <a:r>
              <a:rPr lang="en-US" sz="2400" b="1" dirty="0">
                <a:solidFill>
                  <a:schemeClr val="tx1"/>
                </a:solidFill>
              </a:rPr>
              <a:t>T</a:t>
            </a:r>
            <a:endParaRPr lang="en-US" sz="2400" dirty="0"/>
          </a:p>
          <a:p>
            <a:pPr algn="ctr" indent="0" marL="0">
              <a:buNone/>
            </a:pPr>
            <a:r>
              <a:rPr lang="en-US" sz="1300" dirty="0">
                <a:solidFill>
                  <a:schemeClr val="tx1"/>
                </a:solidFill>
              </a:rPr>
              <a:t>Technology</a:t>
            </a:r>
            <a:endParaRPr lang="en-US" sz="2400" dirty="0"/>
          </a:p>
        </p:txBody>
      </p:sp>
      <p:sp>
        <p:nvSpPr>
          <p:cNvPr id="9" name="Shape 7"/>
          <p:cNvSpPr/>
          <p:nvPr/>
        </p:nvSpPr>
        <p:spPr>
          <a:xfrm>
            <a:off x="3246120" y="3749040"/>
            <a:ext cx="1554480" cy="914400"/>
          </a:xfrm>
          <a:prstGeom prst="ellipse">
            <a:avLst/>
          </a:prstGeom>
          <a:solidFill>
            <a:schemeClr val="tx1"/>
          </a:solidFill>
          <a:ln/>
        </p:spPr>
      </p:sp>
      <p:sp>
        <p:nvSpPr>
          <p:cNvPr id="10" name="Text 8"/>
          <p:cNvSpPr txBox="1"/>
          <p:nvPr/>
        </p:nvSpPr>
        <p:spPr>
          <a:xfrm>
            <a:off x="3246120" y="3749040"/>
            <a:ext cx="1554480" cy="914400"/>
          </a:xfrm>
          <a:prstGeom prst="rect">
            <a:avLst/>
          </a:prstGeom>
          <a:noFill/>
          <a:ln/>
        </p:spPr>
        <p:txBody>
          <a:bodyPr wrap="square" lIns="0" tIns="0" rIns="0" bIns="0" rtlCol="0" anchor="ctr"/>
          <a:lstStyle/>
          <a:p>
            <a:pPr algn="ctr" indent="0" marL="0">
              <a:buNone/>
            </a:pPr>
            <a:r>
              <a:rPr lang="en-US" sz="1300" b="1" dirty="0">
                <a:solidFill>
                  <a:schemeClr val="bg1"/>
                </a:solidFill>
                <a:latin typeface="+mj-lt" pitchFamily="34" charset="0"/>
                <a:ea typeface="+mj-lt" pitchFamily="34" charset="-122"/>
                <a:cs typeface="+mj-lt" pitchFamily="34" charset="-120"/>
              </a:rPr>
              <a:t>Virley Everywhere</a:t>
            </a:r>
            <a:endParaRPr lang="en-US" sz="1300" dirty="0"/>
          </a:p>
        </p:txBody>
      </p:sp>
      <p:sp>
        <p:nvSpPr>
          <p:cNvPr id="11" name="BXT card B"/>
          <p:cNvSpPr/>
          <p:nvPr/>
        </p:nvSpPr>
        <p:spPr>
          <a:xfrm>
            <a:off x="6675120" y="1600200"/>
            <a:ext cx="4937760" cy="1371600"/>
          </a:xfrm>
          <a:prstGeom prst="rect">
            <a:avLst/>
          </a:prstGeom>
          <a:solidFill>
            <a:schemeClr val="bg2"/>
          </a:solidFill>
          <a:ln/>
        </p:spPr>
      </p:sp>
      <p:sp>
        <p:nvSpPr>
          <p:cNvPr id="12" name="Shape 10"/>
          <p:cNvSpPr/>
          <p:nvPr/>
        </p:nvSpPr>
        <p:spPr>
          <a:xfrm>
            <a:off x="6858000" y="1783080"/>
            <a:ext cx="640080" cy="640080"/>
          </a:xfrm>
          <a:prstGeom prst="ellipse">
            <a:avLst/>
          </a:prstGeom>
          <a:solidFill>
            <a:srgbClr val="D52B1E"/>
          </a:solidFill>
          <a:ln/>
        </p:spPr>
      </p:sp>
      <p:sp>
        <p:nvSpPr>
          <p:cNvPr id="13" name="Text 11"/>
          <p:cNvSpPr txBox="1"/>
          <p:nvPr/>
        </p:nvSpPr>
        <p:spPr>
          <a:xfrm>
            <a:off x="6858000" y="178308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latin typeface="+mj-lt" pitchFamily="34" charset="0"/>
                <a:ea typeface="+mj-lt" pitchFamily="34" charset="-122"/>
                <a:cs typeface="+mj-lt" pitchFamily="34" charset="-120"/>
              </a:rPr>
              <a:t>B</a:t>
            </a:r>
            <a:endParaRPr lang="en-US" sz="2200" dirty="0"/>
          </a:p>
        </p:txBody>
      </p:sp>
      <p:sp>
        <p:nvSpPr>
          <p:cNvPr id="14" name="Text 12"/>
          <p:cNvSpPr txBox="1"/>
          <p:nvPr/>
        </p:nvSpPr>
        <p:spPr>
          <a:xfrm>
            <a:off x="7680960" y="1737360"/>
            <a:ext cx="3749040" cy="320040"/>
          </a:xfrm>
          <a:prstGeom prst="rect">
            <a:avLst/>
          </a:prstGeom>
          <a:noFill/>
          <a:ln/>
        </p:spPr>
        <p:txBody>
          <a:bodyPr wrap="square" lIns="0" tIns="0" rIns="0" bIns="0" rtlCol="0" anchor="t"/>
          <a:lstStyle/>
          <a:p>
            <a:pPr indent="0" marL="0">
              <a:buNone/>
            </a:pPr>
            <a:r>
              <a:rPr lang="en-US" sz="1500" b="1" dirty="0">
                <a:solidFill>
                  <a:schemeClr val="tx1"/>
                </a:solidFill>
              </a:rPr>
              <a:t>Business</a:t>
            </a:r>
            <a:endParaRPr lang="en-US" sz="1500" dirty="0"/>
          </a:p>
        </p:txBody>
      </p:sp>
      <p:sp>
        <p:nvSpPr>
          <p:cNvPr id="15" name="Text 13"/>
          <p:cNvSpPr txBox="1"/>
          <p:nvPr/>
        </p:nvSpPr>
        <p:spPr>
          <a:xfrm>
            <a:off x="7680960" y="2075688"/>
            <a:ext cx="3749040" cy="868680"/>
          </a:xfrm>
          <a:prstGeom prst="rect">
            <a:avLst/>
          </a:prstGeom>
          <a:noFill/>
          <a:ln/>
        </p:spPr>
        <p:txBody>
          <a:bodyPr wrap="square" lIns="0" tIns="0" rIns="0" bIns="0" rtlCol="0" anchor="t"/>
          <a:lstStyle/>
          <a:p>
            <a:pPr indent="0" marL="0">
              <a:buNone/>
            </a:pPr>
            <a:r>
              <a:rPr lang="en-US" sz="1200" dirty="0">
                <a:solidFill>
                  <a:schemeClr val="tx1"/>
                </a:solidFill>
              </a:rPr>
              <a:t>Reach £2bn and a 10% margin: a leaner stock and logistics backbone pays for the growth.</a:t>
            </a:r>
            <a:endParaRPr lang="en-US" sz="1200" dirty="0"/>
          </a:p>
        </p:txBody>
      </p:sp>
      <p:sp>
        <p:nvSpPr>
          <p:cNvPr id="16" name="BXT card X"/>
          <p:cNvSpPr/>
          <p:nvPr/>
        </p:nvSpPr>
        <p:spPr>
          <a:xfrm>
            <a:off x="6675120" y="3154680"/>
            <a:ext cx="4937760" cy="1371600"/>
          </a:xfrm>
          <a:prstGeom prst="rect">
            <a:avLst/>
          </a:prstGeom>
          <a:solidFill>
            <a:schemeClr val="bg2"/>
          </a:solidFill>
          <a:ln/>
        </p:spPr>
      </p:sp>
      <p:sp>
        <p:nvSpPr>
          <p:cNvPr id="17" name="Shape 15"/>
          <p:cNvSpPr/>
          <p:nvPr/>
        </p:nvSpPr>
        <p:spPr>
          <a:xfrm>
            <a:off x="6858000" y="3337560"/>
            <a:ext cx="640080" cy="640080"/>
          </a:xfrm>
          <a:prstGeom prst="ellipse">
            <a:avLst/>
          </a:prstGeom>
          <a:solidFill>
            <a:srgbClr val="6E625E"/>
          </a:solidFill>
          <a:ln/>
        </p:spPr>
      </p:sp>
      <p:sp>
        <p:nvSpPr>
          <p:cNvPr id="18" name="Text 16"/>
          <p:cNvSpPr txBox="1"/>
          <p:nvPr/>
        </p:nvSpPr>
        <p:spPr>
          <a:xfrm>
            <a:off x="6858000" y="3337560"/>
            <a:ext cx="640080" cy="640080"/>
          </a:xfrm>
          <a:prstGeom prst="rect">
            <a:avLst/>
          </a:prstGeom>
          <a:noFill/>
          <a:ln/>
        </p:spPr>
        <p:txBody>
          <a:bodyPr wrap="square" lIns="0" tIns="0" rIns="0" bIns="0" rtlCol="0" anchor="ctr"/>
          <a:lstStyle/>
          <a:p>
            <a:pPr algn="ctr" indent="0" marL="0">
              <a:buNone/>
            </a:pPr>
            <a:r>
              <a:rPr lang="en-US" sz="2200" b="1" dirty="0">
                <a:solidFill>
                  <a:schemeClr val="bg1"/>
                </a:solidFill>
                <a:latin typeface="+mj-lt" pitchFamily="34" charset="0"/>
                <a:ea typeface="+mj-lt" pitchFamily="34" charset="-122"/>
                <a:cs typeface="+mj-lt" pitchFamily="34" charset="-120"/>
              </a:rPr>
              <a:t>X</a:t>
            </a:r>
            <a:endParaRPr lang="en-US" sz="2200" dirty="0"/>
          </a:p>
        </p:txBody>
      </p:sp>
      <p:sp>
        <p:nvSpPr>
          <p:cNvPr id="19" name="Text 17"/>
          <p:cNvSpPr txBox="1"/>
          <p:nvPr/>
        </p:nvSpPr>
        <p:spPr>
          <a:xfrm>
            <a:off x="7680960" y="3291840"/>
            <a:ext cx="3749040" cy="320040"/>
          </a:xfrm>
          <a:prstGeom prst="rect">
            <a:avLst/>
          </a:prstGeom>
          <a:noFill/>
          <a:ln/>
        </p:spPr>
        <p:txBody>
          <a:bodyPr wrap="square" lIns="0" tIns="0" rIns="0" bIns="0" rtlCol="0" anchor="t"/>
          <a:lstStyle/>
          <a:p>
            <a:pPr indent="0" marL="0">
              <a:buNone/>
            </a:pPr>
            <a:r>
              <a:rPr lang="en-US" sz="1500" b="1" dirty="0">
                <a:solidFill>
                  <a:schemeClr val="tx1"/>
                </a:solidFill>
              </a:rPr>
              <a:t>eXperience</a:t>
            </a:r>
            <a:endParaRPr lang="en-US" sz="1500" dirty="0"/>
          </a:p>
        </p:txBody>
      </p:sp>
      <p:sp>
        <p:nvSpPr>
          <p:cNvPr id="20" name="Text 18"/>
          <p:cNvSpPr txBox="1"/>
          <p:nvPr/>
        </p:nvSpPr>
        <p:spPr>
          <a:xfrm>
            <a:off x="7680960" y="3630168"/>
            <a:ext cx="3749040" cy="868680"/>
          </a:xfrm>
          <a:prstGeom prst="rect">
            <a:avLst/>
          </a:prstGeom>
          <a:noFill/>
          <a:ln/>
        </p:spPr>
        <p:txBody>
          <a:bodyPr wrap="square" lIns="0" tIns="0" rIns="0" bIns="0" rtlCol="0" anchor="t"/>
          <a:lstStyle/>
          <a:p>
            <a:pPr indent="0" marL="0">
              <a:buNone/>
            </a:pPr>
            <a:r>
              <a:rPr lang="en-US" sz="1200" dirty="0">
                <a:solidFill>
                  <a:schemeClr val="tx1"/>
                </a:solidFill>
              </a:rPr>
              <a:t>One client known in every channel, so each visit is worth more for the client and for the colleague serving her.</a:t>
            </a:r>
            <a:endParaRPr lang="en-US" sz="1200" dirty="0"/>
          </a:p>
        </p:txBody>
      </p:sp>
      <p:sp>
        <p:nvSpPr>
          <p:cNvPr id="21" name="BXT card T"/>
          <p:cNvSpPr/>
          <p:nvPr/>
        </p:nvSpPr>
        <p:spPr>
          <a:xfrm>
            <a:off x="6675120" y="4709160"/>
            <a:ext cx="4937760" cy="1371600"/>
          </a:xfrm>
          <a:prstGeom prst="rect">
            <a:avLst/>
          </a:prstGeom>
          <a:solidFill>
            <a:schemeClr val="bg2"/>
          </a:solidFill>
          <a:ln/>
        </p:spPr>
      </p:sp>
      <p:sp>
        <p:nvSpPr>
          <p:cNvPr id="22" name="Shape 20"/>
          <p:cNvSpPr/>
          <p:nvPr/>
        </p:nvSpPr>
        <p:spPr>
          <a:xfrm>
            <a:off x="6858000" y="4892040"/>
            <a:ext cx="640080" cy="640080"/>
          </a:xfrm>
          <a:prstGeom prst="ellipse">
            <a:avLst/>
          </a:prstGeom>
          <a:solidFill>
            <a:srgbClr val="EB8C00"/>
          </a:solidFill>
          <a:ln/>
        </p:spPr>
      </p:sp>
      <p:sp>
        <p:nvSpPr>
          <p:cNvPr id="23" name="Text 21"/>
          <p:cNvSpPr txBox="1"/>
          <p:nvPr/>
        </p:nvSpPr>
        <p:spPr>
          <a:xfrm>
            <a:off x="6858000" y="4892040"/>
            <a:ext cx="640080" cy="640080"/>
          </a:xfrm>
          <a:prstGeom prst="rect">
            <a:avLst/>
          </a:prstGeom>
          <a:noFill/>
          <a:ln/>
        </p:spPr>
        <p:txBody>
          <a:bodyPr wrap="square" lIns="0" tIns="0" rIns="0" bIns="0" rtlCol="0" anchor="ctr"/>
          <a:lstStyle/>
          <a:p>
            <a:pPr algn="ctr" indent="0" marL="0">
              <a:buNone/>
            </a:pPr>
            <a:r>
              <a:rPr lang="en-US" sz="2200" b="1" dirty="0">
                <a:solidFill>
                  <a:schemeClr val="tx1"/>
                </a:solidFill>
                <a:latin typeface="+mj-lt" pitchFamily="34" charset="0"/>
                <a:ea typeface="+mj-lt" pitchFamily="34" charset="-122"/>
                <a:cs typeface="+mj-lt" pitchFamily="34" charset="-120"/>
              </a:rPr>
              <a:t>T</a:t>
            </a:r>
            <a:endParaRPr lang="en-US" sz="2200" dirty="0"/>
          </a:p>
        </p:txBody>
      </p:sp>
      <p:sp>
        <p:nvSpPr>
          <p:cNvPr id="24" name="Text 22"/>
          <p:cNvSpPr txBox="1"/>
          <p:nvPr/>
        </p:nvSpPr>
        <p:spPr>
          <a:xfrm>
            <a:off x="7680960" y="4846320"/>
            <a:ext cx="3749040" cy="320040"/>
          </a:xfrm>
          <a:prstGeom prst="rect">
            <a:avLst/>
          </a:prstGeom>
          <a:noFill/>
          <a:ln/>
        </p:spPr>
        <p:txBody>
          <a:bodyPr wrap="square" lIns="0" tIns="0" rIns="0" bIns="0" rtlCol="0" anchor="t"/>
          <a:lstStyle/>
          <a:p>
            <a:pPr indent="0" marL="0">
              <a:buNone/>
            </a:pPr>
            <a:r>
              <a:rPr lang="en-US" sz="1500" b="1" dirty="0">
                <a:solidFill>
                  <a:schemeClr val="tx1"/>
                </a:solidFill>
              </a:rPr>
              <a:t>Technology</a:t>
            </a:r>
            <a:endParaRPr lang="en-US" sz="1500" dirty="0"/>
          </a:p>
        </p:txBody>
      </p:sp>
      <p:sp>
        <p:nvSpPr>
          <p:cNvPr id="25" name="Text 23"/>
          <p:cNvSpPr txBox="1"/>
          <p:nvPr/>
        </p:nvSpPr>
        <p:spPr>
          <a:xfrm>
            <a:off x="7680960" y="5184648"/>
            <a:ext cx="3749040" cy="868680"/>
          </a:xfrm>
          <a:prstGeom prst="rect">
            <a:avLst/>
          </a:prstGeom>
          <a:noFill/>
          <a:ln/>
        </p:spPr>
        <p:txBody>
          <a:bodyPr wrap="square" lIns="0" tIns="0" rIns="0" bIns="0" rtlCol="0" anchor="t"/>
          <a:lstStyle/>
          <a:p>
            <a:pPr indent="0" marL="0">
              <a:buNone/>
            </a:pPr>
            <a:r>
              <a:rPr lang="en-US" sz="1200" dirty="0">
                <a:solidFill>
                  <a:schemeClr val="tx1"/>
                </a:solidFill>
              </a:rPr>
              <a:t>One client profile and one stock view across SAP, Oracle and online, with self-service delivery and returns.</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2800" b="1" dirty="0">
                <a:solidFill>
                  <a:schemeClr val="tx1"/>
                </a:solidFill>
              </a:rPr>
              <a:t>A day in the life of a client, and of the colleague who serves her</a:t>
            </a:r>
            <a:endParaRPr lang="en-US" sz="2800" dirty="0"/>
          </a:p>
        </p:txBody>
      </p:sp>
      <p:sp>
        <p:nvSpPr>
          <p:cNvPr id="3" name="Text 1"/>
          <p:cNvSpPr txBox="1"/>
          <p:nvPr/>
        </p:nvSpPr>
        <p:spPr>
          <a:xfrm>
            <a:off x="548640" y="1417320"/>
            <a:ext cx="2743200" cy="274320"/>
          </a:xfrm>
          <a:prstGeom prst="rect">
            <a:avLst/>
          </a:prstGeom>
          <a:noFill/>
          <a:ln/>
        </p:spPr>
        <p:txBody>
          <a:bodyPr wrap="square" lIns="0" tIns="0" rIns="0" bIns="0" rtlCol="0" anchor="t"/>
          <a:lstStyle/>
          <a:p>
            <a:pPr indent="0" marL="0">
              <a:buNone/>
            </a:pPr>
            <a:r>
              <a:rPr lang="en-US" sz="1100" b="1" spc="200" kern="0" dirty="0">
                <a:solidFill>
                  <a:schemeClr val="accent1"/>
                </a:solidFill>
              </a:rPr>
              <a:t>THE CLIENT</a:t>
            </a:r>
            <a:endParaRPr lang="en-US" sz="1100" dirty="0"/>
          </a:p>
        </p:txBody>
      </p:sp>
      <p:sp>
        <p:nvSpPr>
          <p:cNvPr id="4" name="Shape 2"/>
          <p:cNvSpPr/>
          <p:nvPr/>
        </p:nvSpPr>
        <p:spPr>
          <a:xfrm>
            <a:off x="548640" y="1691640"/>
            <a:ext cx="2103120" cy="594360"/>
          </a:xfrm>
          <a:prstGeom prst="homePlate">
            <a:avLst/>
          </a:prstGeom>
          <a:solidFill>
            <a:schemeClr val="accent1"/>
          </a:solidFill>
          <a:ln/>
        </p:spPr>
      </p:sp>
      <p:sp>
        <p:nvSpPr>
          <p:cNvPr id="5" name="Text 3"/>
          <p:cNvSpPr txBox="1"/>
          <p:nvPr/>
        </p:nvSpPr>
        <p:spPr>
          <a:xfrm>
            <a:off x="685800" y="1691640"/>
            <a:ext cx="1737360" cy="594360"/>
          </a:xfrm>
          <a:prstGeom prst="rect">
            <a:avLst/>
          </a:prstGeom>
          <a:noFill/>
          <a:ln/>
        </p:spPr>
        <p:txBody>
          <a:bodyPr wrap="square" lIns="0" tIns="0" rIns="0" bIns="0" rtlCol="0" anchor="ctr"/>
          <a:lstStyle/>
          <a:p>
            <a:pPr indent="0" marL="0">
              <a:buNone/>
            </a:pPr>
            <a:r>
              <a:rPr lang="en-US" sz="1400" b="1" dirty="0">
                <a:solidFill>
                  <a:schemeClr val="bg1"/>
                </a:solidFill>
              </a:rPr>
              <a:t>1  Discover</a:t>
            </a:r>
            <a:endParaRPr lang="en-US" sz="1400" dirty="0"/>
          </a:p>
        </p:txBody>
      </p:sp>
      <p:sp>
        <p:nvSpPr>
          <p:cNvPr id="6" name="Client 1"/>
          <p:cNvSpPr/>
          <p:nvPr/>
        </p:nvSpPr>
        <p:spPr>
          <a:xfrm>
            <a:off x="548640" y="2377440"/>
            <a:ext cx="2103120" cy="1554480"/>
          </a:xfrm>
          <a:prstGeom prst="rect">
            <a:avLst/>
          </a:prstGeom>
          <a:solidFill>
            <a:schemeClr val="bg2"/>
          </a:solidFill>
          <a:ln/>
        </p:spPr>
      </p:sp>
      <p:sp>
        <p:nvSpPr>
          <p:cNvPr id="7" name="Shape 5"/>
          <p:cNvSpPr/>
          <p:nvPr/>
        </p:nvSpPr>
        <p:spPr>
          <a:xfrm>
            <a:off x="685800" y="2468880"/>
            <a:ext cx="411480" cy="411480"/>
          </a:xfrm>
          <a:prstGeom prst="ellipse">
            <a:avLst/>
          </a:prstGeom>
          <a:solidFill>
            <a:srgbClr val="D52B1E"/>
          </a:solidFill>
          <a:ln/>
        </p:spPr>
      </p:sp>
      <p:pic>
        <p:nvPicPr>
          <p:cNvPr id="8" name="Image 0" descr="icon">    </p:cNvPr>
          <p:cNvPicPr>
            <a:picLocks noChangeAspect="1"/>
          </p:cNvPicPr>
          <p:nvPr/>
        </p:nvPicPr>
        <p:blipFill>
          <a:blip r:embed="rId1"/>
          <a:stretch>
            <a:fillRect/>
          </a:stretch>
        </p:blipFill>
        <p:spPr>
          <a:xfrm>
            <a:off x="788670" y="2571750"/>
            <a:ext cx="205740" cy="205740"/>
          </a:xfrm>
          <a:prstGeom prst="rect">
            <a:avLst/>
          </a:prstGeom>
        </p:spPr>
      </p:pic>
      <p:sp>
        <p:nvSpPr>
          <p:cNvPr id="9" name="Text 6"/>
          <p:cNvSpPr txBox="1"/>
          <p:nvPr/>
        </p:nvSpPr>
        <p:spPr>
          <a:xfrm>
            <a:off x="685800" y="2944368"/>
            <a:ext cx="1828800" cy="960120"/>
          </a:xfrm>
          <a:prstGeom prst="rect">
            <a:avLst/>
          </a:prstGeom>
          <a:noFill/>
          <a:ln/>
        </p:spPr>
        <p:txBody>
          <a:bodyPr wrap="square" lIns="0" tIns="0" rIns="0" bIns="0" rtlCol="0" anchor="t"/>
          <a:lstStyle/>
          <a:p>
            <a:pPr indent="0" marL="0">
              <a:buNone/>
            </a:pPr>
            <a:r>
              <a:rPr lang="en-US" sz="1200" dirty="0">
                <a:solidFill>
                  <a:schemeClr val="tx1"/>
                </a:solidFill>
              </a:rPr>
              <a:t>She sees a new collection on social media and books a styling session.</a:t>
            </a:r>
            <a:endParaRPr lang="en-US" sz="1200" dirty="0"/>
          </a:p>
        </p:txBody>
      </p:sp>
      <p:sp>
        <p:nvSpPr>
          <p:cNvPr id="10" name="Colleague 1"/>
          <p:cNvSpPr/>
          <p:nvPr/>
        </p:nvSpPr>
        <p:spPr>
          <a:xfrm>
            <a:off x="548640" y="4297680"/>
            <a:ext cx="2103120" cy="1417320"/>
          </a:xfrm>
          <a:prstGeom prst="rect">
            <a:avLst/>
          </a:prstGeom>
          <a:solidFill>
            <a:schemeClr val="tx2"/>
          </a:solidFill>
          <a:ln/>
        </p:spPr>
      </p:sp>
      <p:sp>
        <p:nvSpPr>
          <p:cNvPr id="11" name="Text 8"/>
          <p:cNvSpPr txBox="1"/>
          <p:nvPr/>
        </p:nvSpPr>
        <p:spPr>
          <a:xfrm>
            <a:off x="685800" y="4389120"/>
            <a:ext cx="1828800" cy="1280160"/>
          </a:xfrm>
          <a:prstGeom prst="rect">
            <a:avLst/>
          </a:prstGeom>
          <a:noFill/>
          <a:ln/>
        </p:spPr>
        <p:txBody>
          <a:bodyPr wrap="square" lIns="0" tIns="0" rIns="0" bIns="0" rtlCol="0" anchor="t"/>
          <a:lstStyle/>
          <a:p>
            <a:pPr indent="0" marL="0">
              <a:buNone/>
            </a:pPr>
            <a:r>
              <a:rPr lang="en-US" sz="1200" dirty="0">
                <a:solidFill>
                  <a:schemeClr val="bg1"/>
                </a:solidFill>
              </a:rPr>
              <a:t>The stylist sees who booked and what she bought before.</a:t>
            </a:r>
            <a:endParaRPr lang="en-US" sz="1200" dirty="0"/>
          </a:p>
        </p:txBody>
      </p:sp>
      <p:sp>
        <p:nvSpPr>
          <p:cNvPr id="12" name="Shape 9"/>
          <p:cNvSpPr/>
          <p:nvPr/>
        </p:nvSpPr>
        <p:spPr>
          <a:xfrm>
            <a:off x="2788920" y="1691640"/>
            <a:ext cx="2103120" cy="594360"/>
          </a:xfrm>
          <a:prstGeom prst="homePlate">
            <a:avLst/>
          </a:prstGeom>
          <a:solidFill>
            <a:schemeClr val="accent1"/>
          </a:solidFill>
          <a:ln/>
        </p:spPr>
      </p:sp>
      <p:sp>
        <p:nvSpPr>
          <p:cNvPr id="13" name="Text 10"/>
          <p:cNvSpPr txBox="1"/>
          <p:nvPr/>
        </p:nvSpPr>
        <p:spPr>
          <a:xfrm>
            <a:off x="2926080" y="1691640"/>
            <a:ext cx="1737360" cy="594360"/>
          </a:xfrm>
          <a:prstGeom prst="rect">
            <a:avLst/>
          </a:prstGeom>
          <a:noFill/>
          <a:ln/>
        </p:spPr>
        <p:txBody>
          <a:bodyPr wrap="square" lIns="0" tIns="0" rIns="0" bIns="0" rtlCol="0" anchor="ctr"/>
          <a:lstStyle/>
          <a:p>
            <a:pPr indent="0" marL="0">
              <a:buNone/>
            </a:pPr>
            <a:r>
              <a:rPr lang="en-US" sz="1400" b="1" dirty="0">
                <a:solidFill>
                  <a:schemeClr val="bg1"/>
                </a:solidFill>
              </a:rPr>
              <a:t>2  Plan</a:t>
            </a:r>
            <a:endParaRPr lang="en-US" sz="1400" dirty="0"/>
          </a:p>
        </p:txBody>
      </p:sp>
      <p:sp>
        <p:nvSpPr>
          <p:cNvPr id="14" name="Client 2"/>
          <p:cNvSpPr/>
          <p:nvPr/>
        </p:nvSpPr>
        <p:spPr>
          <a:xfrm>
            <a:off x="2788920" y="2377440"/>
            <a:ext cx="2103120" cy="1554480"/>
          </a:xfrm>
          <a:prstGeom prst="rect">
            <a:avLst/>
          </a:prstGeom>
          <a:solidFill>
            <a:schemeClr val="bg2"/>
          </a:solidFill>
          <a:ln/>
        </p:spPr>
      </p:sp>
      <p:sp>
        <p:nvSpPr>
          <p:cNvPr id="15" name="Shape 12"/>
          <p:cNvSpPr/>
          <p:nvPr/>
        </p:nvSpPr>
        <p:spPr>
          <a:xfrm>
            <a:off x="2926080" y="2468880"/>
            <a:ext cx="411480" cy="411480"/>
          </a:xfrm>
          <a:prstGeom prst="ellipse">
            <a:avLst/>
          </a:prstGeom>
          <a:solidFill>
            <a:srgbClr val="D52B1E"/>
          </a:solidFill>
          <a:ln/>
        </p:spPr>
      </p:sp>
      <p:pic>
        <p:nvPicPr>
          <p:cNvPr id="16" name="Image 1" descr="icon">    </p:cNvPr>
          <p:cNvPicPr>
            <a:picLocks noChangeAspect="1"/>
          </p:cNvPicPr>
          <p:nvPr/>
        </p:nvPicPr>
        <p:blipFill>
          <a:blip r:embed="rId2"/>
          <a:stretch>
            <a:fillRect/>
          </a:stretch>
        </p:blipFill>
        <p:spPr>
          <a:xfrm>
            <a:off x="3028950" y="2571750"/>
            <a:ext cx="205740" cy="205740"/>
          </a:xfrm>
          <a:prstGeom prst="rect">
            <a:avLst/>
          </a:prstGeom>
        </p:spPr>
      </p:pic>
      <p:sp>
        <p:nvSpPr>
          <p:cNvPr id="17" name="Text 13"/>
          <p:cNvSpPr txBox="1"/>
          <p:nvPr/>
        </p:nvSpPr>
        <p:spPr>
          <a:xfrm>
            <a:off x="2926080" y="2944368"/>
            <a:ext cx="1828800" cy="960120"/>
          </a:xfrm>
          <a:prstGeom prst="rect">
            <a:avLst/>
          </a:prstGeom>
          <a:noFill/>
          <a:ln/>
        </p:spPr>
        <p:txBody>
          <a:bodyPr wrap="square" lIns="0" tIns="0" rIns="0" bIns="0" rtlCol="0" anchor="t"/>
          <a:lstStyle/>
          <a:p>
            <a:pPr indent="0" marL="0">
              <a:buNone/>
            </a:pPr>
            <a:r>
              <a:rPr lang="en-US" sz="1200" dirty="0">
                <a:solidFill>
                  <a:schemeClr val="tx1"/>
                </a:solidFill>
              </a:rPr>
              <a:t>A stylist joins by video, already knowing her past purchases.</a:t>
            </a:r>
            <a:endParaRPr lang="en-US" sz="1200" dirty="0"/>
          </a:p>
        </p:txBody>
      </p:sp>
      <p:sp>
        <p:nvSpPr>
          <p:cNvPr id="18" name="Colleague 2"/>
          <p:cNvSpPr/>
          <p:nvPr/>
        </p:nvSpPr>
        <p:spPr>
          <a:xfrm>
            <a:off x="2788920" y="4297680"/>
            <a:ext cx="2103120" cy="1417320"/>
          </a:xfrm>
          <a:prstGeom prst="rect">
            <a:avLst/>
          </a:prstGeom>
          <a:solidFill>
            <a:schemeClr val="tx2"/>
          </a:solidFill>
          <a:ln/>
        </p:spPr>
      </p:sp>
      <p:sp>
        <p:nvSpPr>
          <p:cNvPr id="19" name="Text 15"/>
          <p:cNvSpPr txBox="1"/>
          <p:nvPr/>
        </p:nvSpPr>
        <p:spPr>
          <a:xfrm>
            <a:off x="2926080" y="4389120"/>
            <a:ext cx="1828800" cy="1280160"/>
          </a:xfrm>
          <a:prstGeom prst="rect">
            <a:avLst/>
          </a:prstGeom>
          <a:noFill/>
          <a:ln/>
        </p:spPr>
        <p:txBody>
          <a:bodyPr wrap="square" lIns="0" tIns="0" rIns="0" bIns="0" rtlCol="0" anchor="t"/>
          <a:lstStyle/>
          <a:p>
            <a:pPr indent="0" marL="0">
              <a:buNone/>
            </a:pPr>
            <a:r>
              <a:rPr lang="en-US" sz="1200" dirty="0">
                <a:solidFill>
                  <a:schemeClr val="bg1"/>
                </a:solidFill>
              </a:rPr>
              <a:t>The stylist prepares looks from one profile and live stock.</a:t>
            </a:r>
            <a:endParaRPr lang="en-US" sz="1200" dirty="0"/>
          </a:p>
        </p:txBody>
      </p:sp>
      <p:sp>
        <p:nvSpPr>
          <p:cNvPr id="20" name="Shape 16"/>
          <p:cNvSpPr/>
          <p:nvPr/>
        </p:nvSpPr>
        <p:spPr>
          <a:xfrm>
            <a:off x="5029200" y="1691640"/>
            <a:ext cx="2103120" cy="594360"/>
          </a:xfrm>
          <a:prstGeom prst="homePlate">
            <a:avLst/>
          </a:prstGeom>
          <a:solidFill>
            <a:schemeClr val="accent1"/>
          </a:solidFill>
          <a:ln/>
        </p:spPr>
      </p:sp>
      <p:sp>
        <p:nvSpPr>
          <p:cNvPr id="21" name="Text 17"/>
          <p:cNvSpPr txBox="1"/>
          <p:nvPr/>
        </p:nvSpPr>
        <p:spPr>
          <a:xfrm>
            <a:off x="5166360" y="1691640"/>
            <a:ext cx="1737360" cy="594360"/>
          </a:xfrm>
          <a:prstGeom prst="rect">
            <a:avLst/>
          </a:prstGeom>
          <a:noFill/>
          <a:ln/>
        </p:spPr>
        <p:txBody>
          <a:bodyPr wrap="square" lIns="0" tIns="0" rIns="0" bIns="0" rtlCol="0" anchor="ctr"/>
          <a:lstStyle/>
          <a:p>
            <a:pPr indent="0" marL="0">
              <a:buNone/>
            </a:pPr>
            <a:r>
              <a:rPr lang="en-US" sz="1400" b="1" dirty="0">
                <a:solidFill>
                  <a:schemeClr val="bg1"/>
                </a:solidFill>
              </a:rPr>
              <a:t>3  Visit</a:t>
            </a:r>
            <a:endParaRPr lang="en-US" sz="1400" dirty="0"/>
          </a:p>
        </p:txBody>
      </p:sp>
      <p:sp>
        <p:nvSpPr>
          <p:cNvPr id="22" name="Client 3"/>
          <p:cNvSpPr/>
          <p:nvPr/>
        </p:nvSpPr>
        <p:spPr>
          <a:xfrm>
            <a:off x="5029200" y="2377440"/>
            <a:ext cx="2103120" cy="1554480"/>
          </a:xfrm>
          <a:prstGeom prst="rect">
            <a:avLst/>
          </a:prstGeom>
          <a:solidFill>
            <a:schemeClr val="bg2"/>
          </a:solidFill>
          <a:ln/>
        </p:spPr>
      </p:sp>
      <p:sp>
        <p:nvSpPr>
          <p:cNvPr id="23" name="Shape 19"/>
          <p:cNvSpPr/>
          <p:nvPr/>
        </p:nvSpPr>
        <p:spPr>
          <a:xfrm>
            <a:off x="5166360" y="2468880"/>
            <a:ext cx="411480" cy="411480"/>
          </a:xfrm>
          <a:prstGeom prst="ellipse">
            <a:avLst/>
          </a:prstGeom>
          <a:solidFill>
            <a:srgbClr val="D52B1E"/>
          </a:solidFill>
          <a:ln/>
        </p:spPr>
      </p:sp>
      <p:pic>
        <p:nvPicPr>
          <p:cNvPr id="24" name="Image 2" descr="icon">    </p:cNvPr>
          <p:cNvPicPr>
            <a:picLocks noChangeAspect="1"/>
          </p:cNvPicPr>
          <p:nvPr/>
        </p:nvPicPr>
        <p:blipFill>
          <a:blip r:embed="rId3"/>
          <a:stretch>
            <a:fillRect/>
          </a:stretch>
        </p:blipFill>
        <p:spPr>
          <a:xfrm>
            <a:off x="5269230" y="2571750"/>
            <a:ext cx="205740" cy="205740"/>
          </a:xfrm>
          <a:prstGeom prst="rect">
            <a:avLst/>
          </a:prstGeom>
        </p:spPr>
      </p:pic>
      <p:sp>
        <p:nvSpPr>
          <p:cNvPr id="25" name="Text 20"/>
          <p:cNvSpPr txBox="1"/>
          <p:nvPr/>
        </p:nvSpPr>
        <p:spPr>
          <a:xfrm>
            <a:off x="5166360" y="2944368"/>
            <a:ext cx="1828800" cy="960120"/>
          </a:xfrm>
          <a:prstGeom prst="rect">
            <a:avLst/>
          </a:prstGeom>
          <a:noFill/>
          <a:ln/>
        </p:spPr>
        <p:txBody>
          <a:bodyPr wrap="square" lIns="0" tIns="0" rIns="0" bIns="0" rtlCol="0" anchor="t"/>
          <a:lstStyle/>
          <a:p>
            <a:pPr indent="0" marL="0">
              <a:buNone/>
            </a:pPr>
            <a:r>
              <a:rPr lang="en-US" sz="1200" dirty="0">
                <a:solidFill>
                  <a:schemeClr val="tx1"/>
                </a:solidFill>
              </a:rPr>
              <a:t>She is greeted by name and her chosen pieces are ready to try.</a:t>
            </a:r>
            <a:endParaRPr lang="en-US" sz="1200" dirty="0"/>
          </a:p>
        </p:txBody>
      </p:sp>
      <p:sp>
        <p:nvSpPr>
          <p:cNvPr id="26" name="Colleague 3"/>
          <p:cNvSpPr/>
          <p:nvPr/>
        </p:nvSpPr>
        <p:spPr>
          <a:xfrm>
            <a:off x="5029200" y="4297680"/>
            <a:ext cx="2103120" cy="1417320"/>
          </a:xfrm>
          <a:prstGeom prst="rect">
            <a:avLst/>
          </a:prstGeom>
          <a:solidFill>
            <a:schemeClr val="tx2"/>
          </a:solidFill>
          <a:ln/>
        </p:spPr>
      </p:sp>
      <p:sp>
        <p:nvSpPr>
          <p:cNvPr id="27" name="Text 22"/>
          <p:cNvSpPr txBox="1"/>
          <p:nvPr/>
        </p:nvSpPr>
        <p:spPr>
          <a:xfrm>
            <a:off x="5166360" y="4389120"/>
            <a:ext cx="1828800" cy="1280160"/>
          </a:xfrm>
          <a:prstGeom prst="rect">
            <a:avLst/>
          </a:prstGeom>
          <a:noFill/>
          <a:ln/>
        </p:spPr>
        <p:txBody>
          <a:bodyPr wrap="square" lIns="0" tIns="0" rIns="0" bIns="0" rtlCol="0" anchor="t"/>
          <a:lstStyle/>
          <a:p>
            <a:pPr indent="0" marL="0">
              <a:buNone/>
            </a:pPr>
            <a:r>
              <a:rPr lang="en-US" sz="1200" dirty="0">
                <a:solidFill>
                  <a:schemeClr val="bg1"/>
                </a:solidFill>
              </a:rPr>
              <a:t>The associate sees her history and stock on one screen.</a:t>
            </a:r>
            <a:endParaRPr lang="en-US" sz="1200" dirty="0"/>
          </a:p>
        </p:txBody>
      </p:sp>
      <p:sp>
        <p:nvSpPr>
          <p:cNvPr id="28" name="Shape 23"/>
          <p:cNvSpPr/>
          <p:nvPr/>
        </p:nvSpPr>
        <p:spPr>
          <a:xfrm>
            <a:off x="7269480" y="1691640"/>
            <a:ext cx="2103120" cy="594360"/>
          </a:xfrm>
          <a:prstGeom prst="homePlate">
            <a:avLst/>
          </a:prstGeom>
          <a:solidFill>
            <a:schemeClr val="accent1"/>
          </a:solidFill>
          <a:ln/>
        </p:spPr>
      </p:sp>
      <p:sp>
        <p:nvSpPr>
          <p:cNvPr id="29" name="Text 24"/>
          <p:cNvSpPr txBox="1"/>
          <p:nvPr/>
        </p:nvSpPr>
        <p:spPr>
          <a:xfrm>
            <a:off x="7406640" y="1691640"/>
            <a:ext cx="1737360" cy="594360"/>
          </a:xfrm>
          <a:prstGeom prst="rect">
            <a:avLst/>
          </a:prstGeom>
          <a:noFill/>
          <a:ln/>
        </p:spPr>
        <p:txBody>
          <a:bodyPr wrap="square" lIns="0" tIns="0" rIns="0" bIns="0" rtlCol="0" anchor="ctr"/>
          <a:lstStyle/>
          <a:p>
            <a:pPr indent="0" marL="0">
              <a:buNone/>
            </a:pPr>
            <a:r>
              <a:rPr lang="en-US" sz="1400" b="1" dirty="0">
                <a:solidFill>
                  <a:schemeClr val="bg1"/>
                </a:solidFill>
              </a:rPr>
              <a:t>4  Take home</a:t>
            </a:r>
            <a:endParaRPr lang="en-US" sz="1400" dirty="0"/>
          </a:p>
        </p:txBody>
      </p:sp>
      <p:sp>
        <p:nvSpPr>
          <p:cNvPr id="30" name="Client 4"/>
          <p:cNvSpPr/>
          <p:nvPr/>
        </p:nvSpPr>
        <p:spPr>
          <a:xfrm>
            <a:off x="7269480" y="2377440"/>
            <a:ext cx="2103120" cy="1554480"/>
          </a:xfrm>
          <a:prstGeom prst="rect">
            <a:avLst/>
          </a:prstGeom>
          <a:solidFill>
            <a:schemeClr val="bg2"/>
          </a:solidFill>
          <a:ln/>
        </p:spPr>
      </p:sp>
      <p:sp>
        <p:nvSpPr>
          <p:cNvPr id="31" name="Shape 26"/>
          <p:cNvSpPr/>
          <p:nvPr/>
        </p:nvSpPr>
        <p:spPr>
          <a:xfrm>
            <a:off x="7406640" y="2468880"/>
            <a:ext cx="411480" cy="411480"/>
          </a:xfrm>
          <a:prstGeom prst="ellipse">
            <a:avLst/>
          </a:prstGeom>
          <a:solidFill>
            <a:srgbClr val="D52B1E"/>
          </a:solidFill>
          <a:ln/>
        </p:spPr>
      </p:sp>
      <p:pic>
        <p:nvPicPr>
          <p:cNvPr id="32" name="Image 3" descr="icon">    </p:cNvPr>
          <p:cNvPicPr>
            <a:picLocks noChangeAspect="1"/>
          </p:cNvPicPr>
          <p:nvPr/>
        </p:nvPicPr>
        <p:blipFill>
          <a:blip r:embed="rId4"/>
          <a:stretch>
            <a:fillRect/>
          </a:stretch>
        </p:blipFill>
        <p:spPr>
          <a:xfrm>
            <a:off x="7509510" y="2571750"/>
            <a:ext cx="205740" cy="205740"/>
          </a:xfrm>
          <a:prstGeom prst="rect">
            <a:avLst/>
          </a:prstGeom>
        </p:spPr>
      </p:pic>
      <p:sp>
        <p:nvSpPr>
          <p:cNvPr id="33" name="Text 27"/>
          <p:cNvSpPr txBox="1"/>
          <p:nvPr/>
        </p:nvSpPr>
        <p:spPr>
          <a:xfrm>
            <a:off x="7406640" y="2944368"/>
            <a:ext cx="1828800" cy="960120"/>
          </a:xfrm>
          <a:prstGeom prst="rect">
            <a:avLst/>
          </a:prstGeom>
          <a:noFill/>
          <a:ln/>
        </p:spPr>
        <p:txBody>
          <a:bodyPr wrap="square" lIns="0" tIns="0" rIns="0" bIns="0" rtlCol="0" anchor="t"/>
          <a:lstStyle/>
          <a:p>
            <a:pPr indent="0" marL="0">
              <a:buNone/>
            </a:pPr>
            <a:r>
              <a:rPr lang="en-US" sz="1200" dirty="0">
                <a:solidFill>
                  <a:schemeClr val="tx1"/>
                </a:solidFill>
              </a:rPr>
              <a:t>Her purchase arrives on time, and a return is simple.</a:t>
            </a:r>
            <a:endParaRPr lang="en-US" sz="1200" dirty="0"/>
          </a:p>
        </p:txBody>
      </p:sp>
      <p:sp>
        <p:nvSpPr>
          <p:cNvPr id="34" name="Colleague 4"/>
          <p:cNvSpPr/>
          <p:nvPr/>
        </p:nvSpPr>
        <p:spPr>
          <a:xfrm>
            <a:off x="7269480" y="4297680"/>
            <a:ext cx="2103120" cy="1417320"/>
          </a:xfrm>
          <a:prstGeom prst="rect">
            <a:avLst/>
          </a:prstGeom>
          <a:solidFill>
            <a:schemeClr val="tx2"/>
          </a:solidFill>
          <a:ln/>
        </p:spPr>
      </p:sp>
      <p:sp>
        <p:nvSpPr>
          <p:cNvPr id="35" name="Text 29"/>
          <p:cNvSpPr txBox="1"/>
          <p:nvPr/>
        </p:nvSpPr>
        <p:spPr>
          <a:xfrm>
            <a:off x="7406640" y="4389120"/>
            <a:ext cx="1828800" cy="1280160"/>
          </a:xfrm>
          <a:prstGeom prst="rect">
            <a:avLst/>
          </a:prstGeom>
          <a:noFill/>
          <a:ln/>
        </p:spPr>
        <p:txBody>
          <a:bodyPr wrap="square" lIns="0" tIns="0" rIns="0" bIns="0" rtlCol="0" anchor="t"/>
          <a:lstStyle/>
          <a:p>
            <a:pPr indent="0" marL="0">
              <a:buNone/>
            </a:pPr>
            <a:r>
              <a:rPr lang="en-US" sz="1200" dirty="0">
                <a:solidFill>
                  <a:schemeClr val="bg1"/>
                </a:solidFill>
              </a:rPr>
              <a:t>Store or online team books delivery from one stock view, no re-keying.</a:t>
            </a:r>
            <a:endParaRPr lang="en-US" sz="1200" dirty="0"/>
          </a:p>
        </p:txBody>
      </p:sp>
      <p:sp>
        <p:nvSpPr>
          <p:cNvPr id="36" name="Shape 30"/>
          <p:cNvSpPr/>
          <p:nvPr/>
        </p:nvSpPr>
        <p:spPr>
          <a:xfrm>
            <a:off x="9509760" y="1691640"/>
            <a:ext cx="2103120" cy="594360"/>
          </a:xfrm>
          <a:prstGeom prst="homePlate">
            <a:avLst/>
          </a:prstGeom>
          <a:solidFill>
            <a:schemeClr val="accent1"/>
          </a:solidFill>
          <a:ln/>
        </p:spPr>
      </p:sp>
      <p:sp>
        <p:nvSpPr>
          <p:cNvPr id="37" name="Text 31"/>
          <p:cNvSpPr txBox="1"/>
          <p:nvPr/>
        </p:nvSpPr>
        <p:spPr>
          <a:xfrm>
            <a:off x="9646920" y="1691640"/>
            <a:ext cx="1737360" cy="594360"/>
          </a:xfrm>
          <a:prstGeom prst="rect">
            <a:avLst/>
          </a:prstGeom>
          <a:noFill/>
          <a:ln/>
        </p:spPr>
        <p:txBody>
          <a:bodyPr wrap="square" lIns="0" tIns="0" rIns="0" bIns="0" rtlCol="0" anchor="ctr"/>
          <a:lstStyle/>
          <a:p>
            <a:pPr indent="0" marL="0">
              <a:buNone/>
            </a:pPr>
            <a:r>
              <a:rPr lang="en-US" sz="1400" b="1" dirty="0">
                <a:solidFill>
                  <a:schemeClr val="bg1"/>
                </a:solidFill>
              </a:rPr>
              <a:t>5  Return</a:t>
            </a:r>
            <a:endParaRPr lang="en-US" sz="1400" dirty="0"/>
          </a:p>
        </p:txBody>
      </p:sp>
      <p:sp>
        <p:nvSpPr>
          <p:cNvPr id="38" name="Client 5"/>
          <p:cNvSpPr/>
          <p:nvPr/>
        </p:nvSpPr>
        <p:spPr>
          <a:xfrm>
            <a:off x="9509760" y="2377440"/>
            <a:ext cx="2103120" cy="1554480"/>
          </a:xfrm>
          <a:prstGeom prst="rect">
            <a:avLst/>
          </a:prstGeom>
          <a:solidFill>
            <a:schemeClr val="bg2"/>
          </a:solidFill>
          <a:ln/>
        </p:spPr>
      </p:sp>
      <p:sp>
        <p:nvSpPr>
          <p:cNvPr id="39" name="Shape 33"/>
          <p:cNvSpPr/>
          <p:nvPr/>
        </p:nvSpPr>
        <p:spPr>
          <a:xfrm>
            <a:off x="9646920" y="2468880"/>
            <a:ext cx="411480" cy="411480"/>
          </a:xfrm>
          <a:prstGeom prst="ellipse">
            <a:avLst/>
          </a:prstGeom>
          <a:solidFill>
            <a:srgbClr val="D52B1E"/>
          </a:solidFill>
          <a:ln/>
        </p:spPr>
      </p:sp>
      <p:pic>
        <p:nvPicPr>
          <p:cNvPr id="40" name="Image 4" descr="icon">    </p:cNvPr>
          <p:cNvPicPr>
            <a:picLocks noChangeAspect="1"/>
          </p:cNvPicPr>
          <p:nvPr/>
        </p:nvPicPr>
        <p:blipFill>
          <a:blip r:embed="rId5"/>
          <a:stretch>
            <a:fillRect/>
          </a:stretch>
        </p:blipFill>
        <p:spPr>
          <a:xfrm>
            <a:off x="9749790" y="2571750"/>
            <a:ext cx="205740" cy="205740"/>
          </a:xfrm>
          <a:prstGeom prst="rect">
            <a:avLst/>
          </a:prstGeom>
        </p:spPr>
      </p:pic>
      <p:sp>
        <p:nvSpPr>
          <p:cNvPr id="41" name="Text 34"/>
          <p:cNvSpPr txBox="1"/>
          <p:nvPr/>
        </p:nvSpPr>
        <p:spPr>
          <a:xfrm>
            <a:off x="9646920" y="2944368"/>
            <a:ext cx="1828800" cy="960120"/>
          </a:xfrm>
          <a:prstGeom prst="rect">
            <a:avLst/>
          </a:prstGeom>
          <a:noFill/>
          <a:ln/>
        </p:spPr>
        <p:txBody>
          <a:bodyPr wrap="square" lIns="0" tIns="0" rIns="0" bIns="0" rtlCol="0" anchor="t"/>
          <a:lstStyle/>
          <a:p>
            <a:pPr indent="0" marL="0">
              <a:buNone/>
            </a:pPr>
            <a:r>
              <a:rPr lang="en-US" sz="1200" dirty="0">
                <a:solidFill>
                  <a:schemeClr val="tx1"/>
                </a:solidFill>
              </a:rPr>
              <a:t>Her stylist follows up with looks she will like and event invitations.</a:t>
            </a:r>
            <a:endParaRPr lang="en-US" sz="1200" dirty="0"/>
          </a:p>
        </p:txBody>
      </p:sp>
      <p:sp>
        <p:nvSpPr>
          <p:cNvPr id="42" name="Colleague 5"/>
          <p:cNvSpPr/>
          <p:nvPr/>
        </p:nvSpPr>
        <p:spPr>
          <a:xfrm>
            <a:off x="9509760" y="4297680"/>
            <a:ext cx="2103120" cy="1417320"/>
          </a:xfrm>
          <a:prstGeom prst="rect">
            <a:avLst/>
          </a:prstGeom>
          <a:solidFill>
            <a:schemeClr val="tx2"/>
          </a:solidFill>
          <a:ln/>
        </p:spPr>
      </p:sp>
      <p:sp>
        <p:nvSpPr>
          <p:cNvPr id="43" name="Text 36"/>
          <p:cNvSpPr txBox="1"/>
          <p:nvPr/>
        </p:nvSpPr>
        <p:spPr>
          <a:xfrm>
            <a:off x="9646920" y="4389120"/>
            <a:ext cx="1828800" cy="1280160"/>
          </a:xfrm>
          <a:prstGeom prst="rect">
            <a:avLst/>
          </a:prstGeom>
          <a:noFill/>
          <a:ln/>
        </p:spPr>
        <p:txBody>
          <a:bodyPr wrap="square" lIns="0" tIns="0" rIns="0" bIns="0" rtlCol="0" anchor="t"/>
          <a:lstStyle/>
          <a:p>
            <a:pPr indent="0" marL="0">
              <a:buNone/>
            </a:pPr>
            <a:r>
              <a:rPr lang="en-US" sz="1200" dirty="0">
                <a:solidFill>
                  <a:schemeClr val="bg1"/>
                </a:solidFill>
              </a:rPr>
              <a:t>The follow-up comes from the same profile; managers see results in one view.</a:t>
            </a:r>
            <a:endParaRPr lang="en-US" sz="1200" dirty="0"/>
          </a:p>
        </p:txBody>
      </p:sp>
      <p:sp>
        <p:nvSpPr>
          <p:cNvPr id="44" name="Text 37"/>
          <p:cNvSpPr txBox="1"/>
          <p:nvPr/>
        </p:nvSpPr>
        <p:spPr>
          <a:xfrm>
            <a:off x="548640" y="4023360"/>
            <a:ext cx="4572000" cy="274320"/>
          </a:xfrm>
          <a:prstGeom prst="rect">
            <a:avLst/>
          </a:prstGeom>
          <a:noFill/>
          <a:ln/>
        </p:spPr>
        <p:txBody>
          <a:bodyPr wrap="square" lIns="0" tIns="0" rIns="0" bIns="0" rtlCol="0" anchor="t"/>
          <a:lstStyle/>
          <a:p>
            <a:pPr indent="0" marL="0">
              <a:buNone/>
            </a:pPr>
            <a:r>
              <a:rPr lang="en-US" sz="1100" b="1" spc="200" kern="0" dirty="0">
                <a:solidFill>
                  <a:schemeClr val="tx2"/>
                </a:solidFill>
              </a:rPr>
              <a:t>THE COLLEAGUE WHO SERVES HER</a:t>
            </a:r>
            <a:endParaRPr lang="en-US" sz="1100" dirty="0"/>
          </a:p>
        </p:txBody>
      </p:sp>
      <p:sp>
        <p:nvSpPr>
          <p:cNvPr id="45" name="Text 38"/>
          <p:cNvSpPr txBox="1"/>
          <p:nvPr/>
        </p:nvSpPr>
        <p:spPr>
          <a:xfrm>
            <a:off x="548640" y="5852160"/>
            <a:ext cx="11064240" cy="457200"/>
          </a:xfrm>
          <a:prstGeom prst="rect">
            <a:avLst/>
          </a:prstGeom>
          <a:noFill/>
          <a:ln/>
        </p:spPr>
        <p:txBody>
          <a:bodyPr wrap="square" lIns="0" tIns="0" rIns="0" bIns="0" rtlCol="0" anchor="t"/>
          <a:lstStyle/>
          <a:p>
            <a:pPr indent="0" marL="0">
              <a:buNone/>
            </a:pPr>
            <a:r>
              <a:rPr lang="en-US" sz="1400" i="1" dirty="0">
                <a:solidFill>
                  <a:schemeClr val="tx1"/>
                </a:solidFill>
                <a:latin typeface="+mj-lt" pitchFamily="34" charset="0"/>
                <a:ea typeface="+mj-lt" pitchFamily="34" charset="-122"/>
                <a:cs typeface="+mj-lt" pitchFamily="34" charset="-120"/>
              </a:rPr>
              <a:t>One profile and one stock view lift the client’s experience and end the manual data reconciling staff dislike.</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2800" b="1" dirty="0">
                <a:solidFill>
                  <a:schemeClr val="tx1"/>
                </a:solidFill>
              </a:rPr>
              <a:t>The idea funds itself: about two points of cost closes the margin gap, and £2bn needs 9.6% a year</a:t>
            </a:r>
            <a:endParaRPr lang="en-US" sz="2800" dirty="0"/>
          </a:p>
        </p:txBody>
      </p:sp>
      <p:graphicFrame>
        <p:nvGraphicFramePr>
          <p:cNvPr id="3" name="Chart 0" descr=""/>
          <p:cNvGraphicFramePr/>
          <p:nvPr/>
        </p:nvGraphicFramePr>
        <p:xfrm>
          <a:off x="548640" y="1508760"/>
          <a:ext cx="5394960" cy="338328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 descr=""/>
          <p:cNvGraphicFramePr/>
          <p:nvPr/>
        </p:nvGraphicFramePr>
        <p:xfrm>
          <a:off x="6217920" y="1508760"/>
          <a:ext cx="5394960" cy="3383280"/>
        </p:xfrm>
        <a:graphic xmlns:a="http://schemas.openxmlformats.org/drawingml/2006/main">
          <a:graphicData uri="http://schemas.openxmlformats.org/drawingml/2006/chart">
            <c:chart xmlns:c="http://schemas.openxmlformats.org/drawingml/2006/chart" r:id="rId2"/>
          </a:graphicData>
        </a:graphic>
      </p:graphicFrame>
      <p:sp>
        <p:nvSpPr>
          <p:cNvPr id="5" name="Margin card"/>
          <p:cNvSpPr/>
          <p:nvPr/>
        </p:nvSpPr>
        <p:spPr>
          <a:xfrm>
            <a:off x="548640" y="5029200"/>
            <a:ext cx="5394960" cy="1188720"/>
          </a:xfrm>
          <a:prstGeom prst="rect">
            <a:avLst/>
          </a:prstGeom>
          <a:solidFill>
            <a:schemeClr val="bg2"/>
          </a:solidFill>
          <a:ln/>
        </p:spPr>
      </p:sp>
      <p:sp>
        <p:nvSpPr>
          <p:cNvPr id="6" name="Text 2"/>
          <p:cNvSpPr txBox="1"/>
          <p:nvPr/>
        </p:nvSpPr>
        <p:spPr>
          <a:xfrm>
            <a:off x="731520" y="5029200"/>
            <a:ext cx="5029200" cy="1188720"/>
          </a:xfrm>
          <a:prstGeom prst="rect">
            <a:avLst/>
          </a:prstGeom>
          <a:noFill/>
          <a:ln/>
        </p:spPr>
        <p:txBody>
          <a:bodyPr wrap="square" lIns="0" tIns="0" rIns="0" bIns="0" rtlCol="0" anchor="ctr"/>
          <a:lstStyle/>
          <a:p>
            <a:pPr indent="0" marL="0">
              <a:buNone/>
            </a:pPr>
            <a:r>
              <a:rPr lang="en-US" sz="1300" b="1" dirty="0">
                <a:solidFill>
                  <a:schemeClr val="accent1"/>
                </a:solidFill>
              </a:rPr>
              <a:t>Gap: £24.8m. </a:t>
            </a:r>
            <a:pPr indent="0" marL="0">
              <a:buNone/>
            </a:pPr>
            <a:r>
              <a:rPr lang="en-US" sz="1300" dirty="0">
                <a:solidFill>
                  <a:schemeClr val="tx1"/>
                </a:solidFill>
              </a:rPr>
              <a:t>One point of revenue is £12.6m, so about two points of logistics and admin cost closes it. Logistics alone is 17.5%.</a:t>
            </a:r>
            <a:endParaRPr lang="en-US" sz="1300" dirty="0"/>
          </a:p>
        </p:txBody>
      </p:sp>
      <p:sp>
        <p:nvSpPr>
          <p:cNvPr id="7" name="Growth card"/>
          <p:cNvSpPr/>
          <p:nvPr/>
        </p:nvSpPr>
        <p:spPr>
          <a:xfrm>
            <a:off x="6217920" y="5029200"/>
            <a:ext cx="5394960" cy="1188720"/>
          </a:xfrm>
          <a:prstGeom prst="rect">
            <a:avLst/>
          </a:prstGeom>
          <a:solidFill>
            <a:schemeClr val="bg2"/>
          </a:solidFill>
          <a:ln/>
        </p:spPr>
      </p:sp>
      <p:sp>
        <p:nvSpPr>
          <p:cNvPr id="8" name="Text 4"/>
          <p:cNvSpPr txBox="1"/>
          <p:nvPr/>
        </p:nvSpPr>
        <p:spPr>
          <a:xfrm>
            <a:off x="6400800" y="5029200"/>
            <a:ext cx="5029200" cy="1188720"/>
          </a:xfrm>
          <a:prstGeom prst="rect">
            <a:avLst/>
          </a:prstGeom>
          <a:noFill/>
          <a:ln/>
        </p:spPr>
        <p:txBody>
          <a:bodyPr wrap="square" lIns="0" tIns="0" rIns="0" bIns="0" rtlCol="0" anchor="ctr"/>
          <a:lstStyle/>
          <a:p>
            <a:pPr indent="0" marL="0">
              <a:buNone/>
            </a:pPr>
            <a:r>
              <a:rPr lang="en-US" sz="1300" b="1" dirty="0">
                <a:solidFill>
                  <a:schemeClr val="accent1"/>
                </a:solidFill>
              </a:rPr>
              <a:t>Growth: +58%. </a:t>
            </a:r>
            <a:pPr indent="0" marL="0">
              <a:buNone/>
            </a:pPr>
            <a:r>
              <a:rPr lang="en-US" sz="1300" dirty="0">
                <a:solidFill>
                  <a:schemeClr val="tx1"/>
                </a:solidFill>
              </a:rPr>
              <a:t>£2bn needs 9.6% a year for five years, against −1.1% for store sales in FY-1. Growth has to come from value per visit and online.</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2800" b="1" dirty="0">
                <a:solidFill>
                  <a:schemeClr val="tx1"/>
                </a:solidFill>
              </a:rPr>
              <a:t>We will co-create the first pilot with you in the room</a:t>
            </a:r>
            <a:endParaRPr lang="en-US" sz="2800" dirty="0"/>
          </a:p>
        </p:txBody>
      </p:sp>
      <p:sp>
        <p:nvSpPr>
          <p:cNvPr id="3" name="Shape 1"/>
          <p:cNvSpPr/>
          <p:nvPr/>
        </p:nvSpPr>
        <p:spPr>
          <a:xfrm>
            <a:off x="548640" y="1508760"/>
            <a:ext cx="3611880" cy="777240"/>
          </a:xfrm>
          <a:prstGeom prst="homePlate">
            <a:avLst/>
          </a:prstGeom>
          <a:solidFill>
            <a:schemeClr val="accent1"/>
          </a:solidFill>
          <a:ln/>
        </p:spPr>
      </p:sp>
      <p:sp>
        <p:nvSpPr>
          <p:cNvPr id="4" name="Text 2"/>
          <p:cNvSpPr txBox="1"/>
          <p:nvPr/>
        </p:nvSpPr>
        <p:spPr>
          <a:xfrm>
            <a:off x="731520" y="1508760"/>
            <a:ext cx="2926080" cy="777240"/>
          </a:xfrm>
          <a:prstGeom prst="rect">
            <a:avLst/>
          </a:prstGeom>
          <a:noFill/>
          <a:ln/>
        </p:spPr>
        <p:txBody>
          <a:bodyPr wrap="square" lIns="0" tIns="0" rIns="0" bIns="0" rtlCol="0" anchor="ctr"/>
          <a:lstStyle/>
          <a:p>
            <a:pPr indent="0" marL="0">
              <a:buNone/>
            </a:pPr>
            <a:r>
              <a:rPr lang="en-US" sz="1600" b="1" dirty="0">
                <a:solidFill>
                  <a:schemeClr val="bg1"/>
                </a:solidFill>
              </a:rPr>
              <a:t>1  Walk the journey</a:t>
            </a:r>
            <a:endParaRPr lang="en-US" sz="1600" dirty="0"/>
          </a:p>
          <a:p>
            <a:pPr indent="0" marL="0">
              <a:buNone/>
            </a:pPr>
            <a:r>
              <a:rPr lang="en-US" sz="1200" dirty="0">
                <a:solidFill>
                  <a:schemeClr val="bg1"/>
                </a:solidFill>
              </a:rPr>
              <a:t>5 min</a:t>
            </a:r>
            <a:endParaRPr lang="en-US" sz="1600" dirty="0"/>
          </a:p>
        </p:txBody>
      </p:sp>
      <p:sp>
        <p:nvSpPr>
          <p:cNvPr id="5" name="Step card 1"/>
          <p:cNvSpPr/>
          <p:nvPr/>
        </p:nvSpPr>
        <p:spPr>
          <a:xfrm>
            <a:off x="548640" y="2468880"/>
            <a:ext cx="3520440" cy="1920240"/>
          </a:xfrm>
          <a:prstGeom prst="rect">
            <a:avLst/>
          </a:prstGeom>
          <a:solidFill>
            <a:schemeClr val="bg2"/>
          </a:solidFill>
          <a:ln/>
        </p:spPr>
      </p:sp>
      <p:sp>
        <p:nvSpPr>
          <p:cNvPr id="6" name="Shape 4"/>
          <p:cNvSpPr/>
          <p:nvPr/>
        </p:nvSpPr>
        <p:spPr>
          <a:xfrm>
            <a:off x="731520" y="2606040"/>
            <a:ext cx="502920" cy="502920"/>
          </a:xfrm>
          <a:prstGeom prst="ellipse">
            <a:avLst/>
          </a:prstGeom>
          <a:solidFill>
            <a:srgbClr val="D52B1E"/>
          </a:solidFill>
          <a:ln/>
        </p:spPr>
      </p:sp>
      <p:pic>
        <p:nvPicPr>
          <p:cNvPr id="7" name="Image 0" descr="icon">    </p:cNvPr>
          <p:cNvPicPr>
            <a:picLocks noChangeAspect="1"/>
          </p:cNvPicPr>
          <p:nvPr/>
        </p:nvPicPr>
        <p:blipFill>
          <a:blip r:embed="rId1"/>
          <a:stretch>
            <a:fillRect/>
          </a:stretch>
        </p:blipFill>
        <p:spPr>
          <a:xfrm>
            <a:off x="857250" y="2731770"/>
            <a:ext cx="251460" cy="251460"/>
          </a:xfrm>
          <a:prstGeom prst="rect">
            <a:avLst/>
          </a:prstGeom>
        </p:spPr>
      </p:pic>
      <p:sp>
        <p:nvSpPr>
          <p:cNvPr id="8" name="Text 5"/>
          <p:cNvSpPr txBox="1"/>
          <p:nvPr/>
        </p:nvSpPr>
        <p:spPr>
          <a:xfrm>
            <a:off x="731520" y="3200400"/>
            <a:ext cx="3154680" cy="1143000"/>
          </a:xfrm>
          <a:prstGeom prst="rect">
            <a:avLst/>
          </a:prstGeom>
          <a:noFill/>
          <a:ln/>
        </p:spPr>
        <p:txBody>
          <a:bodyPr wrap="square" lIns="0" tIns="0" rIns="0" bIns="0" rtlCol="0" anchor="t"/>
          <a:lstStyle/>
          <a:p>
            <a:pPr indent="0" marL="0">
              <a:buNone/>
            </a:pPr>
            <a:r>
              <a:rPr lang="en-US" sz="1300" dirty="0">
                <a:solidFill>
                  <a:schemeClr val="tx1"/>
                </a:solidFill>
              </a:rPr>
              <a:t>We draw the client’s day on the wall in five steps, as on slide 14.</a:t>
            </a:r>
            <a:endParaRPr lang="en-US" sz="1300" dirty="0"/>
          </a:p>
        </p:txBody>
      </p:sp>
      <p:sp>
        <p:nvSpPr>
          <p:cNvPr id="9" name="Shape 6"/>
          <p:cNvSpPr/>
          <p:nvPr/>
        </p:nvSpPr>
        <p:spPr>
          <a:xfrm>
            <a:off x="4297680" y="1508760"/>
            <a:ext cx="3611880" cy="777240"/>
          </a:xfrm>
          <a:prstGeom prst="homePlate">
            <a:avLst/>
          </a:prstGeom>
          <a:solidFill>
            <a:schemeClr val="accent2"/>
          </a:solidFill>
          <a:ln/>
        </p:spPr>
      </p:sp>
      <p:sp>
        <p:nvSpPr>
          <p:cNvPr id="10" name="Text 7"/>
          <p:cNvSpPr txBox="1"/>
          <p:nvPr/>
        </p:nvSpPr>
        <p:spPr>
          <a:xfrm>
            <a:off x="4480560" y="1508760"/>
            <a:ext cx="2926080" cy="777240"/>
          </a:xfrm>
          <a:prstGeom prst="rect">
            <a:avLst/>
          </a:prstGeom>
          <a:noFill/>
          <a:ln/>
        </p:spPr>
        <p:txBody>
          <a:bodyPr wrap="square" lIns="0" tIns="0" rIns="0" bIns="0" rtlCol="0" anchor="ctr"/>
          <a:lstStyle/>
          <a:p>
            <a:pPr indent="0" marL="0">
              <a:buNone/>
            </a:pPr>
            <a:r>
              <a:rPr lang="en-US" sz="1600" b="1" dirty="0">
                <a:solidFill>
                  <a:schemeClr val="bg1"/>
                </a:solidFill>
              </a:rPr>
              <a:t>2  Mark the moments</a:t>
            </a:r>
            <a:endParaRPr lang="en-US" sz="1600" dirty="0"/>
          </a:p>
          <a:p>
            <a:pPr indent="0" marL="0">
              <a:buNone/>
            </a:pPr>
            <a:r>
              <a:rPr lang="en-US" sz="1200" dirty="0">
                <a:solidFill>
                  <a:schemeClr val="bg1"/>
                </a:solidFill>
              </a:rPr>
              <a:t>5 min</a:t>
            </a:r>
            <a:endParaRPr lang="en-US" sz="1600" dirty="0"/>
          </a:p>
        </p:txBody>
      </p:sp>
      <p:sp>
        <p:nvSpPr>
          <p:cNvPr id="11" name="Step card 2"/>
          <p:cNvSpPr/>
          <p:nvPr/>
        </p:nvSpPr>
        <p:spPr>
          <a:xfrm>
            <a:off x="4297680" y="2468880"/>
            <a:ext cx="3520440" cy="1920240"/>
          </a:xfrm>
          <a:prstGeom prst="rect">
            <a:avLst/>
          </a:prstGeom>
          <a:solidFill>
            <a:schemeClr val="bg2"/>
          </a:solidFill>
          <a:ln/>
        </p:spPr>
      </p:sp>
      <p:sp>
        <p:nvSpPr>
          <p:cNvPr id="12" name="Shape 9"/>
          <p:cNvSpPr/>
          <p:nvPr/>
        </p:nvSpPr>
        <p:spPr>
          <a:xfrm>
            <a:off x="4480560" y="2606040"/>
            <a:ext cx="502920" cy="502920"/>
          </a:xfrm>
          <a:prstGeom prst="ellipse">
            <a:avLst/>
          </a:prstGeom>
          <a:solidFill>
            <a:srgbClr val="D52B1E"/>
          </a:solidFill>
          <a:ln/>
        </p:spPr>
      </p:sp>
      <p:pic>
        <p:nvPicPr>
          <p:cNvPr id="13" name="Image 1" descr="icon">    </p:cNvPr>
          <p:cNvPicPr>
            <a:picLocks noChangeAspect="1"/>
          </p:cNvPicPr>
          <p:nvPr/>
        </p:nvPicPr>
        <p:blipFill>
          <a:blip r:embed="rId2"/>
          <a:stretch>
            <a:fillRect/>
          </a:stretch>
        </p:blipFill>
        <p:spPr>
          <a:xfrm>
            <a:off x="4606290" y="2731770"/>
            <a:ext cx="251460" cy="251460"/>
          </a:xfrm>
          <a:prstGeom prst="rect">
            <a:avLst/>
          </a:prstGeom>
        </p:spPr>
      </p:pic>
      <p:sp>
        <p:nvSpPr>
          <p:cNvPr id="14" name="Text 10"/>
          <p:cNvSpPr txBox="1"/>
          <p:nvPr/>
        </p:nvSpPr>
        <p:spPr>
          <a:xfrm>
            <a:off x="4480560" y="3200400"/>
            <a:ext cx="3154680" cy="1143000"/>
          </a:xfrm>
          <a:prstGeom prst="rect">
            <a:avLst/>
          </a:prstGeom>
          <a:noFill/>
          <a:ln/>
        </p:spPr>
        <p:txBody>
          <a:bodyPr wrap="square" lIns="0" tIns="0" rIns="0" bIns="0" rtlCol="0" anchor="t"/>
          <a:lstStyle/>
          <a:p>
            <a:pPr indent="0" marL="0">
              <a:buNone/>
            </a:pPr>
            <a:r>
              <a:rPr lang="en-US" sz="1300" dirty="0">
                <a:solidFill>
                  <a:schemeClr val="tx1"/>
                </a:solidFill>
              </a:rPr>
              <a:t>You add notes where V&amp;S delights the client and where it loses her, next to four data cards: value per sale, 982,000 visits, help-page views, logistics cost.</a:t>
            </a:r>
            <a:endParaRPr lang="en-US" sz="1300" dirty="0"/>
          </a:p>
        </p:txBody>
      </p:sp>
      <p:sp>
        <p:nvSpPr>
          <p:cNvPr id="15" name="Shape 11"/>
          <p:cNvSpPr/>
          <p:nvPr/>
        </p:nvSpPr>
        <p:spPr>
          <a:xfrm>
            <a:off x="8046720" y="1508760"/>
            <a:ext cx="3611880" cy="777240"/>
          </a:xfrm>
          <a:prstGeom prst="homePlate">
            <a:avLst/>
          </a:prstGeom>
          <a:solidFill>
            <a:schemeClr val="accent3"/>
          </a:solidFill>
          <a:ln/>
        </p:spPr>
      </p:sp>
      <p:sp>
        <p:nvSpPr>
          <p:cNvPr id="16" name="Text 12"/>
          <p:cNvSpPr txBox="1"/>
          <p:nvPr/>
        </p:nvSpPr>
        <p:spPr>
          <a:xfrm>
            <a:off x="8229600" y="1508760"/>
            <a:ext cx="2926080" cy="777240"/>
          </a:xfrm>
          <a:prstGeom prst="rect">
            <a:avLst/>
          </a:prstGeom>
          <a:noFill/>
          <a:ln/>
        </p:spPr>
        <p:txBody>
          <a:bodyPr wrap="square" lIns="0" tIns="0" rIns="0" bIns="0" rtlCol="0" anchor="ctr"/>
          <a:lstStyle/>
          <a:p>
            <a:pPr indent="0" marL="0">
              <a:buNone/>
            </a:pPr>
            <a:r>
              <a:rPr lang="en-US" sz="1600" b="1" dirty="0">
                <a:solidFill>
                  <a:schemeClr val="tx1"/>
                </a:solidFill>
              </a:rPr>
              <a:t>3  Pick the pilot</a:t>
            </a:r>
            <a:endParaRPr lang="en-US" sz="1600" dirty="0"/>
          </a:p>
          <a:p>
            <a:pPr indent="0" marL="0">
              <a:buNone/>
            </a:pPr>
            <a:r>
              <a:rPr lang="en-US" sz="1200" dirty="0">
                <a:solidFill>
                  <a:schemeClr val="tx1"/>
                </a:solidFill>
              </a:rPr>
              <a:t>5 min</a:t>
            </a:r>
            <a:endParaRPr lang="en-US" sz="1600" dirty="0"/>
          </a:p>
        </p:txBody>
      </p:sp>
      <p:sp>
        <p:nvSpPr>
          <p:cNvPr id="17" name="Step card 3"/>
          <p:cNvSpPr/>
          <p:nvPr/>
        </p:nvSpPr>
        <p:spPr>
          <a:xfrm>
            <a:off x="8046720" y="2468880"/>
            <a:ext cx="3520440" cy="1920240"/>
          </a:xfrm>
          <a:prstGeom prst="rect">
            <a:avLst/>
          </a:prstGeom>
          <a:solidFill>
            <a:schemeClr val="bg2"/>
          </a:solidFill>
          <a:ln/>
        </p:spPr>
      </p:sp>
      <p:sp>
        <p:nvSpPr>
          <p:cNvPr id="18" name="Shape 14"/>
          <p:cNvSpPr/>
          <p:nvPr/>
        </p:nvSpPr>
        <p:spPr>
          <a:xfrm>
            <a:off x="8229600" y="2606040"/>
            <a:ext cx="502920" cy="502920"/>
          </a:xfrm>
          <a:prstGeom prst="ellipse">
            <a:avLst/>
          </a:prstGeom>
          <a:solidFill>
            <a:srgbClr val="D52B1E"/>
          </a:solidFill>
          <a:ln/>
        </p:spPr>
      </p:sp>
      <p:pic>
        <p:nvPicPr>
          <p:cNvPr id="19" name="Image 2" descr="icon">    </p:cNvPr>
          <p:cNvPicPr>
            <a:picLocks noChangeAspect="1"/>
          </p:cNvPicPr>
          <p:nvPr/>
        </p:nvPicPr>
        <p:blipFill>
          <a:blip r:embed="rId3"/>
          <a:stretch>
            <a:fillRect/>
          </a:stretch>
        </p:blipFill>
        <p:spPr>
          <a:xfrm>
            <a:off x="8355330" y="2731770"/>
            <a:ext cx="251460" cy="251460"/>
          </a:xfrm>
          <a:prstGeom prst="rect">
            <a:avLst/>
          </a:prstGeom>
        </p:spPr>
      </p:pic>
      <p:sp>
        <p:nvSpPr>
          <p:cNvPr id="20" name="Text 15"/>
          <p:cNvSpPr txBox="1"/>
          <p:nvPr/>
        </p:nvSpPr>
        <p:spPr>
          <a:xfrm>
            <a:off x="8229600" y="3200400"/>
            <a:ext cx="3154680" cy="1143000"/>
          </a:xfrm>
          <a:prstGeom prst="rect">
            <a:avLst/>
          </a:prstGeom>
          <a:noFill/>
          <a:ln/>
        </p:spPr>
        <p:txBody>
          <a:bodyPr wrap="square" lIns="0" tIns="0" rIns="0" bIns="0" rtlCol="0" anchor="t"/>
          <a:lstStyle/>
          <a:p>
            <a:pPr indent="0" marL="0">
              <a:buNone/>
            </a:pPr>
            <a:r>
              <a:rPr lang="en-US" sz="1300" dirty="0">
                <a:solidFill>
                  <a:schemeClr val="tx1"/>
                </a:solidFill>
              </a:rPr>
              <a:t>Each of you places three dots on the moments to prototype first in London and Birmingham.</a:t>
            </a:r>
            <a:endParaRPr lang="en-US" sz="1300" dirty="0"/>
          </a:p>
        </p:txBody>
      </p:sp>
      <p:sp>
        <p:nvSpPr>
          <p:cNvPr id="21" name="Outcome card"/>
          <p:cNvSpPr/>
          <p:nvPr/>
        </p:nvSpPr>
        <p:spPr>
          <a:xfrm>
            <a:off x="548640" y="4617720"/>
            <a:ext cx="5440680" cy="1600200"/>
          </a:xfrm>
          <a:prstGeom prst="rect">
            <a:avLst/>
          </a:prstGeom>
          <a:solidFill>
            <a:schemeClr val="tx1"/>
          </a:solidFill>
          <a:ln/>
        </p:spPr>
      </p:sp>
      <p:sp>
        <p:nvSpPr>
          <p:cNvPr id="22" name="Text 17"/>
          <p:cNvSpPr txBox="1"/>
          <p:nvPr/>
        </p:nvSpPr>
        <p:spPr>
          <a:xfrm>
            <a:off x="777240" y="4709160"/>
            <a:ext cx="4937760" cy="274320"/>
          </a:xfrm>
          <a:prstGeom prst="rect">
            <a:avLst/>
          </a:prstGeom>
          <a:noFill/>
          <a:ln/>
        </p:spPr>
        <p:txBody>
          <a:bodyPr wrap="square" lIns="0" tIns="0" rIns="0" bIns="0" rtlCol="0" anchor="t"/>
          <a:lstStyle/>
          <a:p>
            <a:pPr indent="0" marL="0">
              <a:buNone/>
            </a:pPr>
            <a:r>
              <a:rPr lang="en-US" sz="1100" b="1" spc="200" kern="0" dirty="0">
                <a:solidFill>
                  <a:schemeClr val="accent3"/>
                </a:solidFill>
              </a:rPr>
              <a:t>WHAT WE GET</a:t>
            </a:r>
            <a:endParaRPr lang="en-US" sz="1100" dirty="0"/>
          </a:p>
        </p:txBody>
      </p:sp>
      <p:sp>
        <p:nvSpPr>
          <p:cNvPr id="23" name="Text 18"/>
          <p:cNvSpPr txBox="1"/>
          <p:nvPr/>
        </p:nvSpPr>
        <p:spPr>
          <a:xfrm>
            <a:off x="777240" y="5029200"/>
            <a:ext cx="4983480" cy="1097280"/>
          </a:xfrm>
          <a:prstGeom prst="rect">
            <a:avLst/>
          </a:prstGeom>
          <a:noFill/>
          <a:ln/>
        </p:spPr>
        <p:txBody>
          <a:bodyPr wrap="square" lIns="0" tIns="0" rIns="0" bIns="0" rtlCol="0" anchor="t"/>
          <a:lstStyle/>
          <a:p>
            <a:pPr indent="0" marL="0">
              <a:buNone/>
            </a:pPr>
            <a:r>
              <a:rPr lang="en-US" sz="1500" dirty="0">
                <a:solidFill>
                  <a:schemeClr val="bg1"/>
                </a:solidFill>
              </a:rPr>
              <a:t>Your priorities, tested assumptions and an agreed first pilot, with the people who will own it.</a:t>
            </a:r>
            <a:endParaRPr lang="en-US" sz="1500" dirty="0"/>
          </a:p>
        </p:txBody>
      </p:sp>
      <p:sp>
        <p:nvSpPr>
          <p:cNvPr id="24" name="Colleague card"/>
          <p:cNvSpPr/>
          <p:nvPr/>
        </p:nvSpPr>
        <p:spPr>
          <a:xfrm>
            <a:off x="6172200" y="4617720"/>
            <a:ext cx="5440680" cy="1600200"/>
          </a:xfrm>
          <a:prstGeom prst="rect">
            <a:avLst/>
          </a:prstGeom>
          <a:solidFill>
            <a:schemeClr val="accent1"/>
          </a:solidFill>
          <a:ln/>
        </p:spPr>
      </p:sp>
      <p:sp>
        <p:nvSpPr>
          <p:cNvPr id="25" name="Text 20"/>
          <p:cNvSpPr txBox="1"/>
          <p:nvPr/>
        </p:nvSpPr>
        <p:spPr>
          <a:xfrm>
            <a:off x="6400800" y="4709160"/>
            <a:ext cx="4937760" cy="274320"/>
          </a:xfrm>
          <a:prstGeom prst="rect">
            <a:avLst/>
          </a:prstGeom>
          <a:noFill/>
          <a:ln/>
        </p:spPr>
        <p:txBody>
          <a:bodyPr wrap="square" lIns="0" tIns="0" rIns="0" bIns="0" rtlCol="0" anchor="t"/>
          <a:lstStyle/>
          <a:p>
            <a:pPr indent="0" marL="0">
              <a:buNone/>
            </a:pPr>
            <a:r>
              <a:rPr lang="en-US" sz="1100" b="1" spc="200" kern="0" dirty="0">
                <a:solidFill>
                  <a:schemeClr val="bg1"/>
                </a:solidFill>
              </a:rPr>
              <a:t>FOR YOUR TEAMS</a:t>
            </a:r>
            <a:endParaRPr lang="en-US" sz="1100" dirty="0"/>
          </a:p>
        </p:txBody>
      </p:sp>
      <p:sp>
        <p:nvSpPr>
          <p:cNvPr id="26" name="Text 21"/>
          <p:cNvSpPr txBox="1"/>
          <p:nvPr/>
        </p:nvSpPr>
        <p:spPr>
          <a:xfrm>
            <a:off x="6400800" y="5029200"/>
            <a:ext cx="4983480" cy="1097280"/>
          </a:xfrm>
          <a:prstGeom prst="rect">
            <a:avLst/>
          </a:prstGeom>
          <a:noFill/>
          <a:ln/>
        </p:spPr>
        <p:txBody>
          <a:bodyPr wrap="square" lIns="0" tIns="0" rIns="0" bIns="0" rtlCol="0" anchor="t"/>
          <a:lstStyle/>
          <a:p>
            <a:pPr indent="0" marL="0">
              <a:buNone/>
            </a:pPr>
            <a:r>
              <a:rPr lang="en-US" sz="1500" dirty="0">
                <a:solidFill>
                  <a:schemeClr val="bg1"/>
                </a:solidFill>
              </a:rPr>
              <a:t>Store and online colleagues can run the same session on their own day, so the pilot is built with the people who deliver it.</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1005840"/>
          </a:xfrm>
          <a:prstGeom prst="rect">
            <a:avLst/>
          </a:prstGeom>
          <a:noFill/>
          <a:ln/>
        </p:spPr>
        <p:txBody>
          <a:bodyPr wrap="square" lIns="0" tIns="0" rIns="0" bIns="0" rtlCol="0" anchor="t"/>
          <a:lstStyle/>
          <a:p>
            <a:pPr algn="l" indent="0" marL="0">
              <a:buNone/>
            </a:pPr>
            <a:r>
              <a:rPr lang="en-US" sz="2800" b="1" dirty="0">
                <a:solidFill>
                  <a:schemeClr val="bg1"/>
                </a:solidFill>
              </a:rPr>
              <a:t>We ask for three decisions today and will deliver facts in 30 days</a:t>
            </a:r>
            <a:endParaRPr lang="en-US" sz="2800" dirty="0"/>
          </a:p>
        </p:txBody>
      </p:sp>
      <p:sp>
        <p:nvSpPr>
          <p:cNvPr id="3" name="Decisions card"/>
          <p:cNvSpPr/>
          <p:nvPr/>
        </p:nvSpPr>
        <p:spPr>
          <a:xfrm>
            <a:off x="548640" y="1645920"/>
            <a:ext cx="5486400" cy="4206240"/>
          </a:xfrm>
          <a:prstGeom prst="rect">
            <a:avLst/>
          </a:prstGeom>
          <a:solidFill>
            <a:schemeClr val="accent1"/>
          </a:solidFill>
          <a:ln/>
        </p:spPr>
      </p:sp>
      <p:sp>
        <p:nvSpPr>
          <p:cNvPr id="4" name="Text 2"/>
          <p:cNvSpPr txBox="1"/>
          <p:nvPr/>
        </p:nvSpPr>
        <p:spPr>
          <a:xfrm>
            <a:off x="822960" y="1874520"/>
            <a:ext cx="4937760" cy="457200"/>
          </a:xfrm>
          <a:prstGeom prst="rect">
            <a:avLst/>
          </a:prstGeom>
          <a:noFill/>
          <a:ln/>
        </p:spPr>
        <p:txBody>
          <a:bodyPr wrap="square" lIns="0" tIns="0" rIns="0" bIns="0" rtlCol="0" anchor="t"/>
          <a:lstStyle/>
          <a:p>
            <a:pPr indent="0" marL="0">
              <a:buNone/>
            </a:pPr>
            <a:r>
              <a:rPr lang="en-US" sz="2200" b="1" dirty="0">
                <a:solidFill>
                  <a:schemeClr val="bg1"/>
                </a:solidFill>
                <a:latin typeface="+mj-lt" pitchFamily="34" charset="0"/>
                <a:ea typeface="+mj-lt" pitchFamily="34" charset="-122"/>
                <a:cs typeface="+mj-lt" pitchFamily="34" charset="-120"/>
              </a:rPr>
              <a:t>Decisions today</a:t>
            </a:r>
            <a:endParaRPr lang="en-US" sz="2200" dirty="0"/>
          </a:p>
        </p:txBody>
      </p:sp>
      <p:sp>
        <p:nvSpPr>
          <p:cNvPr id="5" name="Shape 3"/>
          <p:cNvSpPr/>
          <p:nvPr/>
        </p:nvSpPr>
        <p:spPr>
          <a:xfrm>
            <a:off x="822960" y="2606040"/>
            <a:ext cx="502920" cy="502920"/>
          </a:xfrm>
          <a:prstGeom prst="ellipse">
            <a:avLst/>
          </a:prstGeom>
          <a:solidFill>
            <a:schemeClr val="bg1"/>
          </a:solidFill>
          <a:ln/>
        </p:spPr>
      </p:sp>
      <p:sp>
        <p:nvSpPr>
          <p:cNvPr id="6" name="Text 4"/>
          <p:cNvSpPr txBox="1"/>
          <p:nvPr/>
        </p:nvSpPr>
        <p:spPr>
          <a:xfrm>
            <a:off x="822960" y="2606040"/>
            <a:ext cx="502920" cy="502920"/>
          </a:xfrm>
          <a:prstGeom prst="rect">
            <a:avLst/>
          </a:prstGeom>
          <a:noFill/>
          <a:ln/>
        </p:spPr>
        <p:txBody>
          <a:bodyPr wrap="square" lIns="0" tIns="0" rIns="0" bIns="0" rtlCol="0" anchor="ctr"/>
          <a:lstStyle/>
          <a:p>
            <a:pPr algn="ctr" indent="0" marL="0">
              <a:buNone/>
            </a:pPr>
            <a:r>
              <a:rPr lang="en-US" sz="1600" b="1" dirty="0">
                <a:solidFill>
                  <a:schemeClr val="accent1"/>
                </a:solidFill>
              </a:rPr>
              <a:t>1</a:t>
            </a:r>
            <a:endParaRPr lang="en-US" sz="1600" dirty="0"/>
          </a:p>
        </p:txBody>
      </p:sp>
      <p:sp>
        <p:nvSpPr>
          <p:cNvPr id="7" name="Text 5"/>
          <p:cNvSpPr txBox="1"/>
          <p:nvPr/>
        </p:nvSpPr>
        <p:spPr>
          <a:xfrm>
            <a:off x="1508760" y="2560320"/>
            <a:ext cx="4297680" cy="914400"/>
          </a:xfrm>
          <a:prstGeom prst="rect">
            <a:avLst/>
          </a:prstGeom>
          <a:noFill/>
          <a:ln/>
        </p:spPr>
        <p:txBody>
          <a:bodyPr wrap="square" lIns="0" tIns="0" rIns="0" bIns="0" rtlCol="0" anchor="t"/>
          <a:lstStyle/>
          <a:p>
            <a:pPr indent="0" marL="0">
              <a:buNone/>
            </a:pPr>
            <a:r>
              <a:rPr lang="en-US" sz="1600" dirty="0">
                <a:solidFill>
                  <a:schemeClr val="bg1"/>
                </a:solidFill>
              </a:rPr>
              <a:t>Endorse the reframe: one Virley experience in every channel</a:t>
            </a:r>
            <a:endParaRPr lang="en-US" sz="1600" dirty="0"/>
          </a:p>
        </p:txBody>
      </p:sp>
      <p:sp>
        <p:nvSpPr>
          <p:cNvPr id="8" name="Shape 6"/>
          <p:cNvSpPr/>
          <p:nvPr/>
        </p:nvSpPr>
        <p:spPr>
          <a:xfrm>
            <a:off x="822960" y="3657600"/>
            <a:ext cx="502920" cy="502920"/>
          </a:xfrm>
          <a:prstGeom prst="ellipse">
            <a:avLst/>
          </a:prstGeom>
          <a:solidFill>
            <a:schemeClr val="bg1"/>
          </a:solidFill>
          <a:ln/>
        </p:spPr>
      </p:sp>
      <p:sp>
        <p:nvSpPr>
          <p:cNvPr id="9" name="Text 7"/>
          <p:cNvSpPr txBox="1"/>
          <p:nvPr/>
        </p:nvSpPr>
        <p:spPr>
          <a:xfrm>
            <a:off x="822960" y="3657600"/>
            <a:ext cx="502920" cy="502920"/>
          </a:xfrm>
          <a:prstGeom prst="rect">
            <a:avLst/>
          </a:prstGeom>
          <a:noFill/>
          <a:ln/>
        </p:spPr>
        <p:txBody>
          <a:bodyPr wrap="square" lIns="0" tIns="0" rIns="0" bIns="0" rtlCol="0" anchor="ctr"/>
          <a:lstStyle/>
          <a:p>
            <a:pPr algn="ctr" indent="0" marL="0">
              <a:buNone/>
            </a:pPr>
            <a:r>
              <a:rPr lang="en-US" sz="1600" b="1" dirty="0">
                <a:solidFill>
                  <a:schemeClr val="accent1"/>
                </a:solidFill>
              </a:rPr>
              <a:t>2</a:t>
            </a:r>
            <a:endParaRPr lang="en-US" sz="1600" dirty="0"/>
          </a:p>
        </p:txBody>
      </p:sp>
      <p:sp>
        <p:nvSpPr>
          <p:cNvPr id="10" name="Text 8"/>
          <p:cNvSpPr txBox="1"/>
          <p:nvPr/>
        </p:nvSpPr>
        <p:spPr>
          <a:xfrm>
            <a:off x="1508760" y="3611880"/>
            <a:ext cx="4297680" cy="914400"/>
          </a:xfrm>
          <a:prstGeom prst="rect">
            <a:avLst/>
          </a:prstGeom>
          <a:noFill/>
          <a:ln/>
        </p:spPr>
        <p:txBody>
          <a:bodyPr wrap="square" lIns="0" tIns="0" rIns="0" bIns="0" rtlCol="0" anchor="t"/>
          <a:lstStyle/>
          <a:p>
            <a:pPr indent="0" marL="0">
              <a:buNone/>
            </a:pPr>
            <a:r>
              <a:rPr lang="en-US" sz="1600" dirty="0">
                <a:solidFill>
                  <a:schemeClr val="bg1"/>
                </a:solidFill>
              </a:rPr>
              <a:t>Agree to prove the model in London and Birmingham</a:t>
            </a:r>
            <a:endParaRPr lang="en-US" sz="1600" dirty="0"/>
          </a:p>
        </p:txBody>
      </p:sp>
      <p:sp>
        <p:nvSpPr>
          <p:cNvPr id="11" name="Shape 9"/>
          <p:cNvSpPr/>
          <p:nvPr/>
        </p:nvSpPr>
        <p:spPr>
          <a:xfrm>
            <a:off x="822960" y="4709160"/>
            <a:ext cx="502920" cy="502920"/>
          </a:xfrm>
          <a:prstGeom prst="ellipse">
            <a:avLst/>
          </a:prstGeom>
          <a:solidFill>
            <a:schemeClr val="bg1"/>
          </a:solidFill>
          <a:ln/>
        </p:spPr>
      </p:sp>
      <p:sp>
        <p:nvSpPr>
          <p:cNvPr id="12" name="Text 10"/>
          <p:cNvSpPr txBox="1"/>
          <p:nvPr/>
        </p:nvSpPr>
        <p:spPr>
          <a:xfrm>
            <a:off x="822960" y="4709160"/>
            <a:ext cx="502920" cy="502920"/>
          </a:xfrm>
          <a:prstGeom prst="rect">
            <a:avLst/>
          </a:prstGeom>
          <a:noFill/>
          <a:ln/>
        </p:spPr>
        <p:txBody>
          <a:bodyPr wrap="square" lIns="0" tIns="0" rIns="0" bIns="0" rtlCol="0" anchor="ctr"/>
          <a:lstStyle/>
          <a:p>
            <a:pPr algn="ctr" indent="0" marL="0">
              <a:buNone/>
            </a:pPr>
            <a:r>
              <a:rPr lang="en-US" sz="1600" b="1" dirty="0">
                <a:solidFill>
                  <a:schemeClr val="accent1"/>
                </a:solidFill>
              </a:rPr>
              <a:t>3</a:t>
            </a:r>
            <a:endParaRPr lang="en-US" sz="1600" dirty="0"/>
          </a:p>
        </p:txBody>
      </p:sp>
      <p:sp>
        <p:nvSpPr>
          <p:cNvPr id="13" name="Text 11"/>
          <p:cNvSpPr txBox="1"/>
          <p:nvPr/>
        </p:nvSpPr>
        <p:spPr>
          <a:xfrm>
            <a:off x="1508760" y="4663440"/>
            <a:ext cx="4297680" cy="914400"/>
          </a:xfrm>
          <a:prstGeom prst="rect">
            <a:avLst/>
          </a:prstGeom>
          <a:noFill/>
          <a:ln/>
        </p:spPr>
        <p:txBody>
          <a:bodyPr wrap="square" lIns="0" tIns="0" rIns="0" bIns="0" rtlCol="0" anchor="t"/>
          <a:lstStyle/>
          <a:p>
            <a:pPr indent="0" marL="0">
              <a:buNone/>
            </a:pPr>
            <a:r>
              <a:rPr lang="en-US" sz="1600" dirty="0">
                <a:solidFill>
                  <a:schemeClr val="bg1"/>
                </a:solidFill>
              </a:rPr>
              <a:t>Name sponsors and an interim IT leader</a:t>
            </a:r>
            <a:endParaRPr lang="en-US" sz="1600" dirty="0"/>
          </a:p>
        </p:txBody>
      </p:sp>
      <p:sp>
        <p:nvSpPr>
          <p:cNvPr id="14" name="Next 30 days card"/>
          <p:cNvSpPr/>
          <p:nvPr/>
        </p:nvSpPr>
        <p:spPr>
          <a:xfrm>
            <a:off x="6309360" y="1645920"/>
            <a:ext cx="5303520" cy="4206240"/>
          </a:xfrm>
          <a:prstGeom prst="rect">
            <a:avLst/>
          </a:prstGeom>
          <a:solidFill>
            <a:schemeClr val="tx2"/>
          </a:solidFill>
          <a:ln/>
        </p:spPr>
      </p:sp>
      <p:sp>
        <p:nvSpPr>
          <p:cNvPr id="15" name="Text 13"/>
          <p:cNvSpPr txBox="1"/>
          <p:nvPr/>
        </p:nvSpPr>
        <p:spPr>
          <a:xfrm>
            <a:off x="6583680" y="1874520"/>
            <a:ext cx="4754880" cy="457200"/>
          </a:xfrm>
          <a:prstGeom prst="rect">
            <a:avLst/>
          </a:prstGeom>
          <a:noFill/>
          <a:ln/>
        </p:spPr>
        <p:txBody>
          <a:bodyPr wrap="square" lIns="0" tIns="0" rIns="0" bIns="0" rtlCol="0" anchor="t"/>
          <a:lstStyle/>
          <a:p>
            <a:pPr indent="0" marL="0">
              <a:buNone/>
            </a:pPr>
            <a:r>
              <a:rPr lang="en-US" sz="2200" b="1" dirty="0">
                <a:solidFill>
                  <a:schemeClr val="bg1"/>
                </a:solidFill>
                <a:latin typeface="+mj-lt" pitchFamily="34" charset="0"/>
                <a:ea typeface="+mj-lt" pitchFamily="34" charset="-122"/>
                <a:cs typeface="+mj-lt" pitchFamily="34" charset="-120"/>
              </a:rPr>
              <a:t>Next 30 days</a:t>
            </a:r>
            <a:endParaRPr lang="en-US" sz="2200" dirty="0"/>
          </a:p>
        </p:txBody>
      </p:sp>
      <p:sp>
        <p:nvSpPr>
          <p:cNvPr id="16" name="Text 14"/>
          <p:cNvSpPr txBox="1"/>
          <p:nvPr/>
        </p:nvSpPr>
        <p:spPr>
          <a:xfrm>
            <a:off x="6583680" y="2606040"/>
            <a:ext cx="4754880" cy="301752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chemeClr val="bg1"/>
                </a:solidFill>
              </a:rPr>
              <a:t>Benchmark V&amp;S against peers and size each lever</a:t>
            </a:r>
            <a:endParaRPr lang="en-US" sz="1600" dirty="0"/>
          </a:p>
          <a:p>
            <a:pPr marL="342900" indent="-342900">
              <a:spcAft>
                <a:spcPts val="1200"/>
              </a:spcAft>
              <a:buSzPct val="100000"/>
              <a:buChar char="•"/>
            </a:pPr>
            <a:r>
              <a:rPr lang="en-US" sz="1600" dirty="0">
                <a:solidFill>
                  <a:schemeClr val="bg1"/>
                </a:solidFill>
              </a:rPr>
              <a:t>Test the four hypotheses with the directors</a:t>
            </a:r>
            <a:endParaRPr lang="en-US" sz="1600" dirty="0"/>
          </a:p>
          <a:p>
            <a:pPr marL="342900" indent="-342900">
              <a:spcAft>
                <a:spcPts val="1200"/>
              </a:spcAft>
              <a:buSzPct val="100000"/>
              <a:buChar char="•"/>
            </a:pPr>
            <a:r>
              <a:rPr lang="en-US" sz="1600" dirty="0">
                <a:solidFill>
                  <a:schemeClr val="bg1"/>
                </a:solidFill>
              </a:rPr>
              <a:t>Request online conversion and store-level P&amp;L data</a:t>
            </a:r>
            <a:endParaRPr lang="en-US" sz="1600" dirty="0"/>
          </a:p>
          <a:p>
            <a:pPr marL="342900" indent="-342900">
              <a:spcAft>
                <a:spcPts val="1200"/>
              </a:spcAft>
              <a:buSzPct val="100000"/>
              <a:buChar char="•"/>
            </a:pPr>
            <a:r>
              <a:rPr lang="en-US" sz="1600" dirty="0">
                <a:solidFill>
                  <a:schemeClr val="bg1"/>
                </a:solidFill>
              </a:rPr>
              <a:t>Hold the co-creation session with store and online teams</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bg2"/>
                </a:solidFill>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VS Pitch">
  <a:themeElements>
    <a:clrScheme name="VS Pitch">
      <a:dk1>
        <a:srgbClr val="222222"/>
      </a:dk1>
      <a:lt1>
        <a:srgbClr val="FFFFFF"/>
      </a:lt1>
      <a:dk2>
        <a:srgbClr val="6E625E"/>
      </a:dk2>
      <a:lt2>
        <a:srgbClr val="F8E6E1"/>
      </a:lt2>
      <a:accent1>
        <a:srgbClr val="D52B1E"/>
      </a:accent1>
      <a:accent2>
        <a:srgbClr val="D04A02"/>
      </a:accent2>
      <a:accent3>
        <a:srgbClr val="EB8C00"/>
      </a:accent3>
      <a:accent4>
        <a:srgbClr val="DB536A"/>
      </a:accent4>
      <a:accent5>
        <a:srgbClr val="7D7D7D"/>
      </a:accent5>
      <a:accent6>
        <a:srgbClr val="A32020"/>
      </a:accent6>
      <a:hlink>
        <a:srgbClr val="D52B1E"/>
      </a:hlink>
      <a:folHlink>
        <a:srgbClr val="6E625E"/>
      </a:folHlink>
    </a:clrScheme>
    <a:fontScheme name="VS Pitch">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Virley &amp; Sons: One Virley experience</dc:title>
  <dc:subject>PptxGenJS Presentation</dc:subject>
  <dc:creator>Consulting team</dc:creator>
  <cp:lastModifiedBy>Consulting team</cp:lastModifiedBy>
  <cp:revision>1</cp:revision>
  <dcterms:created xsi:type="dcterms:W3CDTF">2026-10-22T03:47:22Z</dcterms:created>
  <dcterms:modified xsi:type="dcterms:W3CDTF">2026-10-22T03:47:22Z</dcterms:modified>
</cp:coreProperties>
</file>